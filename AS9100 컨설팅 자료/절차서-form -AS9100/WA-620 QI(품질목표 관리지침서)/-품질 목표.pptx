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0" r:id="rId1"/>
  </p:sldMasterIdLst>
  <p:notesMasterIdLst>
    <p:notesMasterId r:id="rId3"/>
  </p:notesMasterIdLst>
  <p:sldIdLst>
    <p:sldId id="256" r:id="rId2"/>
  </p:sldIdLst>
  <p:sldSz cx="12192000" cy="6858000"/>
  <p:notesSz cx="6889750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44E9F05-2398-4E1C-8720-149C09A18C5F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2C298AD3-BE00-4DD0-99C7-2F92BD7EFB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834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98AD3-BE00-4DD0-99C7-2F92BD7EFB4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042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41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781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608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19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91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56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033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780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76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08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21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06C64-2690-466F-B73B-E99FBDE2CF9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092B2-F694-4CFC-BAFB-7B33B174C0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480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/>
        </p:nvCxnSpPr>
        <p:spPr>
          <a:xfrm>
            <a:off x="236149" y="711222"/>
            <a:ext cx="1164281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95113" y="886401"/>
            <a:ext cx="380689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▣ 제품검사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과거 문제점 사전 관리로 재발불량 방지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 err="1"/>
              <a:t>공정중</a:t>
            </a:r>
            <a:r>
              <a:rPr lang="ko-KR" altLang="en-US" sz="1400" dirty="0"/>
              <a:t> </a:t>
            </a:r>
            <a:r>
              <a:rPr lang="en-US" altLang="ko-KR" sz="1400" dirty="0"/>
              <a:t>4M </a:t>
            </a:r>
            <a:r>
              <a:rPr lang="ko-KR" altLang="en-US" sz="1400" dirty="0"/>
              <a:t>변경</a:t>
            </a:r>
            <a:r>
              <a:rPr lang="en-US" altLang="ko-KR" sz="1400" dirty="0"/>
              <a:t>, </a:t>
            </a:r>
            <a:r>
              <a:rPr lang="ko-KR" altLang="en-US" sz="1400" dirty="0"/>
              <a:t>혼입불량 검증철저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실수에 의한 품질부적합 </a:t>
            </a:r>
            <a:r>
              <a:rPr lang="ko-KR" altLang="en-US" sz="1400" dirty="0" err="1"/>
              <a:t>혼류</a:t>
            </a:r>
            <a:r>
              <a:rPr lang="en-US" altLang="ko-KR" sz="1400" dirty="0"/>
              <a:t> , </a:t>
            </a:r>
            <a:r>
              <a:rPr lang="ko-KR" altLang="en-US" sz="1400" dirty="0"/>
              <a:t>검출 철저</a:t>
            </a:r>
            <a:endParaRPr lang="en-US" altLang="ko-KR" sz="14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946381"/>
              </p:ext>
            </p:extLst>
          </p:nvPr>
        </p:nvGraphicFramePr>
        <p:xfrm>
          <a:off x="236149" y="103069"/>
          <a:ext cx="11642812" cy="634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1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1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4049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 </a:t>
                      </a:r>
                      <a:r>
                        <a:rPr lang="ko-KR" altLang="en-US" sz="1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</a:t>
                      </a:r>
                      <a:r>
                        <a:rPr lang="ko-KR" altLang="en-US" sz="2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품질 이야기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_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1:10:100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법칙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00B0F0"/>
                          </a:solidFill>
                        </a:rPr>
                        <a:t>                                 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</a:rPr>
                        <a:t>㈜</a:t>
                      </a:r>
                      <a:endParaRPr lang="en-US" altLang="ko-KR" sz="1400" b="0" dirty="0">
                        <a:solidFill>
                          <a:srgbClr val="0070C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0070C0"/>
                          </a:solidFill>
                        </a:rPr>
                        <a:t>                                 </a:t>
                      </a:r>
                      <a:r>
                        <a:rPr lang="ko-KR" altLang="en-US" sz="1400" b="0" dirty="0" err="1">
                          <a:solidFill>
                            <a:srgbClr val="0070C0"/>
                          </a:solidFill>
                        </a:rPr>
                        <a:t>품질팀</a:t>
                      </a:r>
                      <a:endParaRPr lang="ko-KR" alt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36149" y="970384"/>
            <a:ext cx="446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※ </a:t>
            </a:r>
            <a:r>
              <a:rPr lang="ko-KR" altLang="en-US" b="1" dirty="0"/>
              <a:t>예방품질 활동의 중요성</a:t>
            </a:r>
            <a:r>
              <a:rPr lang="en-US" altLang="ko-KR" b="1" dirty="0"/>
              <a:t>(1:10:100</a:t>
            </a:r>
            <a:r>
              <a:rPr lang="ko-KR" altLang="en-US" b="1" dirty="0"/>
              <a:t>법칙</a:t>
            </a:r>
            <a:r>
              <a:rPr lang="en-US" altLang="ko-KR" b="1" dirty="0"/>
              <a:t>)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 flipV="1">
            <a:off x="572278" y="1572982"/>
            <a:ext cx="7097485" cy="2230167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34478" y="1831177"/>
            <a:ext cx="380689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▣ 공정점검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과거 문제 사전 관리로 재발불량 방지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Error </a:t>
            </a:r>
            <a:r>
              <a:rPr lang="en-US" altLang="ko-KR" sz="1400" dirty="0" err="1"/>
              <a:t>Froof</a:t>
            </a:r>
            <a:r>
              <a:rPr lang="ko-KR" altLang="en-US" sz="1400" dirty="0"/>
              <a:t>화 및 작업불량 감소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표준작업</a:t>
            </a:r>
            <a:r>
              <a:rPr lang="en-US" altLang="ko-KR" sz="1400" dirty="0"/>
              <a:t> , </a:t>
            </a:r>
            <a:r>
              <a:rPr lang="ko-KR" altLang="en-US" sz="1400" dirty="0"/>
              <a:t>부적합 작업자 정보공유 교육</a:t>
            </a:r>
            <a:endParaRPr lang="en-US" altLang="ko-KR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304800" y="3156177"/>
            <a:ext cx="380689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▣ 입고검사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청정도 관리로 이물질 유입 사전 방지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과거 문제 사전 관리로 재발불량 사전관리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4M </a:t>
            </a:r>
            <a:r>
              <a:rPr lang="ko-KR" altLang="en-US" sz="1400" dirty="0"/>
              <a:t>변경</a:t>
            </a:r>
            <a:r>
              <a:rPr lang="en-US" altLang="ko-KR" sz="1400" dirty="0"/>
              <a:t> , </a:t>
            </a:r>
            <a:r>
              <a:rPr lang="ko-KR" altLang="en-US" sz="1400" dirty="0"/>
              <a:t>혼입불량 검증철저</a:t>
            </a:r>
            <a:endParaRPr lang="en-US" altLang="ko-KR" sz="1400" dirty="0"/>
          </a:p>
        </p:txBody>
      </p:sp>
      <p:grpSp>
        <p:nvGrpSpPr>
          <p:cNvPr id="36" name="그룹 35"/>
          <p:cNvGrpSpPr/>
          <p:nvPr/>
        </p:nvGrpSpPr>
        <p:grpSpPr>
          <a:xfrm>
            <a:off x="690465" y="2423668"/>
            <a:ext cx="10011747" cy="2915119"/>
            <a:chOff x="690465" y="2647601"/>
            <a:chExt cx="10011747" cy="2915119"/>
          </a:xfrm>
        </p:grpSpPr>
        <p:cxnSp>
          <p:nvCxnSpPr>
            <p:cNvPr id="10" name="직선 화살표 연결선 9"/>
            <p:cNvCxnSpPr/>
            <p:nvPr/>
          </p:nvCxnSpPr>
          <p:spPr>
            <a:xfrm flipV="1">
              <a:off x="690465" y="5533052"/>
              <a:ext cx="10011747" cy="9332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/>
            <p:cNvCxnSpPr/>
            <p:nvPr/>
          </p:nvCxnSpPr>
          <p:spPr>
            <a:xfrm flipV="1">
              <a:off x="690465" y="2647601"/>
              <a:ext cx="9470572" cy="2894783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아래쪽 화살표 18"/>
            <p:cNvSpPr/>
            <p:nvPr/>
          </p:nvSpPr>
          <p:spPr>
            <a:xfrm>
              <a:off x="3573624" y="4665306"/>
              <a:ext cx="538066" cy="867746"/>
            </a:xfrm>
            <a:prstGeom prst="down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82000">
                  <a:srgbClr val="5BA1D6"/>
                </a:gs>
                <a:gs pos="95000">
                  <a:srgbClr val="0070C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아래쪽 화살표 20"/>
            <p:cNvSpPr/>
            <p:nvPr/>
          </p:nvSpPr>
          <p:spPr>
            <a:xfrm>
              <a:off x="6596742" y="3725298"/>
              <a:ext cx="538066" cy="1807754"/>
            </a:xfrm>
            <a:prstGeom prst="down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82000">
                  <a:srgbClr val="5BA1D6"/>
                </a:gs>
                <a:gs pos="95000">
                  <a:srgbClr val="0070C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2351315" y="5113176"/>
              <a:ext cx="429207" cy="42920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161448" y="4374450"/>
              <a:ext cx="1166325" cy="115393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/>
            <p:cNvSpPr/>
            <p:nvPr/>
          </p:nvSpPr>
          <p:spPr>
            <a:xfrm>
              <a:off x="7134808" y="3340359"/>
              <a:ext cx="2102498" cy="218336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88639" y="5131833"/>
              <a:ext cx="3359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200" b="1" dirty="0"/>
                <a:t>1</a:t>
              </a:r>
              <a:endParaRPr lang="ko-KR" altLang="en-US" sz="2200" b="1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385387" y="4665306"/>
              <a:ext cx="7184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solidFill>
                    <a:srgbClr val="0070C0"/>
                  </a:solidFill>
                </a:rPr>
                <a:t>10</a:t>
              </a:r>
              <a:endParaRPr lang="ko-KR" altLang="en-US" sz="3200" b="1" dirty="0">
                <a:solidFill>
                  <a:srgbClr val="0070C0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445821" y="3817058"/>
              <a:ext cx="149290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5400" b="1" dirty="0">
                  <a:solidFill>
                    <a:schemeClr val="bg1"/>
                  </a:solidFill>
                </a:rPr>
                <a:t>100</a:t>
              </a:r>
              <a:endParaRPr lang="ko-KR" altLang="en-US" sz="54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469150" y="4713131"/>
              <a:ext cx="14929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/>
                  </a:solidFill>
                </a:rPr>
                <a:t>or More !!!</a:t>
              </a:r>
              <a:endParaRPr lang="ko-KR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0105046" y="1744816"/>
            <a:ext cx="1492898" cy="1502229"/>
            <a:chOff x="9974417" y="1810129"/>
            <a:chExt cx="1492898" cy="1502229"/>
          </a:xfrm>
        </p:grpSpPr>
        <p:sp>
          <p:nvSpPr>
            <p:cNvPr id="33" name="폭발 1 32"/>
            <p:cNvSpPr/>
            <p:nvPr/>
          </p:nvSpPr>
          <p:spPr>
            <a:xfrm>
              <a:off x="9974417" y="1810129"/>
              <a:ext cx="1492898" cy="1502229"/>
            </a:xfrm>
            <a:prstGeom prst="irregularSeal1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277660" y="2238077"/>
              <a:ext cx="7931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1" dirty="0"/>
                <a:t>비용</a:t>
              </a:r>
              <a:endParaRPr lang="en-US" altLang="ko-KR" sz="1600" b="1" dirty="0"/>
            </a:p>
            <a:p>
              <a:pPr algn="ctr"/>
              <a:r>
                <a:rPr lang="en-US" altLang="ko-KR" sz="1600" b="1" dirty="0"/>
                <a:t>(Cost)</a:t>
              </a:r>
              <a:endParaRPr lang="ko-KR" altLang="en-US" sz="1600" b="1" dirty="0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637526" y="5444604"/>
            <a:ext cx="14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구매</a:t>
            </a:r>
            <a:r>
              <a:rPr lang="en-US" altLang="ko-KR" sz="1400" dirty="0"/>
              <a:t>/</a:t>
            </a:r>
            <a:r>
              <a:rPr lang="ko-KR" altLang="en-US" sz="1400" dirty="0"/>
              <a:t>입고 검증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93169" y="5449268"/>
            <a:ext cx="1520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제품</a:t>
            </a:r>
            <a:r>
              <a:rPr lang="en-US" altLang="ko-KR" sz="1400" dirty="0"/>
              <a:t>/</a:t>
            </a:r>
            <a:r>
              <a:rPr lang="ko-KR" altLang="en-US" sz="1400" dirty="0"/>
              <a:t>품질 검증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9805" y="5441547"/>
            <a:ext cx="2230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고객</a:t>
            </a:r>
            <a:r>
              <a:rPr lang="en-US" altLang="ko-KR" sz="1400" dirty="0"/>
              <a:t>/</a:t>
            </a:r>
            <a:r>
              <a:rPr lang="ko-KR" altLang="en-US" sz="1400" dirty="0"/>
              <a:t>필드</a:t>
            </a:r>
            <a:r>
              <a:rPr lang="en-US" altLang="ko-KR" sz="1400" dirty="0"/>
              <a:t>/Service </a:t>
            </a:r>
            <a:r>
              <a:rPr lang="ko-KR" altLang="en-US" sz="1400" dirty="0"/>
              <a:t>단계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275183" y="5865223"/>
            <a:ext cx="2214465" cy="71845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1621581" y="5926745"/>
            <a:ext cx="1521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부품 개발품질</a:t>
            </a:r>
            <a:endParaRPr lang="en-US" altLang="ko-KR" sz="1600" dirty="0"/>
          </a:p>
          <a:p>
            <a:r>
              <a:rPr lang="ko-KR" altLang="en-US" sz="1600" dirty="0"/>
              <a:t>사전점검 강화</a:t>
            </a:r>
          </a:p>
        </p:txBody>
      </p:sp>
      <p:sp>
        <p:nvSpPr>
          <p:cNvPr id="42" name="모서리가 둥근 직사각형 41"/>
          <p:cNvSpPr/>
          <p:nvPr/>
        </p:nvSpPr>
        <p:spPr>
          <a:xfrm>
            <a:off x="4111690" y="5865223"/>
            <a:ext cx="2485052" cy="718457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4111690" y="5926745"/>
            <a:ext cx="2485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과거 문제점 지속관리</a:t>
            </a:r>
            <a:endParaRPr lang="en-US" altLang="ko-KR" sz="1600" dirty="0"/>
          </a:p>
          <a:p>
            <a:pPr algn="ctr"/>
            <a:r>
              <a:rPr lang="ko-KR" altLang="en-US" sz="1600" dirty="0"/>
              <a:t>신속한 개선 추진과 검증</a:t>
            </a:r>
          </a:p>
        </p:txBody>
      </p:sp>
      <p:sp>
        <p:nvSpPr>
          <p:cNvPr id="44" name="모서리가 둥근 직사각형 43"/>
          <p:cNvSpPr/>
          <p:nvPr/>
        </p:nvSpPr>
        <p:spPr>
          <a:xfrm>
            <a:off x="7218783" y="5865223"/>
            <a:ext cx="3772680" cy="71845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7218783" y="5926745"/>
            <a:ext cx="37726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고객불만 신속대응</a:t>
            </a:r>
            <a:r>
              <a:rPr lang="en-US" altLang="ko-KR" sz="1600" dirty="0">
                <a:solidFill>
                  <a:schemeClr val="bg1"/>
                </a:solidFill>
              </a:rPr>
              <a:t>(Quick Response)</a:t>
            </a: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신속한 재발방지 대책 수립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11541" y="4991884"/>
            <a:ext cx="1287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문제발견</a:t>
            </a:r>
            <a:endParaRPr lang="en-US" altLang="ko-KR" dirty="0"/>
          </a:p>
          <a:p>
            <a:r>
              <a:rPr lang="ko-KR" altLang="en-US" dirty="0"/>
              <a:t>불만시점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11681927" y="201776"/>
            <a:ext cx="197034" cy="5187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648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126</Words>
  <Application>Microsoft Office PowerPoint</Application>
  <PresentationFormat>와이드스크린</PresentationFormat>
  <Paragraphs>34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정효 강</cp:lastModifiedBy>
  <cp:revision>15</cp:revision>
  <cp:lastPrinted>2023-08-29T08:23:04Z</cp:lastPrinted>
  <dcterms:created xsi:type="dcterms:W3CDTF">2023-08-29T07:02:22Z</dcterms:created>
  <dcterms:modified xsi:type="dcterms:W3CDTF">2026-04-14T00:47:58Z</dcterms:modified>
</cp:coreProperties>
</file>