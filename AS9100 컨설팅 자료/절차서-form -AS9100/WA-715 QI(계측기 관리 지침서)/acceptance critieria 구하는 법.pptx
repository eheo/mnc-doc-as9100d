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17"/>
  </p:notesMasterIdLst>
  <p:sldIdLst>
    <p:sldId id="278" r:id="rId3"/>
    <p:sldId id="281" r:id="rId4"/>
    <p:sldId id="371" r:id="rId5"/>
    <p:sldId id="379" r:id="rId6"/>
    <p:sldId id="383" r:id="rId7"/>
    <p:sldId id="378" r:id="rId8"/>
    <p:sldId id="382" r:id="rId9"/>
    <p:sldId id="345" r:id="rId10"/>
    <p:sldId id="375" r:id="rId11"/>
    <p:sldId id="384" r:id="rId12"/>
    <p:sldId id="385" r:id="rId13"/>
    <p:sldId id="386" r:id="rId14"/>
    <p:sldId id="362" r:id="rId15"/>
    <p:sldId id="363" r:id="rId16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Microsoft Sans Serif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8F3"/>
    <a:srgbClr val="316BFD"/>
    <a:srgbClr val="000066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79" autoAdjust="0"/>
    <p:restoredTop sz="94660"/>
  </p:normalViewPr>
  <p:slideViewPr>
    <p:cSldViewPr>
      <p:cViewPr varScale="1">
        <p:scale>
          <a:sx n="88" d="100"/>
          <a:sy n="88" d="100"/>
        </p:scale>
        <p:origin x="1728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fld id="{8F772ABD-657B-44FE-959F-0206254EE6AB}" type="datetimeFigureOut">
              <a:rPr lang="ko-KR" altLang="en-US"/>
              <a:pPr>
                <a:defRPr/>
              </a:pPr>
              <a:t>2026-04-18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110000"/>
              </a:lnSpc>
              <a:spcBef>
                <a:spcPct val="50000"/>
              </a:spcBef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10000"/>
              </a:lnSpc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45780949-AB92-40CD-93EF-E07BCFBBD9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1023117"/>
      </p:ext>
    </p:extLst>
  </p:cSld>
  <p:clrMapOvr>
    <a:masterClrMapping/>
  </p:clrMapOvr>
  <p:transition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6407482"/>
      </p:ext>
    </p:extLst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2397616"/>
      </p:ext>
    </p:extLst>
  </p:cSld>
  <p:clrMapOvr>
    <a:masterClrMapping/>
  </p:clrMapOvr>
  <p:transition>
    <p:zoom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5938" y="1155700"/>
            <a:ext cx="4108450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76788" y="1155700"/>
            <a:ext cx="4110037" cy="4826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0571385"/>
      </p:ext>
    </p:extLst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62047099"/>
      </p:ext>
    </p:extLst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42592700"/>
      </p:ext>
    </p:extLst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068359"/>
      </p:ext>
    </p:extLst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91599919"/>
      </p:ext>
    </p:extLst>
  </p:cSld>
  <p:clrMapOvr>
    <a:masterClrMapping/>
  </p:clrMapOvr>
  <p:transition>
    <p:zoom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56613856"/>
      </p:ext>
    </p:extLst>
  </p:cSld>
  <p:clrMapOvr>
    <a:masterClrMapping/>
  </p:clrMapOvr>
  <p:transition>
    <p:zoom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8888437"/>
      </p:ext>
    </p:extLst>
  </p:cSld>
  <p:clrMapOvr>
    <a:masterClrMapping/>
  </p:clrMapOvr>
  <p:transition>
    <p:zoom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94500" y="304800"/>
            <a:ext cx="2092325" cy="56769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5938" y="304800"/>
            <a:ext cx="6126162" cy="56769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46265647"/>
      </p:ext>
    </p:extLst>
  </p:cSld>
  <p:clrMapOvr>
    <a:masterClrMapping/>
  </p:clrMapOvr>
  <p:transition>
    <p:zoom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7034F-D6FF-4C41-AA8F-B580BE0734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5076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CCC6C-74D3-4CF8-BC2D-57F7B23F5F4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6465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10D43-7EA8-4F16-8161-8A8334B54E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8372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DCF3E-0EB5-4E8C-AB7B-CE61633E040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6469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5E3E90-2FE6-4414-9322-0C7CD2036B4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53569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56DE3-B89E-4EFA-ACA8-3AC4A8474C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2247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4A803-B3AF-444E-837D-F1F82DE2B9D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166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DB364-BF10-4560-92E3-F29FF8BE4E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5358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F5995-C7AE-4B43-9900-217D572A38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2411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F246D-917B-465E-8764-D39F6CF1E3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47275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63F66-FE93-4127-AE4B-4A6031BD4B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2492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304800"/>
            <a:ext cx="80391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Title: 32 pt Arial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5938" y="1155700"/>
            <a:ext cx="8370887" cy="482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Nokia PowerPoint 97Template - December 13,1997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zoom dir="in"/>
  </p:transition>
  <p:txStyles>
    <p:titleStyle>
      <a:lvl1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2pPr>
      <a:lvl3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3pPr>
      <a:lvl4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4pPr>
      <a:lvl5pPr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5pPr>
      <a:lvl6pPr marL="4572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6pPr>
      <a:lvl7pPr marL="9144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7pPr>
      <a:lvl8pPr marL="13716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8pPr>
      <a:lvl9pPr marL="1828800" algn="ctr" defTabSz="7620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63DE8"/>
          </a:solidFill>
          <a:effectLst>
            <a:outerShdw blurRad="38100" dist="38100" dir="2700000" algn="tl">
              <a:srgbClr val="C0C0C0"/>
            </a:outerShdw>
          </a:effectLst>
          <a:latin typeface="Nokia Sans SemiBold" pitchFamily="34" charset="0"/>
        </a:defRPr>
      </a:lvl9pPr>
    </p:titleStyle>
    <p:bodyStyle>
      <a:lvl1pPr marL="280988" indent="-280988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66750" indent="-195263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buClr>
          <a:schemeClr val="hlink"/>
        </a:buClr>
        <a:buSzPct val="125000"/>
        <a:buChar char="•"/>
        <a:defRPr>
          <a:solidFill>
            <a:schemeClr val="tx1"/>
          </a:solidFill>
          <a:latin typeface="Arial" charset="0"/>
        </a:defRPr>
      </a:lvl2pPr>
      <a:lvl3pPr marL="1336675" indent="-384175" algn="l" defTabSz="762000" rtl="0" eaLnBrk="0" fontAlgn="base" hangingPunct="0">
        <a:lnSpc>
          <a:spcPct val="90000"/>
        </a:lnSpc>
        <a:spcBef>
          <a:spcPct val="4000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marL="1804988" indent="-277813" algn="l" defTabSz="7620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2860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7432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2004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6576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114800" indent="-280988" algn="l" defTabSz="7620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lnSpc>
                <a:spcPct val="100000"/>
              </a:lnSpc>
              <a:spcBef>
                <a:spcPct val="0"/>
              </a:spcBef>
              <a:defRPr sz="1400" b="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b="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41C3F2A7-AFCE-4E5E-86E1-312A6D4D7D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3749675" y="6413500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4101" name="TextBox 12"/>
          <p:cNvSpPr txBox="1">
            <a:spLocks noChangeArrowheads="1"/>
          </p:cNvSpPr>
          <p:nvPr/>
        </p:nvSpPr>
        <p:spPr bwMode="auto">
          <a:xfrm>
            <a:off x="1104900" y="4759325"/>
            <a:ext cx="7315200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3200">
                <a:latin typeface="Microsoft Sans Serif" panose="020B0604020202020204" pitchFamily="34" charset="0"/>
              </a:rPr>
              <a:t>경품인 컨설팅</a:t>
            </a:r>
            <a:br>
              <a:rPr lang="ko-KR" altLang="en-US" sz="3200">
                <a:latin typeface="Microsoft Sans Serif" panose="020B0604020202020204" pitchFamily="34" charset="0"/>
              </a:rPr>
            </a:br>
            <a:endParaRPr lang="ko-KR" altLang="en-US" sz="3200">
              <a:latin typeface="Microsoft Sans Serif" panose="020B0604020202020204" pitchFamily="34" charset="0"/>
            </a:endParaRPr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1104900" y="1830388"/>
            <a:ext cx="7315200" cy="24622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270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666750" indent="-195263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6675" indent="-384175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04988" indent="-277813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280988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280988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 smtClean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Acceptance Criteria </a:t>
            </a:r>
            <a:r>
              <a:rPr kumimoji="0" lang="ko-KR" altLang="en-US" sz="3200" dirty="0" smtClean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구하는 법</a:t>
            </a:r>
            <a:endParaRPr kumimoji="0" lang="en-US" altLang="ko-KR" sz="3200" dirty="0" smtClean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 smtClean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항목 </a:t>
            </a:r>
            <a:r>
              <a:rPr kumimoji="0" lang="en-US" altLang="ko-KR" sz="3200" dirty="0" smtClean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7.1.5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AS9100: 2016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ko-KR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KSQ9100:2018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ko-KR" altLang="en-US" sz="3200" dirty="0">
                <a:solidFill>
                  <a:srgbClr val="063DE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ko-KR" sz="3200" dirty="0">
              <a:solidFill>
                <a:srgbClr val="063DE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636588" y="1198563"/>
            <a:ext cx="8128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/>
              <a:t>계측기 정보 </a:t>
            </a:r>
            <a:endParaRPr lang="en-US" altLang="ko-KR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ko-KR"/>
              <a:t>Acceptance Criteria </a:t>
            </a:r>
            <a:r>
              <a:rPr lang="ko-KR" altLang="en-US"/>
              <a:t>설정 공식</a:t>
            </a:r>
            <a:endParaRPr lang="en-US" altLang="ko-KR"/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ko-KR" altLang="en-US"/>
              <a:t>사례</a:t>
            </a:r>
            <a:endParaRPr lang="en-US" altLang="ko-KR"/>
          </a:p>
        </p:txBody>
      </p:sp>
      <p:sp>
        <p:nvSpPr>
          <p:cNvPr id="2" name="직사각형 1"/>
          <p:cNvSpPr/>
          <p:nvPr/>
        </p:nvSpPr>
        <p:spPr>
          <a:xfrm>
            <a:off x="0" y="-33338"/>
            <a:ext cx="958850" cy="5080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5125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3749675" y="6413500"/>
            <a:ext cx="150495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-33338"/>
            <a:ext cx="1223963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95288" y="1052513"/>
            <a:ext cx="6697662" cy="321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1.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장비 개요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(Example: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디지털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버니어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캘리퍼스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구분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                내용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관리번호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QMC-CAL-001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장비명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디지털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버니어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캘리퍼스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제조사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  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미쓰토요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</a:t>
            </a:r>
            <a:r>
              <a:rPr lang="en-US" altLang="ko-KR" kern="0" dirty="0" err="1">
                <a:solidFill>
                  <a:srgbClr val="000000"/>
                </a:solidFill>
                <a:latin typeface="CMR9"/>
                <a:ea typeface="CMR9"/>
              </a:rPr>
              <a:t>Mitutoyo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모델명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/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규격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0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∼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150 mm /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분해능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0.01 mm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교정 주기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</a:t>
            </a:r>
            <a:r>
              <a:rPr lang="ko-KR" altLang="en-US" sz="1200" kern="0" dirty="0">
                <a:solidFill>
                  <a:srgbClr val="000000"/>
                </a:solidFill>
                <a:latin typeface="함초롬바탕" panose="02030604000101010101" pitchFamily="18" charset="-127"/>
              </a:rPr>
              <a:t>	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12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개월</a:t>
            </a:r>
            <a:endParaRPr lang="en-US" altLang="ko-KR" kern="0" dirty="0">
              <a:solidFill>
                <a:srgbClr val="000000"/>
              </a:solidFill>
              <a:latin typeface="CMR9"/>
              <a:ea typeface="CMR9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장비 오차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7173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7174" name="Rectangle 8"/>
          <p:cNvSpPr>
            <a:spLocks noChangeArrowheads="1"/>
          </p:cNvSpPr>
          <p:nvPr/>
        </p:nvSpPr>
        <p:spPr bwMode="auto">
          <a:xfrm>
            <a:off x="395288" y="949325"/>
            <a:ext cx="4146550" cy="27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  <a:latin typeface="CMR9"/>
              </a:rPr>
              <a:t>2. </a:t>
            </a:r>
            <a:r>
              <a:rPr lang="ko-KR" altLang="en-US" sz="1200">
                <a:solidFill>
                  <a:srgbClr val="000000"/>
                </a:solidFill>
                <a:latin typeface="함초롬바탕" panose="02030604000101010101" pitchFamily="18" charset="-127"/>
              </a:rPr>
              <a:t>교정 수락 기준</a:t>
            </a:r>
            <a:r>
              <a:rPr lang="en-US" altLang="ko-KR" sz="1200">
                <a:solidFill>
                  <a:srgbClr val="000000"/>
                </a:solidFill>
                <a:latin typeface="함초롬바탕" panose="02030604000101010101" pitchFamily="18" charset="-127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함초롬바탕" panose="02030604000101010101" pitchFamily="18" charset="-127"/>
              </a:rPr>
              <a:t>공식  및 적합성 평가 </a:t>
            </a:r>
            <a:r>
              <a:rPr lang="en-US" altLang="ko-KR" sz="1200">
                <a:solidFill>
                  <a:srgbClr val="000000"/>
                </a:solidFill>
                <a:latin typeface="CMR9"/>
              </a:rPr>
              <a:t>(Decision Rule)</a:t>
            </a:r>
            <a:endParaRPr lang="en-US" altLang="ko-KR"/>
          </a:p>
        </p:txBody>
      </p:sp>
      <p:pic>
        <p:nvPicPr>
          <p:cNvPr id="7175" name="_x416513520" descr="EMB00002e9c23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320800"/>
            <a:ext cx="64801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8197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8198" name="Rectangle 8"/>
          <p:cNvSpPr>
            <a:spLocks noChangeArrowheads="1"/>
          </p:cNvSpPr>
          <p:nvPr/>
        </p:nvSpPr>
        <p:spPr bwMode="auto">
          <a:xfrm>
            <a:off x="395288" y="765175"/>
            <a:ext cx="439261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200">
                <a:solidFill>
                  <a:srgbClr val="000000"/>
                </a:solidFill>
                <a:latin typeface="CMR9"/>
              </a:rPr>
              <a:t>2. </a:t>
            </a:r>
            <a:r>
              <a:rPr lang="ko-KR" altLang="en-US" sz="1200">
                <a:solidFill>
                  <a:srgbClr val="000000"/>
                </a:solidFill>
                <a:latin typeface="함초롬바탕" panose="02030604000101010101" pitchFamily="18" charset="-127"/>
              </a:rPr>
              <a:t>교정 수락 기준</a:t>
            </a:r>
            <a:r>
              <a:rPr lang="en-US" altLang="ko-KR" sz="1200">
                <a:solidFill>
                  <a:srgbClr val="000000"/>
                </a:solidFill>
                <a:latin typeface="함초롬바탕" panose="02030604000101010101" pitchFamily="18" charset="-127"/>
              </a:rPr>
              <a:t>/ </a:t>
            </a:r>
            <a:r>
              <a:rPr lang="ko-KR" altLang="en-US" sz="1200">
                <a:solidFill>
                  <a:srgbClr val="000000"/>
                </a:solidFill>
                <a:latin typeface="함초롬바탕" panose="02030604000101010101" pitchFamily="18" charset="-127"/>
              </a:rPr>
              <a:t>공식  및 적합성 평가 </a:t>
            </a:r>
            <a:r>
              <a:rPr lang="en-US" altLang="ko-KR" sz="1200">
                <a:solidFill>
                  <a:srgbClr val="000000"/>
                </a:solidFill>
                <a:latin typeface="CMR9"/>
              </a:rPr>
              <a:t>(Decision Rule) </a:t>
            </a:r>
            <a:r>
              <a:rPr lang="ko-KR" altLang="en-US" sz="1200">
                <a:solidFill>
                  <a:srgbClr val="000000"/>
                </a:solidFill>
                <a:latin typeface="CMR9"/>
              </a:rPr>
              <a:t>계속</a:t>
            </a:r>
            <a:endParaRPr lang="en-US" altLang="ko-KR" sz="1200">
              <a:solidFill>
                <a:srgbClr val="000000"/>
              </a:solidFill>
              <a:latin typeface="CMR9"/>
            </a:endParaRPr>
          </a:p>
          <a:p>
            <a:endParaRPr lang="en-US" altLang="ko-KR" sz="1200">
              <a:solidFill>
                <a:srgbClr val="000000"/>
              </a:solidFill>
              <a:latin typeface="CMR9"/>
            </a:endParaRPr>
          </a:p>
          <a:p>
            <a:r>
              <a:rPr lang="ko-KR" altLang="en-US" sz="1200">
                <a:solidFill>
                  <a:srgbClr val="000000"/>
                </a:solidFill>
                <a:latin typeface="CMR9"/>
              </a:rPr>
              <a:t>공식</a:t>
            </a:r>
            <a:endParaRPr lang="en-US" altLang="ko-KR"/>
          </a:p>
        </p:txBody>
      </p:sp>
      <p:sp>
        <p:nvSpPr>
          <p:cNvPr id="8199" name="TextBox 6"/>
          <p:cNvSpPr txBox="1">
            <a:spLocks noChangeArrowheads="1"/>
          </p:cNvSpPr>
          <p:nvPr/>
        </p:nvSpPr>
        <p:spPr bwMode="auto">
          <a:xfrm>
            <a:off x="611188" y="4076700"/>
            <a:ext cx="26654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en-US" altLang="ko-KR"/>
          </a:p>
          <a:p>
            <a:endParaRPr lang="ko-KR" altLang="en-US"/>
          </a:p>
        </p:txBody>
      </p:sp>
      <p:sp>
        <p:nvSpPr>
          <p:cNvPr id="8200" name="Rectangle 11"/>
          <p:cNvSpPr>
            <a:spLocks noChangeArrowheads="1"/>
          </p:cNvSpPr>
          <p:nvPr/>
        </p:nvSpPr>
        <p:spPr bwMode="auto">
          <a:xfrm>
            <a:off x="395288" y="1620838"/>
            <a:ext cx="6430962" cy="447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/>
              <a:t>: </a:t>
            </a:r>
            <a:r>
              <a:rPr lang="ko-KR" altLang="en-US"/>
              <a:t>제조사 공차 </a:t>
            </a:r>
            <a:r>
              <a:rPr lang="en-US" altLang="ko-KR"/>
              <a:t>(MPE) = 0.020 mm</a:t>
            </a:r>
          </a:p>
          <a:p>
            <a:endParaRPr lang="en-US" altLang="ko-KR"/>
          </a:p>
          <a:p>
            <a:r>
              <a:rPr lang="en-US" altLang="ko-KR"/>
              <a:t>1) </a:t>
            </a:r>
            <a:r>
              <a:rPr lang="ko-KR" altLang="en-US"/>
              <a:t>공식 </a:t>
            </a:r>
            <a:r>
              <a:rPr lang="en-US" altLang="ko-KR"/>
              <a:t>(</a:t>
            </a:r>
            <a:r>
              <a:rPr lang="ko-KR" altLang="ko-KR"/>
              <a:t>보호대역 설정 (w)</a:t>
            </a:r>
            <a:r>
              <a:rPr lang="en-US" altLang="ko-KR"/>
              <a:t> )</a:t>
            </a:r>
          </a:p>
          <a:p>
            <a:r>
              <a:rPr lang="en-US" altLang="ko-KR"/>
              <a:t>    * </a:t>
            </a:r>
            <a:r>
              <a:rPr lang="ko-KR" altLang="ko-KR"/>
              <a:t>보호대역 설정 (w)</a:t>
            </a:r>
            <a:r>
              <a:rPr lang="en-US" altLang="ko-KR"/>
              <a:t> : </a:t>
            </a:r>
            <a:r>
              <a:rPr lang="ko-KR" altLang="ko-KR"/>
              <a:t>w = k </a:t>
            </a:r>
            <a:r>
              <a:rPr lang="en-US" altLang="ko-KR"/>
              <a:t>*</a:t>
            </a:r>
            <a:r>
              <a:rPr lang="ko-KR" altLang="ko-KR"/>
              <a:t> U </a:t>
            </a:r>
            <a:r>
              <a:rPr lang="en-US" altLang="ko-KR"/>
              <a:t>-</a:t>
            </a:r>
            <a:r>
              <a:rPr lang="ko-KR" altLang="ko-KR"/>
              <a:t> 1 </a:t>
            </a:r>
            <a:r>
              <a:rPr lang="en-US" altLang="ko-KR"/>
              <a:t>* </a:t>
            </a:r>
            <a:r>
              <a:rPr lang="ko-KR" altLang="ko-KR"/>
              <a:t>0.005</a:t>
            </a:r>
            <a:r>
              <a:rPr lang="en-US" altLang="ko-KR"/>
              <a:t> mm</a:t>
            </a:r>
          </a:p>
          <a:p>
            <a:r>
              <a:rPr lang="ko-KR" altLang="en-US"/>
              <a:t>    </a:t>
            </a:r>
            <a:r>
              <a:rPr lang="en-US" altLang="ko-KR"/>
              <a:t>* </a:t>
            </a:r>
            <a:r>
              <a:rPr lang="ko-KR" altLang="en-US"/>
              <a:t>결과</a:t>
            </a:r>
            <a:r>
              <a:rPr lang="en-US" altLang="ko-KR"/>
              <a:t>:  0</a:t>
            </a:r>
            <a:r>
              <a:rPr lang="ko-KR" altLang="ko-KR"/>
              <a:t>.005</a:t>
            </a:r>
            <a:r>
              <a:rPr lang="en-US" altLang="ko-KR"/>
              <a:t> mm </a:t>
            </a:r>
          </a:p>
          <a:p>
            <a:r>
              <a:rPr lang="ko-KR" altLang="en-US"/>
              <a:t>    </a:t>
            </a:r>
            <a:r>
              <a:rPr lang="en-US" altLang="ko-KR"/>
              <a:t>* </a:t>
            </a:r>
            <a:r>
              <a:rPr lang="ko-KR" altLang="en-US"/>
              <a:t>참고사항</a:t>
            </a:r>
            <a:r>
              <a:rPr lang="en-US" altLang="ko-KR"/>
              <a:t>: </a:t>
            </a:r>
            <a:r>
              <a:rPr lang="ko-KR" altLang="ko-KR"/>
              <a:t>w = U로 설정 (1:1 적용)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2) Acceptance Criteria </a:t>
            </a:r>
            <a:r>
              <a:rPr lang="ko-KR" altLang="en-US"/>
              <a:t>공식</a:t>
            </a:r>
            <a:r>
              <a:rPr lang="en-US" altLang="ko-KR"/>
              <a:t>( </a:t>
            </a:r>
            <a:r>
              <a:rPr lang="ko-KR" altLang="en-US"/>
              <a:t>최종수락한계</a:t>
            </a:r>
            <a:r>
              <a:rPr lang="en-US" altLang="ko-KR"/>
              <a:t>, Acceptance Limit)</a:t>
            </a:r>
          </a:p>
          <a:p>
            <a:r>
              <a:rPr lang="en-US" altLang="ko-KR"/>
              <a:t>    * </a:t>
            </a:r>
            <a:r>
              <a:rPr lang="ko-KR" altLang="en-US"/>
              <a:t>공식</a:t>
            </a:r>
            <a:r>
              <a:rPr lang="en-US" altLang="ko-KR"/>
              <a:t>: MPE – w (</a:t>
            </a:r>
            <a:r>
              <a:rPr lang="ko-KR" altLang="ko-KR"/>
              <a:t>보호대역 설정 </a:t>
            </a:r>
            <a:r>
              <a:rPr lang="ko-KR" altLang="en-US"/>
              <a:t>값</a:t>
            </a:r>
            <a:r>
              <a:rPr lang="en-US" altLang="ko-KR"/>
              <a:t>)</a:t>
            </a:r>
          </a:p>
          <a:p>
            <a:r>
              <a:rPr lang="en-US" altLang="ko-KR"/>
              <a:t>    * </a:t>
            </a:r>
            <a:r>
              <a:rPr lang="ko-KR" altLang="en-US"/>
              <a:t>결과</a:t>
            </a:r>
            <a:r>
              <a:rPr lang="en-US" altLang="ko-KR"/>
              <a:t>: +/- 0.015</a:t>
            </a:r>
          </a:p>
          <a:p>
            <a:endParaRPr lang="en-US" altLang="ko-KR"/>
          </a:p>
          <a:p>
            <a:r>
              <a:rPr lang="en-US" altLang="ko-KR"/>
              <a:t>3) </a:t>
            </a:r>
            <a:r>
              <a:rPr lang="ko-KR" altLang="en-US"/>
              <a:t>합부 계산</a:t>
            </a:r>
            <a:endParaRPr lang="en-US" altLang="ko-KR"/>
          </a:p>
          <a:p>
            <a:r>
              <a:rPr lang="en-US" altLang="ko-KR"/>
              <a:t>    * </a:t>
            </a:r>
            <a:r>
              <a:rPr lang="ko-KR" altLang="en-US"/>
              <a:t>교정 측정 오차 </a:t>
            </a:r>
            <a:r>
              <a:rPr lang="en-US" altLang="ko-KR"/>
              <a:t>– </a:t>
            </a:r>
            <a:r>
              <a:rPr lang="ko-KR" altLang="en-US"/>
              <a:t>최종 수락 한계 </a:t>
            </a:r>
            <a:r>
              <a:rPr lang="en-US" altLang="ko-KR"/>
              <a:t>(Acceptance Criteria )</a:t>
            </a:r>
          </a:p>
          <a:p>
            <a:r>
              <a:rPr lang="en-US" altLang="ko-KR"/>
              <a:t>    * </a:t>
            </a:r>
            <a:r>
              <a:rPr lang="ko-KR" altLang="en-US"/>
              <a:t>예</a:t>
            </a:r>
            <a:r>
              <a:rPr lang="en-US" altLang="ko-KR"/>
              <a:t>: 0.016 – 0.015 = 0.001, </a:t>
            </a:r>
            <a:r>
              <a:rPr lang="ko-KR" altLang="en-US"/>
              <a:t>벗어남 </a:t>
            </a:r>
            <a:r>
              <a:rPr lang="en-US" altLang="ko-KR"/>
              <a:t>(Out) </a:t>
            </a:r>
          </a:p>
          <a:p>
            <a:r>
              <a:rPr lang="en-US" altLang="ko-KR"/>
              <a:t>    * LAL= -0.015</a:t>
            </a:r>
          </a:p>
          <a:p>
            <a:r>
              <a:rPr lang="en-US" altLang="ko-KR"/>
              <a:t>    * UAL= 0.015</a:t>
            </a:r>
            <a:endParaRPr lang="ko-KR" altLang="ko-KR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9222" name="TextBox 4"/>
          <p:cNvSpPr txBox="1">
            <a:spLocks noChangeArrowheads="1"/>
          </p:cNvSpPr>
          <p:nvPr/>
        </p:nvSpPr>
        <p:spPr bwMode="auto">
          <a:xfrm>
            <a:off x="636588" y="1198563"/>
            <a:ext cx="8128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/>
              <a:t>3. </a:t>
            </a:r>
            <a:r>
              <a:rPr lang="ko-KR" altLang="en-US"/>
              <a:t>교정 결과 기록 및 적합성 판정 </a:t>
            </a:r>
            <a:r>
              <a:rPr lang="en-US" altLang="ko-KR"/>
              <a:t>(</a:t>
            </a:r>
            <a:r>
              <a:rPr lang="ko-KR" altLang="en-US"/>
              <a:t>예시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9223" name="Rectangle 8"/>
          <p:cNvSpPr>
            <a:spLocks noChangeArrowheads="1"/>
          </p:cNvSpPr>
          <p:nvPr/>
        </p:nvSpPr>
        <p:spPr bwMode="auto">
          <a:xfrm>
            <a:off x="755650" y="14827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endParaRPr lang="ko-KR" altLang="en-US"/>
          </a:p>
        </p:txBody>
      </p:sp>
      <p:pic>
        <p:nvPicPr>
          <p:cNvPr id="9224" name="_x416515680" descr="EMB00002e9c235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39925"/>
            <a:ext cx="6840538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0" y="-33338"/>
            <a:ext cx="1933575" cy="4540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39750" y="862013"/>
            <a:ext cx="7632700" cy="38131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💡 적합성 판정 해석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부적합 사례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(100 mm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측정점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100 mm 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측정점의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경우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다음과 같이 해석됩니다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단순 비교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</a:t>
            </a:r>
            <a:r>
              <a:rPr lang="ko-KR" altLang="en-US" kern="0" dirty="0" err="1">
                <a:solidFill>
                  <a:srgbClr val="000000"/>
                </a:solidFill>
                <a:latin typeface="CMR9"/>
                <a:ea typeface="CMR9"/>
              </a:rPr>
              <a:t>불확도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 무시 시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측정 오차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$+0.016 mm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는 제조사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MPE 0.020 mm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내에 있으므로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단순 비교 시에는 합격으로 오판될 수 있습니다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2)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보호대역 적용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(AS9100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요구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):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조직이 설정한 최종 수락 한계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(AL)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는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0.015 mm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입니다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3)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판정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: 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측정 오차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$+0.016 mm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가 수락 한계 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$+0.015 mm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를 초과했으므로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, **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부적합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(FAIL)**</a:t>
            </a:r>
            <a:r>
              <a:rPr lang="ko-KR" altLang="en-US" kern="0" dirty="0">
                <a:solidFill>
                  <a:srgbClr val="000000"/>
                </a:solidFill>
                <a:latin typeface="CMR9"/>
                <a:ea typeface="CMR9"/>
              </a:rPr>
              <a:t>으로 판정됩니다</a:t>
            </a:r>
            <a:r>
              <a:rPr lang="en-US" altLang="ko-KR" kern="0" dirty="0">
                <a:solidFill>
                  <a:srgbClr val="000000"/>
                </a:solidFill>
                <a:latin typeface="CMR9"/>
                <a:ea typeface="CMR9"/>
              </a:rPr>
              <a:t>.</a:t>
            </a:r>
            <a:endParaRPr lang="ko-KR" altLang="en-US" sz="12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636588" y="1198563"/>
            <a:ext cx="8128000" cy="2446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Microsoft Sans Serif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ko-KR" altLang="en-US" dirty="0"/>
              <a:t>이처럼 보호대역을 적용하면 측정 </a:t>
            </a:r>
            <a:r>
              <a:rPr lang="ko-KR" altLang="en-US" dirty="0" err="1"/>
              <a:t>불확도로</a:t>
            </a:r>
            <a:r>
              <a:rPr lang="ko-KR" altLang="en-US" dirty="0"/>
              <a:t> 인해 참값이 규격 한계를 벗어날 위험이 있는 장비는 미리 불합격 처리하여</a:t>
            </a:r>
            <a:r>
              <a:rPr lang="en-US" altLang="ko-KR" dirty="0"/>
              <a:t>, </a:t>
            </a:r>
            <a:r>
              <a:rPr lang="ko-KR" altLang="en-US" dirty="0"/>
              <a:t>소비자</a:t>
            </a:r>
            <a:r>
              <a:rPr lang="en-US" altLang="ko-KR" dirty="0"/>
              <a:t>(</a:t>
            </a:r>
            <a:r>
              <a:rPr lang="ko-KR" altLang="en-US" dirty="0"/>
              <a:t>고객</a:t>
            </a:r>
            <a:r>
              <a:rPr lang="en-US" altLang="ko-KR" dirty="0"/>
              <a:t>)</a:t>
            </a:r>
            <a:r>
              <a:rPr lang="ko-KR" altLang="en-US" dirty="0"/>
              <a:t>에게 불량품이 나갈 위험을 선제적으로 차단할 수 있습니다</a:t>
            </a:r>
            <a:r>
              <a:rPr lang="en-US" altLang="ko-KR" dirty="0" smtClean="0"/>
              <a:t>.</a:t>
            </a:r>
          </a:p>
          <a:p>
            <a:pPr>
              <a:defRPr/>
            </a:pPr>
            <a:endParaRPr lang="ko-KR" altLang="en-US" dirty="0"/>
          </a:p>
          <a:p>
            <a:pPr>
              <a:defRPr/>
            </a:pPr>
            <a:r>
              <a:rPr lang="en-US" altLang="ko-KR" dirty="0"/>
              <a:t>AS9100 7.1.5.2</a:t>
            </a:r>
            <a:r>
              <a:rPr lang="ko-KR" altLang="en-US" dirty="0"/>
              <a:t>에 따라</a:t>
            </a:r>
            <a:r>
              <a:rPr lang="en-US" altLang="ko-KR" dirty="0"/>
              <a:t>, </a:t>
            </a:r>
            <a:r>
              <a:rPr lang="ko-KR" altLang="en-US" dirty="0"/>
              <a:t>부적합으로 판정된 장비</a:t>
            </a:r>
            <a:r>
              <a:rPr lang="en-US" altLang="ko-KR" dirty="0" smtClean="0"/>
              <a:t>(100 mm </a:t>
            </a:r>
            <a:r>
              <a:rPr lang="ko-KR" altLang="en-US" dirty="0" err="1"/>
              <a:t>측정점</a:t>
            </a:r>
            <a:r>
              <a:rPr lang="en-US" altLang="ko-KR" dirty="0"/>
              <a:t>)</a:t>
            </a:r>
            <a:r>
              <a:rPr lang="ko-KR" altLang="en-US" dirty="0"/>
              <a:t>는 즉시 사용을 중지하고</a:t>
            </a:r>
            <a:r>
              <a:rPr lang="en-US" altLang="ko-KR" dirty="0"/>
              <a:t>, </a:t>
            </a:r>
            <a:r>
              <a:rPr lang="ko-KR" altLang="en-US" dirty="0"/>
              <a:t>이 장비가 사용된 기간 동안의 제품에 대해 부적합 발생 가능성을 평가해야 합니다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spcBef>
                <a:spcPct val="50000"/>
              </a:spcBef>
              <a:defRPr/>
            </a:pPr>
            <a:endParaRPr lang="en-US" altLang="ko-KR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pic>
        <p:nvPicPr>
          <p:cNvPr id="12294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4675"/>
            <a:ext cx="9144000" cy="570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pic>
        <p:nvPicPr>
          <p:cNvPr id="13318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0"/>
            <a:ext cx="61658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pic>
        <p:nvPicPr>
          <p:cNvPr id="14342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8575"/>
            <a:ext cx="7000875" cy="680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938" y="0"/>
            <a:ext cx="1933575" cy="8699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1. QMS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란 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>
              <a:lnSpc>
                <a:spcPct val="150000"/>
              </a:lnSpc>
              <a:defRPr/>
            </a:pPr>
            <a:endParaRPr lang="ko-KR" altLang="en-US" dirty="0">
              <a:solidFill>
                <a:srgbClr val="0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r>
              <a:rPr lang="ko-KR" altLang="en-US" sz="1600">
                <a:solidFill>
                  <a:srgbClr val="000000"/>
                </a:solidFill>
                <a:latin typeface="Microsoft Sans Serif" panose="020B0604020202020204" pitchFamily="34" charset="0"/>
              </a:rPr>
              <a:t> </a:t>
            </a:r>
            <a:endParaRPr lang="en-US" altLang="ko-KR" sz="1600">
              <a:solidFill>
                <a:srgbClr val="000000"/>
              </a:solidFill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17463"/>
            <a:ext cx="958850" cy="508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4342" name="TextBox 4"/>
          <p:cNvSpPr txBox="1">
            <a:spLocks noChangeArrowheads="1"/>
          </p:cNvSpPr>
          <p:nvPr/>
        </p:nvSpPr>
        <p:spPr bwMode="auto">
          <a:xfrm>
            <a:off x="636588" y="1198563"/>
            <a:ext cx="8128000" cy="78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ko-KR" sz="18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623888" y="1198563"/>
            <a:ext cx="8128000" cy="1123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ko-KR" altLang="en-US" sz="4000" dirty="0">
                <a:latin typeface="Microsoft Sans Serif" panose="020B0604020202020204" pitchFamily="34" charset="0"/>
              </a:rPr>
              <a:t>질 문 </a:t>
            </a:r>
            <a:r>
              <a:rPr lang="en-US" altLang="ko-KR" sz="4000" dirty="0">
                <a:latin typeface="Microsoft Sans Serif" panose="020B0604020202020204" pitchFamily="34" charset="0"/>
              </a:rPr>
              <a:t>?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0" y="6308725"/>
            <a:ext cx="9144000" cy="7143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3749675" y="6413500"/>
            <a:ext cx="15605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549275"/>
            <a:ext cx="8748713" cy="71438"/>
          </a:xfrm>
          <a:prstGeom prst="rect">
            <a:avLst/>
          </a:prstGeom>
          <a:gradFill rotWithShape="0">
            <a:gsLst>
              <a:gs pos="0">
                <a:srgbClr val="FF0000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6453188"/>
            <a:ext cx="9144000" cy="714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ko-KR" altLang="en-US" sz="1800">
              <a:latin typeface="Microsoft Sans Serif" panose="020B0604020202020204" pitchFamily="34" charset="0"/>
            </a:endParaRPr>
          </a:p>
        </p:txBody>
      </p:sp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3829050" y="6488113"/>
            <a:ext cx="15049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latin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ko-KR" altLang="en-US" sz="1600">
                <a:latin typeface="Microsoft Sans Serif" panose="020B0604020202020204" pitchFamily="34" charset="0"/>
              </a:rPr>
              <a:t>경품인 컨설팅 </a:t>
            </a:r>
            <a:endParaRPr lang="en-US" altLang="ko-KR" sz="1600">
              <a:latin typeface="Microsoft Sans Serif" panose="020B0604020202020204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0" y="17463"/>
            <a:ext cx="728663" cy="4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☞ </a:t>
            </a:r>
            <a:r>
              <a:rPr lang="ko-KR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끝</a:t>
            </a:r>
          </a:p>
        </p:txBody>
      </p:sp>
      <p:sp>
        <p:nvSpPr>
          <p:cNvPr id="14342" name="TextBox 4"/>
          <p:cNvSpPr txBox="1">
            <a:spLocks noChangeArrowheads="1"/>
          </p:cNvSpPr>
          <p:nvPr/>
        </p:nvSpPr>
        <p:spPr bwMode="auto">
          <a:xfrm>
            <a:off x="636588" y="1198563"/>
            <a:ext cx="8128000" cy="784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ko-KR" sz="18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623888" y="1198563"/>
            <a:ext cx="8128000" cy="1123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 sz="2000" b="1">
                <a:solidFill>
                  <a:schemeClr val="tx1"/>
                </a:solidFill>
                <a:latin typeface="Rotis Sans Serif for Nokia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40000"/>
              </a:spcBef>
              <a:buClr>
                <a:schemeClr val="hlink"/>
              </a:buClr>
              <a:buSzPct val="12500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4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ko-KR" altLang="en-US" sz="4000" dirty="0">
                <a:latin typeface="Microsoft Sans Serif" panose="020B0604020202020204" pitchFamily="34" charset="0"/>
              </a:rPr>
              <a:t>감사합니다</a:t>
            </a:r>
            <a:r>
              <a:rPr lang="en-US" altLang="ko-KR" sz="4000" dirty="0">
                <a:latin typeface="Microsoft Sans Serif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AutoNum type="arabicPeriod"/>
              <a:defRPr/>
            </a:pPr>
            <a:endParaRPr lang="ko-KR" altLang="en-US" sz="1800" dirty="0">
              <a:latin typeface="Microsoft Sans Serif" panose="020B0604020202020204" pitchFamily="34" charset="0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Blank Presentation">
      <a:majorFont>
        <a:latin typeface="Nokia Sans SemiBold"/>
        <a:ea typeface=""/>
        <a:cs typeface=""/>
      </a:majorFont>
      <a:minorFont>
        <a:latin typeface="Rotis Sans Serif for Nok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1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Microsoft Sans Serif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24709</TotalTime>
  <Words>469</Words>
  <Application>Microsoft Office PowerPoint</Application>
  <PresentationFormat>화면 슬라이드 쇼(4:3)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Microsoft Sans Serif</vt:lpstr>
      <vt:lpstr>굴림</vt:lpstr>
      <vt:lpstr>Arial</vt:lpstr>
      <vt:lpstr>Nokia Sans SemiBold</vt:lpstr>
      <vt:lpstr>Rotis Sans Serif for Nokia</vt:lpstr>
      <vt:lpstr>Times New Roman</vt:lpstr>
      <vt:lpstr>맑은 고딕</vt:lpstr>
      <vt:lpstr>CMR9</vt:lpstr>
      <vt:lpstr>함초롬바탕</vt:lpstr>
      <vt:lpstr>Blank Presentation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GA4</dc:creator>
  <cp:lastModifiedBy>User</cp:lastModifiedBy>
  <cp:revision>487</cp:revision>
  <dcterms:created xsi:type="dcterms:W3CDTF">2010-07-07T06:05:20Z</dcterms:created>
  <dcterms:modified xsi:type="dcterms:W3CDTF">2026-04-18T05:25:41Z</dcterms:modified>
</cp:coreProperties>
</file>