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6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98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6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70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27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46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44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1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47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4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14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BFE12-0825-49E2-8F1E-24182E7D8AC3}" type="datetimeFigureOut">
              <a:rPr lang="ko-KR" altLang="en-US" smtClean="0"/>
              <a:t>2015-10-05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DD115-F561-43DB-8AD5-D8EC3EDA5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52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009" y="0"/>
            <a:ext cx="5543550" cy="6724650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3789405" y="1499286"/>
            <a:ext cx="3609771" cy="160264"/>
          </a:xfrm>
          <a:prstGeom prst="rect">
            <a:avLst/>
          </a:prstGeom>
          <a:solidFill>
            <a:srgbClr val="FFFF0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670183" y="951664"/>
            <a:ext cx="3237437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13. Detail FAI □ Assembly FAI □</a:t>
            </a:r>
          </a:p>
          <a:p>
            <a:r>
              <a:rPr lang="en-US" altLang="ko-KR" sz="1000" dirty="0" smtClean="0"/>
              <a:t>&gt;</a:t>
            </a:r>
            <a:r>
              <a:rPr lang="en-US" altLang="ko-KR" sz="1000" dirty="0" smtClean="0">
                <a:solidFill>
                  <a:srgbClr val="FF0000"/>
                </a:solidFill>
              </a:rPr>
              <a:t> Detail FAI □               Assembly FAI □ </a:t>
            </a:r>
            <a:r>
              <a:rPr lang="ko-KR" altLang="en-US" sz="1000" dirty="0" smtClean="0"/>
              <a:t>수정</a:t>
            </a:r>
            <a:r>
              <a:rPr lang="en-US" altLang="ko-KR" sz="1000" dirty="0" smtClean="0"/>
              <a:t>         </a:t>
            </a:r>
            <a:endParaRPr lang="en-US" altLang="ko-KR" sz="1000" dirty="0"/>
          </a:p>
          <a:p>
            <a:r>
              <a:rPr lang="en-US" altLang="ko-KR" sz="1000" dirty="0" smtClean="0"/>
              <a:t>14. Full FAI □ Partial FAI ■</a:t>
            </a:r>
          </a:p>
          <a:p>
            <a:r>
              <a:rPr lang="en-US" altLang="ko-KR" sz="1000" dirty="0" smtClean="0"/>
              <a:t>&gt;</a:t>
            </a:r>
            <a:r>
              <a:rPr lang="en-US" altLang="ko-KR" sz="1000" dirty="0" smtClean="0">
                <a:solidFill>
                  <a:srgbClr val="FF0000"/>
                </a:solidFill>
              </a:rPr>
              <a:t>Full FAI □                   Partial FAI ■</a:t>
            </a:r>
            <a:r>
              <a:rPr lang="ko-KR" altLang="en-US" sz="1000" dirty="0" smtClean="0"/>
              <a:t>수정</a:t>
            </a:r>
            <a:endParaRPr lang="en-US" altLang="ko-KR" sz="1000" dirty="0" smtClean="0"/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7009752" y="1566867"/>
            <a:ext cx="646739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8003" y="2148147"/>
            <a:ext cx="2913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</a:rPr>
              <a:t>15</a:t>
            </a:r>
            <a:r>
              <a:rPr lang="ko-KR" altLang="en-US" sz="1200" dirty="0" smtClean="0">
                <a:solidFill>
                  <a:srgbClr val="FF0000"/>
                </a:solidFill>
              </a:rPr>
              <a:t>행 밑에 행 하나 추가 후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r>
              <a:rPr lang="en-US" altLang="ko-KR" sz="1200" dirty="0" smtClean="0"/>
              <a:t>12</a:t>
            </a:r>
            <a:r>
              <a:rPr lang="ko-KR" altLang="en-US" sz="1200" dirty="0" smtClean="0"/>
              <a:t>행</a:t>
            </a:r>
            <a:r>
              <a:rPr lang="en-US" altLang="ko-KR" sz="1200" dirty="0" smtClean="0"/>
              <a:t>~15</a:t>
            </a:r>
            <a:r>
              <a:rPr lang="ko-KR" altLang="en-US" sz="1200" dirty="0" smtClean="0"/>
              <a:t>행 </a:t>
            </a:r>
            <a:r>
              <a:rPr lang="ko-KR" altLang="en-US" sz="1200" dirty="0" smtClean="0"/>
              <a:t>추가 행까지 </a:t>
            </a:r>
            <a:r>
              <a:rPr lang="ko-KR" altLang="en-US" sz="1200" u="sng" dirty="0" smtClean="0">
                <a:solidFill>
                  <a:srgbClr val="FF0000"/>
                </a:solidFill>
              </a:rPr>
              <a:t>행 </a:t>
            </a:r>
            <a:r>
              <a:rPr lang="ko-KR" altLang="en-US" sz="1200" u="sng" dirty="0">
                <a:solidFill>
                  <a:srgbClr val="FF0000"/>
                </a:solidFill>
              </a:rPr>
              <a:t>높이</a:t>
            </a:r>
            <a:r>
              <a:rPr lang="ko-KR" altLang="en-US" sz="1200" u="sng" dirty="0" smtClean="0">
                <a:solidFill>
                  <a:srgbClr val="FF0000"/>
                </a:solidFill>
              </a:rPr>
              <a:t> </a:t>
            </a:r>
            <a:r>
              <a:rPr lang="en-US" altLang="ko-KR" sz="1200" u="sng" dirty="0" smtClean="0">
                <a:solidFill>
                  <a:srgbClr val="FF0000"/>
                </a:solidFill>
              </a:rPr>
              <a:t>21</a:t>
            </a:r>
            <a:r>
              <a:rPr lang="ko-KR" altLang="en-US" sz="1200" dirty="0" smtClean="0"/>
              <a:t>로 수정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546972" y="1840683"/>
            <a:ext cx="2053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13</a:t>
            </a:r>
            <a:r>
              <a:rPr lang="ko-KR" altLang="en-US" sz="1200" dirty="0" smtClean="0"/>
              <a:t>행</a:t>
            </a:r>
            <a:r>
              <a:rPr lang="en-US" altLang="ko-KR" sz="1200" dirty="0" smtClean="0"/>
              <a:t>~14</a:t>
            </a:r>
            <a:r>
              <a:rPr lang="ko-KR" altLang="en-US" sz="1200" dirty="0" smtClean="0"/>
              <a:t>행 </a:t>
            </a:r>
            <a:r>
              <a:rPr lang="ko-KR" altLang="en-US" sz="1200" dirty="0" smtClean="0">
                <a:solidFill>
                  <a:srgbClr val="FF0000"/>
                </a:solidFill>
              </a:rPr>
              <a:t>글씨체 진하게</a:t>
            </a:r>
            <a:endParaRPr lang="en-US" altLang="ko-KR" sz="1200" dirty="0" smtClean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9735" y="6138028"/>
            <a:ext cx="2128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행 크기 </a:t>
            </a:r>
            <a:r>
              <a:rPr lang="en-US" altLang="ko-KR" sz="1200" dirty="0" smtClean="0">
                <a:solidFill>
                  <a:srgbClr val="FF0000"/>
                </a:solidFill>
              </a:rPr>
              <a:t>24</a:t>
            </a:r>
            <a:r>
              <a:rPr lang="ko-KR" altLang="en-US" sz="1200" dirty="0" smtClean="0"/>
              <a:t>로 수정</a:t>
            </a:r>
            <a:endParaRPr lang="en-US" altLang="ko-KR" sz="1200" dirty="0" smtClean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281591"/>
              </p:ext>
            </p:extLst>
          </p:nvPr>
        </p:nvGraphicFramePr>
        <p:xfrm>
          <a:off x="92333" y="5241295"/>
          <a:ext cx="4790465" cy="3581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790465"/>
              </a:tblGrid>
              <a:tr h="1790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Signature </a:t>
                      </a:r>
                      <a:r>
                        <a:rPr lang="en-US" sz="800" u="none" strike="noStrike" dirty="0">
                          <a:effectLst/>
                        </a:rPr>
                        <a:t>indicates</a:t>
                      </a:r>
                      <a:r>
                        <a:rPr lang="en-US" sz="900" u="none" strike="noStrike" dirty="0">
                          <a:effectLst/>
                        </a:rPr>
                        <a:t> that all characteristics are accounted for; meet drawing requirements </a:t>
                      </a:r>
                      <a:r>
                        <a:rPr lang="en-US" sz="900" u="none" strike="noStrike" dirty="0" smtClean="0">
                          <a:effectLst/>
                        </a:rPr>
                        <a:t>or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</a:tr>
              <a:tr h="1790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are properly documented for disposition</a:t>
                      </a:r>
                      <a:r>
                        <a:rPr lang="en-US" sz="900" u="none" strike="noStrike" dirty="0" smtClean="0">
                          <a:effectLst/>
                        </a:rPr>
                        <a:t>.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00391" y="5619733"/>
            <a:ext cx="1453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행 크기 </a:t>
            </a:r>
            <a:r>
              <a:rPr lang="en-US" altLang="ko-KR" sz="1200" dirty="0" smtClean="0">
                <a:solidFill>
                  <a:srgbClr val="FF0000"/>
                </a:solidFill>
              </a:rPr>
              <a:t>15</a:t>
            </a:r>
            <a:r>
              <a:rPr lang="ko-KR" altLang="en-US" sz="1200" dirty="0" smtClean="0"/>
              <a:t>로 수정</a:t>
            </a:r>
            <a:endParaRPr lang="en-US" altLang="ko-KR" sz="1200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7656491" y="2609812"/>
            <a:ext cx="4510992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altLang="ko-KR" sz="800" b="0" i="0" u="none" strike="noStrike" dirty="0" smtClean="0"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INDEX of part numbers or sub-assembly numbers required to make the assembly noted above.</a:t>
            </a:r>
            <a:r>
              <a:rPr lang="en-US" altLang="ko-KR" sz="800" dirty="0" smtClean="0"/>
              <a:t> </a:t>
            </a:r>
          </a:p>
          <a:p>
            <a:r>
              <a:rPr lang="en-US" altLang="ko-KR" sz="800" dirty="0" smtClean="0"/>
              <a:t>&gt;</a:t>
            </a:r>
            <a:r>
              <a:rPr lang="ko-KR" altLang="en-US" sz="800" dirty="0" smtClean="0"/>
              <a:t>병합하고 가운데 맞춤 하기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-62363" y="2748311"/>
            <a:ext cx="42402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smtClean="0"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15. Part Number</a:t>
            </a:r>
            <a:r>
              <a:rPr lang="en-US" altLang="ko-KR" sz="1000" dirty="0" smtClean="0"/>
              <a:t> </a:t>
            </a:r>
            <a:r>
              <a:rPr lang="en-US" altLang="ko-KR" sz="1000" b="0" i="0" u="none" strike="noStrike" dirty="0" smtClean="0"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16. Part Name</a:t>
            </a:r>
            <a:r>
              <a:rPr lang="en-US" altLang="ko-KR" sz="1000" dirty="0" smtClean="0"/>
              <a:t> </a:t>
            </a:r>
            <a:r>
              <a:rPr lang="ko-KR" altLang="en-US" sz="1000" b="0" i="0" u="none" strike="noStrike" dirty="0" smtClean="0"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　</a:t>
            </a:r>
            <a:r>
              <a:rPr lang="en-US" altLang="ko-KR" sz="1000" dirty="0" smtClean="0"/>
              <a:t> </a:t>
            </a:r>
            <a:r>
              <a:rPr lang="en-US" altLang="ko-KR" sz="1000" b="0" i="0" u="none" strike="noStrike" dirty="0" smtClean="0"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17. Part S/N</a:t>
            </a:r>
            <a:r>
              <a:rPr lang="en-US" altLang="ko-KR" sz="1000" dirty="0" smtClean="0"/>
              <a:t> </a:t>
            </a:r>
            <a:r>
              <a:rPr lang="ko-KR" altLang="en-US" sz="1000" b="0" i="0" u="none" strike="noStrike" dirty="0" smtClean="0"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　</a:t>
            </a:r>
            <a:r>
              <a:rPr lang="en-US" altLang="ko-KR" sz="1000" dirty="0" smtClean="0"/>
              <a:t> </a:t>
            </a:r>
            <a:r>
              <a:rPr lang="en-US" altLang="ko-KR" sz="1000" b="0" i="0" u="none" strike="noStrike" dirty="0" smtClean="0"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18. Note</a:t>
            </a:r>
          </a:p>
          <a:p>
            <a:r>
              <a:rPr lang="en-US" altLang="ko-KR" sz="1000" dirty="0" smtClean="0"/>
              <a:t> </a:t>
            </a:r>
            <a:r>
              <a:rPr lang="ko-KR" altLang="en-US" sz="1000" dirty="0" smtClean="0">
                <a:solidFill>
                  <a:srgbClr val="FF0000"/>
                </a:solidFill>
              </a:rPr>
              <a:t>색 넣기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왼쪽 중괄호 1"/>
          <p:cNvSpPr/>
          <p:nvPr/>
        </p:nvSpPr>
        <p:spPr>
          <a:xfrm>
            <a:off x="3470445" y="1908714"/>
            <a:ext cx="69575" cy="15323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stCxn id="36" idx="1"/>
          </p:cNvCxnSpPr>
          <p:nvPr/>
        </p:nvCxnSpPr>
        <p:spPr>
          <a:xfrm flipH="1" flipV="1">
            <a:off x="3470446" y="2866768"/>
            <a:ext cx="318958" cy="18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endCxn id="15" idx="1"/>
          </p:cNvCxnSpPr>
          <p:nvPr/>
        </p:nvCxnSpPr>
        <p:spPr>
          <a:xfrm>
            <a:off x="7333121" y="2685535"/>
            <a:ext cx="323370" cy="93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왼쪽 중괄호 25"/>
          <p:cNvSpPr/>
          <p:nvPr/>
        </p:nvSpPr>
        <p:spPr>
          <a:xfrm>
            <a:off x="3505232" y="5709539"/>
            <a:ext cx="48480" cy="1309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92333" y="219994"/>
            <a:ext cx="337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한 페이지 단위로 나오게 하기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3789404" y="2609812"/>
            <a:ext cx="3609771" cy="138499"/>
          </a:xfrm>
          <a:prstGeom prst="rect">
            <a:avLst/>
          </a:prstGeom>
          <a:solidFill>
            <a:srgbClr val="FFFF00">
              <a:alpha val="4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3789405" y="1840683"/>
            <a:ext cx="3609771" cy="276999"/>
          </a:xfrm>
          <a:prstGeom prst="rect">
            <a:avLst/>
          </a:prstGeom>
          <a:solidFill>
            <a:srgbClr val="FFFF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789404" y="5896732"/>
            <a:ext cx="3609771" cy="541390"/>
          </a:xfrm>
          <a:prstGeom prst="rect">
            <a:avLst/>
          </a:prstGeom>
          <a:solidFill>
            <a:srgbClr val="FFFF00">
              <a:alpha val="3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372074"/>
              </p:ext>
            </p:extLst>
          </p:nvPr>
        </p:nvGraphicFramePr>
        <p:xfrm>
          <a:off x="6888737" y="5420365"/>
          <a:ext cx="5191490" cy="71766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572142"/>
                <a:gridCol w="2619348"/>
              </a:tblGrid>
              <a:tr h="23709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Indicate if the FAI is complete per applicable QMS:     □ FAI complete        □ FAI not </a:t>
                      </a:r>
                      <a:r>
                        <a:rPr lang="en-US" sz="900" u="none" strike="noStrike" dirty="0" smtClean="0">
                          <a:effectLst/>
                        </a:rPr>
                        <a:t>Complete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37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19. </a:t>
                      </a:r>
                      <a:r>
                        <a:rPr lang="en-US" sz="900" u="none" strike="noStrike" dirty="0" smtClean="0">
                          <a:effectLst/>
                        </a:rPr>
                        <a:t>Signature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20. </a:t>
                      </a:r>
                      <a:r>
                        <a:rPr lang="en-US" sz="900" u="none" strike="noStrike" dirty="0" smtClean="0">
                          <a:effectLst/>
                        </a:rPr>
                        <a:t>Date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</a:tr>
              <a:tr h="1896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21. Reviewed </a:t>
                      </a:r>
                      <a:r>
                        <a:rPr lang="en-US" sz="900" u="none" strike="noStrike" dirty="0" smtClean="0">
                          <a:effectLst/>
                        </a:rPr>
                        <a:t>By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22. </a:t>
                      </a:r>
                      <a:r>
                        <a:rPr lang="en-US" sz="900" u="none" strike="noStrike" dirty="0" smtClean="0">
                          <a:effectLst/>
                        </a:rPr>
                        <a:t>Date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</a:tr>
              <a:tr h="908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23. Customer </a:t>
                      </a:r>
                      <a:r>
                        <a:rPr lang="en-US" sz="900" u="none" strike="noStrike" dirty="0" smtClean="0">
                          <a:effectLst/>
                        </a:rPr>
                        <a:t>Approval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24. </a:t>
                      </a:r>
                      <a:r>
                        <a:rPr lang="en-US" sz="900" u="none" strike="noStrike" dirty="0" smtClean="0">
                          <a:effectLst/>
                        </a:rPr>
                        <a:t>Date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cxnSp>
        <p:nvCxnSpPr>
          <p:cNvPr id="33" name="직선 화살표 연결선 32"/>
          <p:cNvCxnSpPr/>
          <p:nvPr/>
        </p:nvCxnSpPr>
        <p:spPr>
          <a:xfrm>
            <a:off x="7357542" y="6231802"/>
            <a:ext cx="5321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3789404" y="5709539"/>
            <a:ext cx="2835331" cy="187193"/>
          </a:xfrm>
          <a:prstGeom prst="rect">
            <a:avLst/>
          </a:prstGeom>
          <a:solidFill>
            <a:schemeClr val="accent4">
              <a:alpha val="5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3789404" y="2794478"/>
            <a:ext cx="3609771" cy="181987"/>
          </a:xfrm>
          <a:prstGeom prst="rect">
            <a:avLst/>
          </a:prstGeom>
          <a:solidFill>
            <a:srgbClr val="FFC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7588004" y="2294951"/>
            <a:ext cx="1453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행 크기 </a:t>
            </a:r>
            <a:r>
              <a:rPr lang="en-US" altLang="ko-KR" sz="1200" dirty="0" smtClean="0">
                <a:solidFill>
                  <a:srgbClr val="FF0000"/>
                </a:solidFill>
              </a:rPr>
              <a:t>15</a:t>
            </a:r>
            <a:r>
              <a:rPr lang="ko-KR" altLang="en-US" sz="1200" dirty="0" smtClean="0"/>
              <a:t>로 수정</a:t>
            </a:r>
            <a:endParaRPr lang="en-US" altLang="ko-KR" sz="1200" dirty="0" smtClean="0"/>
          </a:p>
        </p:txBody>
      </p:sp>
      <p:sp>
        <p:nvSpPr>
          <p:cNvPr id="40" name="오른쪽 중괄호 39"/>
          <p:cNvSpPr/>
          <p:nvPr/>
        </p:nvSpPr>
        <p:spPr>
          <a:xfrm>
            <a:off x="7389175" y="2339553"/>
            <a:ext cx="215863" cy="23948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3792523" y="2321679"/>
            <a:ext cx="3609771" cy="270259"/>
          </a:xfrm>
          <a:prstGeom prst="rect">
            <a:avLst/>
          </a:prstGeom>
          <a:solidFill>
            <a:schemeClr val="accent4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95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4768" y="102021"/>
            <a:ext cx="5577018" cy="64929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88" y="102021"/>
            <a:ext cx="5543550" cy="6724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74292" y="1894703"/>
            <a:ext cx="38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전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35978" y="1894703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96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580696"/>
              </p:ext>
            </p:extLst>
          </p:nvPr>
        </p:nvGraphicFramePr>
        <p:xfrm>
          <a:off x="6096000" y="1620258"/>
          <a:ext cx="4762164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5826"/>
                <a:gridCol w="587470"/>
                <a:gridCol w="587470"/>
                <a:gridCol w="716584"/>
                <a:gridCol w="742407"/>
                <a:gridCol w="742407"/>
              </a:tblGrid>
              <a:tr h="25085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784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706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REV</a:t>
                      </a:r>
                    </a:p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No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ECN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No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FROM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TO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75" y="257530"/>
            <a:ext cx="5448300" cy="632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7051" y="2621819"/>
            <a:ext cx="3576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위 표 </a:t>
            </a:r>
            <a:r>
              <a:rPr lang="ko-KR" altLang="en-US" dirty="0" smtClean="0">
                <a:solidFill>
                  <a:srgbClr val="FF0000"/>
                </a:solidFill>
              </a:rPr>
              <a:t>삭제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/>
          <p:cNvCxnSpPr>
            <a:endCxn id="6" idx="1"/>
          </p:cNvCxnSpPr>
          <p:nvPr/>
        </p:nvCxnSpPr>
        <p:spPr>
          <a:xfrm>
            <a:off x="5206314" y="2031738"/>
            <a:ext cx="8896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오른쪽 중괄호 9"/>
          <p:cNvSpPr/>
          <p:nvPr/>
        </p:nvSpPr>
        <p:spPr>
          <a:xfrm>
            <a:off x="5206314" y="1820562"/>
            <a:ext cx="45719" cy="3954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908998" y="1820561"/>
            <a:ext cx="4161453" cy="474769"/>
          </a:xfrm>
          <a:prstGeom prst="rect">
            <a:avLst/>
          </a:prstGeom>
          <a:solidFill>
            <a:srgbClr val="FFFF00">
              <a:alpha val="5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99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49" y="1153545"/>
            <a:ext cx="6094898" cy="43513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35" y="290481"/>
            <a:ext cx="5448300" cy="63246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354595" y="1153545"/>
            <a:ext cx="19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전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275805" y="5618205"/>
            <a:ext cx="98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04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773" y="1207315"/>
            <a:ext cx="8410575" cy="4695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5717" y="2548991"/>
            <a:ext cx="315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한 페이지로 </a:t>
            </a:r>
            <a:r>
              <a:rPr lang="ko-KR" altLang="en-US" dirty="0" smtClean="0"/>
              <a:t>나오게 만들기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23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181" y="470758"/>
            <a:ext cx="5085438" cy="60518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845"/>
            <a:ext cx="6595108" cy="453876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1438" y="4339279"/>
            <a:ext cx="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전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73833" y="5675870"/>
            <a:ext cx="38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44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182</Words>
  <Application>Microsoft Office PowerPoint</Application>
  <PresentationFormat>와이드스크린</PresentationFormat>
  <Paragraphs>53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돋움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8</cp:revision>
  <dcterms:created xsi:type="dcterms:W3CDTF">2015-10-05T05:15:04Z</dcterms:created>
  <dcterms:modified xsi:type="dcterms:W3CDTF">2015-10-05T06:49:09Z</dcterms:modified>
</cp:coreProperties>
</file>