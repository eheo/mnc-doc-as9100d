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17"/>
  </p:notesMasterIdLst>
  <p:sldIdLst>
    <p:sldId id="278" r:id="rId3"/>
    <p:sldId id="281" r:id="rId4"/>
    <p:sldId id="371" r:id="rId5"/>
    <p:sldId id="379" r:id="rId6"/>
    <p:sldId id="383" r:id="rId7"/>
    <p:sldId id="378" r:id="rId8"/>
    <p:sldId id="382" r:id="rId9"/>
    <p:sldId id="345" r:id="rId10"/>
    <p:sldId id="375" r:id="rId11"/>
    <p:sldId id="384" r:id="rId12"/>
    <p:sldId id="385" r:id="rId13"/>
    <p:sldId id="386" r:id="rId14"/>
    <p:sldId id="362" r:id="rId15"/>
    <p:sldId id="363" r:id="rId16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8F3"/>
    <a:srgbClr val="316BFD"/>
    <a:srgbClr val="000066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9" autoAdjust="0"/>
    <p:restoredTop sz="94660"/>
  </p:normalViewPr>
  <p:slideViewPr>
    <p:cSldViewPr showGuides="1">
      <p:cViewPr>
        <p:scale>
          <a:sx n="100" d="100"/>
          <a:sy n="100" d="100"/>
        </p:scale>
        <p:origin x="2358" y="3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35D8F0-F73B-DF29-1211-95EE55ECC7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F9436D-B175-70C7-BA1F-8CA9BB963C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fld id="{DC675DB7-45B0-4C14-9C30-F80F8576CF3B}" type="datetimeFigureOut">
              <a:rPr lang="ko-KR" altLang="en-US"/>
              <a:pPr>
                <a:defRPr/>
              </a:pPr>
              <a:t>2026-04-18</a:t>
            </a:fld>
            <a:endParaRPr lang="ko-KR" altLang="en-US" dirty="0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EC94463-F4D6-841D-A7BA-14CC86DDA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9876411-D9FD-4EF3-02FD-88D3EC444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B15763-5724-0A66-3C25-94CDD6509F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F0026C-A60B-6886-BC7D-9E0C38248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/>
            </a:lvl1pPr>
          </a:lstStyle>
          <a:p>
            <a:fld id="{0CECCE4E-0114-4A56-9D0B-3B6807E161F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41829675"/>
      </p:ext>
    </p:extLst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72254415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34912450"/>
      </p:ext>
    </p:extLst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5938" y="1155700"/>
            <a:ext cx="4108450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76788" y="1155700"/>
            <a:ext cx="4110037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554223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30132154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57291900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60768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192119194"/>
      </p:ext>
    </p:extLst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504070"/>
      </p:ext>
    </p:extLst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33033472"/>
      </p:ext>
    </p:extLst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94500" y="304800"/>
            <a:ext cx="2092325" cy="56769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5938" y="304800"/>
            <a:ext cx="6126162" cy="56769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72233478"/>
      </p:ext>
    </p:extLst>
  </p:cSld>
  <p:clrMapOvr>
    <a:masterClrMapping/>
  </p:clrMapOvr>
  <p:transition>
    <p:zoom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7905A-C779-9715-D9B4-29516EA0EA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A07293-FC61-2CEB-C81F-D404261F3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826DB4-9C12-C966-A7A9-CE9B3E6ECE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8A4F08-C7EB-4592-AF28-24D36616BA9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2668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1D7A96-6A30-8178-BDED-D57B0FA462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67439D-90FB-2A15-3EE0-88BCAB9CBB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2FF27D-0E5E-400C-2A47-B44A7CC288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05238D-C207-44D9-BF38-D9396CE81CF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4002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A17050-CA4B-A414-8C72-AA5F99AE7D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6336B0-C860-A095-16B3-4EBB70F52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285350-7E16-11F1-B722-06CD71ABB6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2C3BFC-2533-402A-A88B-4710FFD1A29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0721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D67D4-5E51-FD47-F777-2A4482EE24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E8B87-8C90-9311-2DF9-F3CCE9443B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B292D8-71D6-D979-DA4B-CFF76F1BA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B07AF8-A4DD-4E49-BB05-3F23A315AD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614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61A27D-9926-3118-D006-CC292863EA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1441C7-C1BF-65DE-F0CF-0CAFCA2BE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9F05B9-104B-5EC7-9A1B-C3E7806518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34081B-F00E-4BBB-A695-D500862D21A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7111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FE4138-ACEB-3735-FF7D-D2B309D62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835676-35E3-C0A7-BE62-BC151E194D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67CF4D-0C30-9B2C-8102-F3E932CEE7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AC27EA-05FD-463A-9434-F432E94CCF6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2457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0E0D1C-16C9-357A-F3FD-3BAA8014B0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6FCB77E-9B94-0C32-6443-C30188148B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6ADA7B-D644-804C-C194-E3265302B2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32DC2-BDF6-4FCA-84A2-9A892EA4F8D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3983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01363-338B-631E-626E-0E652A590A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627CA-CB4E-DE69-1A40-9F63A234EC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B6B0B-639B-597F-D2DF-10810E28B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3E7853-A3A7-4229-ABB0-F996D53955D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7495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204F1-F2C9-D387-045C-6E670773D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32344-8E12-679B-779F-3B779FD8A4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0D906E-14CD-9CBC-B757-CA0EB25C17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B457C7-5EE3-49AE-BE14-54727B7F4F7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685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0DC836-C98C-108A-F5EE-402C2DC6E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DF82183-112F-1D8D-0D5F-73C8C26710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BC2B6B-74A9-7D1D-BA3B-C589CB681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97949E-5189-4B9C-AC47-6B851C553C0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2850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B738D0-55E3-1C11-FABE-0588C44B10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E531B1-CD27-6234-B31D-6B8EAEAAD4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DA2467-4D24-D568-E009-309059AF2D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3652E0-21BC-4828-BAFB-71E815F3E0C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77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FC38C4D-CDC7-7560-A7FD-80287D327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304800"/>
            <a:ext cx="80391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Title: 32 pt Arial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0E8D45-FB57-B1CF-76C5-439C1E1A7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5938" y="1155700"/>
            <a:ext cx="8370887" cy="48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Nokia PowerPoint 97Template - December 13,1997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zoom dir="in"/>
  </p:transition>
  <p:txStyles>
    <p:titleStyle>
      <a:lvl1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2pPr>
      <a:lvl3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3pPr>
      <a:lvl4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4pPr>
      <a:lvl5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5pPr>
      <a:lvl6pPr marL="4572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6pPr>
      <a:lvl7pPr marL="9144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7pPr>
      <a:lvl8pPr marL="13716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8pPr>
      <a:lvl9pPr marL="18288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9pPr>
    </p:titleStyle>
    <p:bodyStyle>
      <a:lvl1pPr marL="280988" indent="-280988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66750" indent="-195263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>
          <a:solidFill>
            <a:schemeClr val="tx1"/>
          </a:solidFill>
          <a:latin typeface="Arial" charset="0"/>
        </a:defRPr>
      </a:lvl2pPr>
      <a:lvl3pPr marL="1336675" indent="-384175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marL="1804988" indent="-277813" algn="l" defTabSz="7620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2860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7432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2004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6576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1148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8603AA9-A21D-E44E-B8CC-72F257276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5B09DAF-8B95-D28E-3678-6A42D5526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346536C-602A-1FD6-E82C-E2D08D64E1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42CADCD4-AA7C-0AA8-3629-CAC426CF0A2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02CBD8A2-2FFE-18BA-A644-7FAD06E54E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>
                <a:latin typeface="굴림" panose="020B0600000101010101" pitchFamily="50" charset="-127"/>
              </a:defRPr>
            </a:lvl1pPr>
          </a:lstStyle>
          <a:p>
            <a:fld id="{B842E7C3-230E-42D4-BF11-D28A3C7A01F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96E3B02-059C-D077-61D2-011A5BE24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1364ADE-2AAE-2004-E3D1-0E0E8B19E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8AE1DF18-0982-B2F1-1E8D-9068C98C5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101" name="TextBox 12">
            <a:extLst>
              <a:ext uri="{FF2B5EF4-FFF2-40B4-BE49-F238E27FC236}">
                <a16:creationId xmlns:a16="http://schemas.microsoft.com/office/drawing/2014/main" id="{B99EB9A5-E48A-F23D-5894-4ECBE80CD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4759325"/>
            <a:ext cx="73152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경품인 컨설팅</a:t>
            </a:r>
            <a:br>
              <a:rPr lang="ko-KR" altLang="en-US" sz="3200">
                <a:latin typeface="Microsoft Sans Serif" panose="020B0604020202020204" pitchFamily="34" charset="0"/>
              </a:rPr>
            </a:br>
            <a:endParaRPr lang="ko-KR" altLang="en-US" sz="3200">
              <a:latin typeface="Microsoft Sans Serif" panose="020B0604020202020204" pitchFamily="34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133B7D06-7703-7086-36AA-3BEE7E8A4DCF}"/>
              </a:ext>
            </a:extLst>
          </p:cNvPr>
          <p:cNvSpPr txBox="1">
            <a:spLocks/>
          </p:cNvSpPr>
          <p:nvPr/>
        </p:nvSpPr>
        <p:spPr>
          <a:xfrm>
            <a:off x="1104900" y="1830388"/>
            <a:ext cx="7315200" cy="24622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270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666750" indent="-195263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6675" indent="-384175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04988" indent="-277813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280988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 </a:t>
            </a: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구하는 법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항목 </a:t>
            </a: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7.1.5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AS9100: 2016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KSQ9100:2018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0EF85F4-21CE-9FD5-EE67-65BF9D82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5D5072A9-81B4-1CA9-6D9C-89FB7B1F4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계측기 정보 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ko-KR"/>
              <a:t>Acceptance Criteria </a:t>
            </a:r>
            <a:r>
              <a:rPr lang="ko-KR" altLang="en-US"/>
              <a:t>설정 공식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사례</a:t>
            </a:r>
            <a:endParaRPr lang="en-US" altLang="ko-KR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94FA15-305C-4272-82E2-66789D29B067}"/>
              </a:ext>
            </a:extLst>
          </p:cNvPr>
          <p:cNvSpPr/>
          <p:nvPr/>
        </p:nvSpPr>
        <p:spPr>
          <a:xfrm>
            <a:off x="0" y="-33338"/>
            <a:ext cx="958850" cy="5080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32F8C75B-8F9F-E479-FB34-0BE6DFC04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8FCCB36-CEE9-A4A5-6BD6-2264B45A7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4540117-D0DA-631E-F76A-33815761C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044131-D1F1-8DA2-A53A-3702F0E5736F}"/>
              </a:ext>
            </a:extLst>
          </p:cNvPr>
          <p:cNvSpPr/>
          <p:nvPr/>
        </p:nvSpPr>
        <p:spPr>
          <a:xfrm>
            <a:off x="0" y="-33338"/>
            <a:ext cx="1223963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A0D80F3-282C-FE31-5CEC-A7016017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149" name="Rectangle 6">
            <a:extLst>
              <a:ext uri="{FF2B5EF4-FFF2-40B4-BE49-F238E27FC236}">
                <a16:creationId xmlns:a16="http://schemas.microsoft.com/office/drawing/2014/main" id="{921E633A-972F-C4D8-FA11-C89E190D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D92351-3215-2352-9A1B-1F71B37C0C87}"/>
              </a:ext>
            </a:extLst>
          </p:cNvPr>
          <p:cNvSpPr/>
          <p:nvPr/>
        </p:nvSpPr>
        <p:spPr>
          <a:xfrm>
            <a:off x="395288" y="1052513"/>
            <a:ext cx="6697662" cy="321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1.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장비 개요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(Example: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디지털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버니어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캘리퍼스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구분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                내용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관리번호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QMC-CAL-001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장비명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디지털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버니어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캘리퍼스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제조사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미쓰토요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CMR9"/>
                <a:ea typeface="CMR9"/>
              </a:rPr>
              <a:t>Mitutoyo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모델명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/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규격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∼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150 mm /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분해능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0.01 mm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교정 주기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12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개월</a:t>
            </a:r>
            <a:endParaRPr lang="en-US" altLang="ko-KR" kern="0" dirty="0">
              <a:solidFill>
                <a:srgbClr val="000000"/>
              </a:solidFill>
              <a:latin typeface="CMR9"/>
              <a:ea typeface="CMR9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장비 오차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1D9730A-53AE-FCD5-B769-CB1EEB40C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174CD3-7545-44D3-8629-8EBE18126F74}"/>
              </a:ext>
            </a:extLst>
          </p:cNvPr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DA7F5EA-5E2F-01EA-B5B6-777910355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799EDD86-6673-128F-04F3-0BC33EC2C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174" name="Rectangle 8">
            <a:extLst>
              <a:ext uri="{FF2B5EF4-FFF2-40B4-BE49-F238E27FC236}">
                <a16:creationId xmlns:a16="http://schemas.microsoft.com/office/drawing/2014/main" id="{4DA439DF-B260-9570-1163-1E27A1229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49325"/>
            <a:ext cx="4146550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  <a:latin typeface="CMR9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함초롬바탕" pitchFamily="18" charset="-127"/>
              </a:rPr>
              <a:t>교정 수락 기준</a:t>
            </a:r>
            <a:r>
              <a:rPr lang="en-US" altLang="ko-KR" sz="1200">
                <a:solidFill>
                  <a:srgbClr val="000000"/>
                </a:solidFill>
                <a:latin typeface="함초롬바탕" pitchFamily="18" charset="-127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함초롬바탕" pitchFamily="18" charset="-127"/>
              </a:rPr>
              <a:t>공식  및 적합성 평가 </a:t>
            </a:r>
            <a:r>
              <a:rPr lang="en-US" altLang="ko-KR" sz="1200">
                <a:solidFill>
                  <a:srgbClr val="000000"/>
                </a:solidFill>
                <a:latin typeface="CMR9"/>
              </a:rPr>
              <a:t>(Decision Rule)</a:t>
            </a:r>
            <a:endParaRPr lang="en-US" altLang="ko-KR"/>
          </a:p>
        </p:txBody>
      </p:sp>
      <p:pic>
        <p:nvPicPr>
          <p:cNvPr id="7175" name="_x416513520" descr="EMB00002e9c2356">
            <a:extLst>
              <a:ext uri="{FF2B5EF4-FFF2-40B4-BE49-F238E27FC236}">
                <a16:creationId xmlns:a16="http://schemas.microsoft.com/office/drawing/2014/main" id="{BC3F48DA-E7EF-0CDA-CA5D-2AA7D37B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320800"/>
            <a:ext cx="64801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D93082A-1DB1-F2A4-AA4F-F47710147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59D190-AF6E-56B6-0DE1-512F82BBB2D7}"/>
              </a:ext>
            </a:extLst>
          </p:cNvPr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DD1D4E5-5469-24C3-AF2A-E32A9ACB2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667C109F-ADC2-8E72-2339-0544237E6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198" name="Rectangle 8">
            <a:extLst>
              <a:ext uri="{FF2B5EF4-FFF2-40B4-BE49-F238E27FC236}">
                <a16:creationId xmlns:a16="http://schemas.microsoft.com/office/drawing/2014/main" id="{2823A38A-C898-CEF3-39C3-CD3E35051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439261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  <a:latin typeface="CMR9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함초롬바탕" pitchFamily="18" charset="-127"/>
              </a:rPr>
              <a:t>교정 수락 기준</a:t>
            </a:r>
            <a:r>
              <a:rPr lang="en-US" altLang="ko-KR" sz="1200">
                <a:solidFill>
                  <a:srgbClr val="000000"/>
                </a:solidFill>
                <a:latin typeface="함초롬바탕" pitchFamily="18" charset="-127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함초롬바탕" pitchFamily="18" charset="-127"/>
              </a:rPr>
              <a:t>공식  및 적합성 평가 </a:t>
            </a:r>
            <a:r>
              <a:rPr lang="en-US" altLang="ko-KR" sz="1200">
                <a:solidFill>
                  <a:srgbClr val="000000"/>
                </a:solidFill>
                <a:latin typeface="CMR9"/>
              </a:rPr>
              <a:t>(Decision Rule) </a:t>
            </a:r>
            <a:r>
              <a:rPr lang="ko-KR" altLang="en-US" sz="1200">
                <a:solidFill>
                  <a:srgbClr val="000000"/>
                </a:solidFill>
                <a:latin typeface="CMR9"/>
              </a:rPr>
              <a:t>계속</a:t>
            </a:r>
            <a:endParaRPr lang="en-US" altLang="ko-KR" sz="1200">
              <a:solidFill>
                <a:srgbClr val="000000"/>
              </a:solidFill>
              <a:latin typeface="CMR9"/>
            </a:endParaRPr>
          </a:p>
          <a:p>
            <a:endParaRPr lang="en-US" altLang="ko-KR" sz="1200">
              <a:solidFill>
                <a:srgbClr val="000000"/>
              </a:solidFill>
              <a:latin typeface="CMR9"/>
            </a:endParaRPr>
          </a:p>
          <a:p>
            <a:r>
              <a:rPr lang="ko-KR" altLang="en-US" sz="1200">
                <a:solidFill>
                  <a:srgbClr val="000000"/>
                </a:solidFill>
                <a:latin typeface="CMR9"/>
              </a:rPr>
              <a:t>공식</a:t>
            </a:r>
            <a:endParaRPr lang="en-US" altLang="ko-KR"/>
          </a:p>
        </p:txBody>
      </p:sp>
      <p:sp>
        <p:nvSpPr>
          <p:cNvPr id="8199" name="TextBox 6">
            <a:extLst>
              <a:ext uri="{FF2B5EF4-FFF2-40B4-BE49-F238E27FC236}">
                <a16:creationId xmlns:a16="http://schemas.microsoft.com/office/drawing/2014/main" id="{EB5C8EFB-5A03-38BE-E3BE-4E9923089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76700"/>
            <a:ext cx="2665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en-US" altLang="ko-KR"/>
          </a:p>
          <a:p>
            <a:endParaRPr lang="ko-KR" altLang="en-US"/>
          </a:p>
        </p:txBody>
      </p:sp>
      <p:sp>
        <p:nvSpPr>
          <p:cNvPr id="8200" name="Rectangle 11">
            <a:extLst>
              <a:ext uri="{FF2B5EF4-FFF2-40B4-BE49-F238E27FC236}">
                <a16:creationId xmlns:a16="http://schemas.microsoft.com/office/drawing/2014/main" id="{0AEBE870-C7A6-F06D-E768-3B059636D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20838"/>
            <a:ext cx="6430962" cy="447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/>
              <a:t>: </a:t>
            </a:r>
            <a:r>
              <a:rPr lang="ko-KR" altLang="en-US"/>
              <a:t>제조사 공차 </a:t>
            </a:r>
            <a:r>
              <a:rPr lang="en-US" altLang="ko-KR"/>
              <a:t>(MPE) = 0.020 mm</a:t>
            </a:r>
          </a:p>
          <a:p>
            <a:endParaRPr lang="en-US" altLang="ko-KR"/>
          </a:p>
          <a:p>
            <a:r>
              <a:rPr lang="en-US" altLang="ko-KR"/>
              <a:t>1) </a:t>
            </a:r>
            <a:r>
              <a:rPr lang="ko-KR" altLang="en-US"/>
              <a:t>공식 </a:t>
            </a:r>
            <a:r>
              <a:rPr lang="en-US" altLang="ko-KR"/>
              <a:t>(</a:t>
            </a:r>
            <a:r>
              <a:rPr lang="ko-KR" altLang="ko-KR"/>
              <a:t>보호대역 설정 (w)</a:t>
            </a:r>
            <a:r>
              <a:rPr lang="en-US" altLang="ko-KR"/>
              <a:t> )</a:t>
            </a:r>
          </a:p>
          <a:p>
            <a:r>
              <a:rPr lang="en-US" altLang="ko-KR"/>
              <a:t>    * </a:t>
            </a:r>
            <a:r>
              <a:rPr lang="ko-KR" altLang="ko-KR"/>
              <a:t>보호대역 설정 (w)</a:t>
            </a:r>
            <a:r>
              <a:rPr lang="en-US" altLang="ko-KR"/>
              <a:t> : </a:t>
            </a:r>
            <a:r>
              <a:rPr lang="ko-KR" altLang="ko-KR"/>
              <a:t>w = k </a:t>
            </a:r>
            <a:r>
              <a:rPr lang="en-US" altLang="ko-KR"/>
              <a:t>*</a:t>
            </a:r>
            <a:r>
              <a:rPr lang="ko-KR" altLang="ko-KR"/>
              <a:t> U </a:t>
            </a:r>
            <a:r>
              <a:rPr lang="en-US" altLang="ko-KR"/>
              <a:t>-</a:t>
            </a:r>
            <a:r>
              <a:rPr lang="ko-KR" altLang="ko-KR"/>
              <a:t> 1 </a:t>
            </a:r>
            <a:r>
              <a:rPr lang="en-US" altLang="ko-KR"/>
              <a:t>* </a:t>
            </a:r>
            <a:r>
              <a:rPr lang="ko-KR" altLang="ko-KR"/>
              <a:t>0.005</a:t>
            </a:r>
            <a:r>
              <a:rPr lang="en-US" altLang="ko-KR"/>
              <a:t> mm</a:t>
            </a:r>
          </a:p>
          <a:p>
            <a:r>
              <a:rPr lang="ko-KR" altLang="en-US"/>
              <a:t>    </a:t>
            </a:r>
            <a:r>
              <a:rPr lang="en-US" altLang="ko-KR"/>
              <a:t>* </a:t>
            </a:r>
            <a:r>
              <a:rPr lang="ko-KR" altLang="en-US"/>
              <a:t>결과</a:t>
            </a:r>
            <a:r>
              <a:rPr lang="en-US" altLang="ko-KR"/>
              <a:t>:  0</a:t>
            </a:r>
            <a:r>
              <a:rPr lang="ko-KR" altLang="ko-KR"/>
              <a:t>.005</a:t>
            </a:r>
            <a:r>
              <a:rPr lang="en-US" altLang="ko-KR"/>
              <a:t> mm </a:t>
            </a:r>
          </a:p>
          <a:p>
            <a:r>
              <a:rPr lang="ko-KR" altLang="en-US"/>
              <a:t>    </a:t>
            </a:r>
            <a:r>
              <a:rPr lang="en-US" altLang="ko-KR"/>
              <a:t>* </a:t>
            </a:r>
            <a:r>
              <a:rPr lang="ko-KR" altLang="en-US"/>
              <a:t>참고사항</a:t>
            </a:r>
            <a:r>
              <a:rPr lang="en-US" altLang="ko-KR"/>
              <a:t>: </a:t>
            </a:r>
            <a:r>
              <a:rPr lang="ko-KR" altLang="ko-KR"/>
              <a:t>w = U로 설정 (1:1 적용)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2) Acceptance Criteria </a:t>
            </a:r>
            <a:r>
              <a:rPr lang="ko-KR" altLang="en-US"/>
              <a:t>공식</a:t>
            </a:r>
            <a:r>
              <a:rPr lang="en-US" altLang="ko-KR"/>
              <a:t>( </a:t>
            </a:r>
            <a:r>
              <a:rPr lang="ko-KR" altLang="en-US"/>
              <a:t>최종수락한계</a:t>
            </a:r>
            <a:r>
              <a:rPr lang="en-US" altLang="ko-KR"/>
              <a:t>, Acceptance Limit)</a:t>
            </a:r>
          </a:p>
          <a:p>
            <a:r>
              <a:rPr lang="en-US" altLang="ko-KR"/>
              <a:t>    * </a:t>
            </a:r>
            <a:r>
              <a:rPr lang="ko-KR" altLang="en-US"/>
              <a:t>공식</a:t>
            </a:r>
            <a:r>
              <a:rPr lang="en-US" altLang="ko-KR"/>
              <a:t>: MPE – w (</a:t>
            </a:r>
            <a:r>
              <a:rPr lang="ko-KR" altLang="ko-KR"/>
              <a:t>보호대역 설정 </a:t>
            </a:r>
            <a:r>
              <a:rPr lang="ko-KR" altLang="en-US"/>
              <a:t>값</a:t>
            </a:r>
            <a:r>
              <a:rPr lang="en-US" altLang="ko-KR"/>
              <a:t>)</a:t>
            </a:r>
          </a:p>
          <a:p>
            <a:r>
              <a:rPr lang="en-US" altLang="ko-KR"/>
              <a:t>    * </a:t>
            </a:r>
            <a:r>
              <a:rPr lang="ko-KR" altLang="en-US"/>
              <a:t>결과</a:t>
            </a:r>
            <a:r>
              <a:rPr lang="en-US" altLang="ko-KR"/>
              <a:t>: +/- 0.015</a:t>
            </a:r>
          </a:p>
          <a:p>
            <a:endParaRPr lang="en-US" altLang="ko-KR"/>
          </a:p>
          <a:p>
            <a:r>
              <a:rPr lang="en-US" altLang="ko-KR"/>
              <a:t>3) </a:t>
            </a:r>
            <a:r>
              <a:rPr lang="ko-KR" altLang="en-US"/>
              <a:t>합부 계산</a:t>
            </a:r>
            <a:endParaRPr lang="en-US" altLang="ko-KR"/>
          </a:p>
          <a:p>
            <a:r>
              <a:rPr lang="en-US" altLang="ko-KR"/>
              <a:t>    * </a:t>
            </a:r>
            <a:r>
              <a:rPr lang="ko-KR" altLang="en-US"/>
              <a:t>교정 측정 오차 </a:t>
            </a:r>
            <a:r>
              <a:rPr lang="en-US" altLang="ko-KR"/>
              <a:t>– </a:t>
            </a:r>
            <a:r>
              <a:rPr lang="ko-KR" altLang="en-US"/>
              <a:t>최종 수락 한계 </a:t>
            </a:r>
            <a:r>
              <a:rPr lang="en-US" altLang="ko-KR"/>
              <a:t>(Acceptance Criteria )</a:t>
            </a:r>
          </a:p>
          <a:p>
            <a:r>
              <a:rPr lang="en-US" altLang="ko-KR"/>
              <a:t>    * </a:t>
            </a:r>
            <a:r>
              <a:rPr lang="ko-KR" altLang="en-US"/>
              <a:t>예</a:t>
            </a:r>
            <a:r>
              <a:rPr lang="en-US" altLang="ko-KR"/>
              <a:t>: 0.016 – 0.015 = 0.001, </a:t>
            </a:r>
            <a:r>
              <a:rPr lang="ko-KR" altLang="en-US"/>
              <a:t>벗어남 </a:t>
            </a:r>
            <a:r>
              <a:rPr lang="en-US" altLang="ko-KR"/>
              <a:t>(Out) </a:t>
            </a:r>
          </a:p>
          <a:p>
            <a:r>
              <a:rPr lang="en-US" altLang="ko-KR"/>
              <a:t>    * LAL= -0.015</a:t>
            </a:r>
          </a:p>
          <a:p>
            <a:r>
              <a:rPr lang="en-US" altLang="ko-KR"/>
              <a:t>    * UAL= 0.015</a:t>
            </a:r>
            <a:endParaRPr lang="ko-KR" altLang="ko-KR"/>
          </a:p>
        </p:txBody>
      </p:sp>
    </p:spTree>
  </p:cSld>
  <p:clrMapOvr>
    <a:masterClrMapping/>
  </p:clrMapOvr>
  <p:transition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29A789E-3705-4B0E-9A07-BF4FF086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E17EDC-A957-A905-C67A-83AF29E32D93}"/>
              </a:ext>
            </a:extLst>
          </p:cNvPr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1D0CA48-4998-55E8-3C73-F8222F109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9221" name="Rectangle 6">
            <a:extLst>
              <a:ext uri="{FF2B5EF4-FFF2-40B4-BE49-F238E27FC236}">
                <a16:creationId xmlns:a16="http://schemas.microsoft.com/office/drawing/2014/main" id="{E278C0EE-1429-FF93-B73A-7BC8BE3B0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9222" name="TextBox 4">
            <a:extLst>
              <a:ext uri="{FF2B5EF4-FFF2-40B4-BE49-F238E27FC236}">
                <a16:creationId xmlns:a16="http://schemas.microsoft.com/office/drawing/2014/main" id="{C6F13478-0AA2-1DEA-00C9-66D773614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3. </a:t>
            </a:r>
            <a:r>
              <a:rPr lang="ko-KR" altLang="en-US"/>
              <a:t>교정 결과 기록 및 적합성 판정 </a:t>
            </a:r>
            <a:r>
              <a:rPr lang="en-US" altLang="ko-KR"/>
              <a:t>(</a:t>
            </a:r>
            <a:r>
              <a:rPr lang="ko-KR" altLang="en-US"/>
              <a:t>예시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9223" name="Rectangle 8">
            <a:extLst>
              <a:ext uri="{FF2B5EF4-FFF2-40B4-BE49-F238E27FC236}">
                <a16:creationId xmlns:a16="http://schemas.microsoft.com/office/drawing/2014/main" id="{3D5AF247-AE26-6A95-1BEA-7531831A4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27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pic>
        <p:nvPicPr>
          <p:cNvPr id="9224" name="_x416515680" descr="EMB00002e9c235b">
            <a:extLst>
              <a:ext uri="{FF2B5EF4-FFF2-40B4-BE49-F238E27FC236}">
                <a16:creationId xmlns:a16="http://schemas.microsoft.com/office/drawing/2014/main" id="{19327458-D9E1-BDC3-8F53-A452B2153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39925"/>
            <a:ext cx="6840538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6A6CC8-C1D1-A188-6257-C6133E7C2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3868E3-DE1A-612C-089E-4A79BA42BFAB}"/>
              </a:ext>
            </a:extLst>
          </p:cNvPr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F973716-338C-A9F8-3287-CD76E9E3B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0245" name="Rectangle 6">
            <a:extLst>
              <a:ext uri="{FF2B5EF4-FFF2-40B4-BE49-F238E27FC236}">
                <a16:creationId xmlns:a16="http://schemas.microsoft.com/office/drawing/2014/main" id="{77E653D6-D3F5-5726-68A4-72ECC853E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D29698-BDE2-B98B-3BDE-2BB1F885C7BB}"/>
              </a:ext>
            </a:extLst>
          </p:cNvPr>
          <p:cNvSpPr/>
          <p:nvPr/>
        </p:nvSpPr>
        <p:spPr>
          <a:xfrm>
            <a:off x="539750" y="862013"/>
            <a:ext cx="7632700" cy="38131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💡 적합성 판정 해석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부적합 사례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(100 mm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측정점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100 mm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측정점의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경우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다음과 같이 해석됩니다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단순 비교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불확도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무시 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측정 오차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$+0.016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는 제조사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MPE 0.020 mm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내에 있으므로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단순 비교 시에는 합격으로 오판될 수 있습니다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2)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보호대역 적용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(AS9100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요구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조직이 설정한 최종 수락 한계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(AL)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는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0.015 mm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입니다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3)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판정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측정 오차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$+0.016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가 수락 한계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$+0.015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를 초과했으므로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**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부적합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(FAIL)**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으로 판정됩니다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</p:cSld>
  <p:clrMapOvr>
    <a:masterClrMapping/>
  </p:clrMapOvr>
  <p:transition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DF4C42-3174-3B45-F0BA-82BBF216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C01FD5-654E-02DB-9611-FFD0705DD1A0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9F5506B-240F-2A04-8168-0E6AA3D7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1269" name="Rectangle 6">
            <a:extLst>
              <a:ext uri="{FF2B5EF4-FFF2-40B4-BE49-F238E27FC236}">
                <a16:creationId xmlns:a16="http://schemas.microsoft.com/office/drawing/2014/main" id="{70B0BACD-8F60-E653-9043-987AD17D4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92D4725A-3081-9AAC-9CBE-09FB34DBF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2446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/>
              <a:t>이처럼 보호대역을 적용하면 측정 </a:t>
            </a:r>
            <a:r>
              <a:rPr lang="ko-KR" altLang="en-US" dirty="0" err="1"/>
              <a:t>불확도로</a:t>
            </a:r>
            <a:r>
              <a:rPr lang="ko-KR" altLang="en-US" dirty="0"/>
              <a:t> 인해 참값이 규격 한계를 벗어날 위험이 있는 장비는 미리 불합격 처리하여</a:t>
            </a:r>
            <a:r>
              <a:rPr lang="en-US" altLang="ko-KR" dirty="0"/>
              <a:t>, </a:t>
            </a:r>
            <a:r>
              <a:rPr lang="ko-KR" altLang="en-US" dirty="0"/>
              <a:t>소비자</a:t>
            </a:r>
            <a:r>
              <a:rPr lang="en-US" altLang="ko-KR" dirty="0"/>
              <a:t>(</a:t>
            </a:r>
            <a:r>
              <a:rPr lang="ko-KR" altLang="en-US" dirty="0"/>
              <a:t>고객</a:t>
            </a:r>
            <a:r>
              <a:rPr lang="en-US" altLang="ko-KR" dirty="0"/>
              <a:t>)</a:t>
            </a:r>
            <a:r>
              <a:rPr lang="ko-KR" altLang="en-US" dirty="0"/>
              <a:t>에게 불량품이 나갈 위험을 선제적으로 차단할 수 있습니다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ko-KR" altLang="en-US" dirty="0"/>
          </a:p>
          <a:p>
            <a:pPr>
              <a:defRPr/>
            </a:pPr>
            <a:r>
              <a:rPr lang="en-US" altLang="ko-KR" dirty="0"/>
              <a:t>AS9100 7.1.5.2</a:t>
            </a:r>
            <a:r>
              <a:rPr lang="ko-KR" altLang="en-US" dirty="0"/>
              <a:t>에 따라</a:t>
            </a:r>
            <a:r>
              <a:rPr lang="en-US" altLang="ko-KR" dirty="0"/>
              <a:t>, </a:t>
            </a:r>
            <a:r>
              <a:rPr lang="ko-KR" altLang="en-US" dirty="0"/>
              <a:t>부적합으로 판정된 장비</a:t>
            </a:r>
            <a:r>
              <a:rPr lang="en-US" altLang="ko-KR" dirty="0"/>
              <a:t>(100 mm </a:t>
            </a:r>
            <a:r>
              <a:rPr lang="ko-KR" altLang="en-US" dirty="0" err="1"/>
              <a:t>측정점</a:t>
            </a:r>
            <a:r>
              <a:rPr lang="en-US" altLang="ko-KR" dirty="0"/>
              <a:t>)</a:t>
            </a:r>
            <a:r>
              <a:rPr lang="ko-KR" altLang="en-US" dirty="0"/>
              <a:t>는 즉시 사용을 중지하고</a:t>
            </a:r>
            <a:r>
              <a:rPr lang="en-US" altLang="ko-KR" dirty="0"/>
              <a:t>, </a:t>
            </a:r>
            <a:r>
              <a:rPr lang="ko-KR" altLang="en-US" dirty="0"/>
              <a:t>이 장비가 사용된 기간 동안의 제품에 대해 부적합 발생 가능성을 평가해야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spcBef>
                <a:spcPct val="50000"/>
              </a:spcBef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52DCC41-10A1-3A01-6306-4EE518F85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B022AC-319C-2EAF-3742-45F9ED2BCA6E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2C7FB0B-0313-04A6-6781-1C16989A3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952637CB-8B18-BBBB-8585-25C774D38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2294" name="그림 2">
            <a:extLst>
              <a:ext uri="{FF2B5EF4-FFF2-40B4-BE49-F238E27FC236}">
                <a16:creationId xmlns:a16="http://schemas.microsoft.com/office/drawing/2014/main" id="{3D31BA9D-478D-89DC-FE8A-15CBAC067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4675"/>
            <a:ext cx="9144000" cy="570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2F9257-77DA-44E7-D4E2-362EA29AF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062543-18A9-CC8A-5590-33168CAF360C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A767977-98E9-98B1-C2A0-A31C558CC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3317" name="Rectangle 6">
            <a:extLst>
              <a:ext uri="{FF2B5EF4-FFF2-40B4-BE49-F238E27FC236}">
                <a16:creationId xmlns:a16="http://schemas.microsoft.com/office/drawing/2014/main" id="{80499360-CEE1-0A46-5DC4-78228E3D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3318" name="그림 2">
            <a:extLst>
              <a:ext uri="{FF2B5EF4-FFF2-40B4-BE49-F238E27FC236}">
                <a16:creationId xmlns:a16="http://schemas.microsoft.com/office/drawing/2014/main" id="{A025CA57-8441-6C20-CC14-F9CFCF5C9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0"/>
            <a:ext cx="61658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8919B82-6DF0-C038-2698-6BEB21AFF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2D19A6-8CB1-64FD-B568-DDF0BDE37E0B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E6E9685-E387-46C9-180A-A34D8CFCE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D8AA9EAF-4E9F-6D9D-923B-5AD4AA51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4342" name="그림 2">
            <a:extLst>
              <a:ext uri="{FF2B5EF4-FFF2-40B4-BE49-F238E27FC236}">
                <a16:creationId xmlns:a16="http://schemas.microsoft.com/office/drawing/2014/main" id="{2BFAB013-0B88-92E5-A48E-48D0D11F2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8575"/>
            <a:ext cx="7000875" cy="680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4F54F44-84C8-309B-100D-4AE2B235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365E05-D2A0-08B6-4E5F-3A8E43E3040B}"/>
              </a:ext>
            </a:extLst>
          </p:cNvPr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E8B020C-FF25-3624-A564-F9DE995B2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33131EA5-D9D3-3A3B-FFEC-C4DD529A0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919B312-9EC0-0C65-7594-23FB4D16E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6C0212-6B5E-D294-9432-1D057A547E1E}"/>
              </a:ext>
            </a:extLst>
          </p:cNvPr>
          <p:cNvSpPr/>
          <p:nvPr/>
        </p:nvSpPr>
        <p:spPr>
          <a:xfrm>
            <a:off x="0" y="17463"/>
            <a:ext cx="958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4342" name="TextBox 4">
            <a:extLst>
              <a:ext uri="{FF2B5EF4-FFF2-40B4-BE49-F238E27FC236}">
                <a16:creationId xmlns:a16="http://schemas.microsoft.com/office/drawing/2014/main" id="{C8809059-4769-7024-29A0-7D9F92469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0BB1322-2A77-607F-71D4-65C6A0757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질 문 </a:t>
            </a:r>
            <a:r>
              <a:rPr lang="en-US" altLang="ko-KR" sz="4000" dirty="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1367224E-7DC0-53FF-DEE9-35775744F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7277A2FC-0867-4396-EBBF-DB3777D5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9F2A126-529F-CB2F-8122-C74D788CB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00C3341-AA5A-3B5C-C50C-95103CBA3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3188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7412" name="Rectangle 6">
            <a:extLst>
              <a:ext uri="{FF2B5EF4-FFF2-40B4-BE49-F238E27FC236}">
                <a16:creationId xmlns:a16="http://schemas.microsoft.com/office/drawing/2014/main" id="{C91D991E-1796-96A0-A246-67D4F0C2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050" y="6488113"/>
            <a:ext cx="15049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E08DFF-E18C-4B90-9577-2DFF4ECBDCCD}"/>
              </a:ext>
            </a:extLst>
          </p:cNvPr>
          <p:cNvSpPr/>
          <p:nvPr/>
        </p:nvSpPr>
        <p:spPr>
          <a:xfrm>
            <a:off x="0" y="17463"/>
            <a:ext cx="728663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끝</a:t>
            </a:r>
          </a:p>
        </p:txBody>
      </p:sp>
      <p:sp>
        <p:nvSpPr>
          <p:cNvPr id="14342" name="TextBox 4">
            <a:extLst>
              <a:ext uri="{FF2B5EF4-FFF2-40B4-BE49-F238E27FC236}">
                <a16:creationId xmlns:a16="http://schemas.microsoft.com/office/drawing/2014/main" id="{D3A3540F-CD79-7550-4118-99FD70758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1C2B593-6925-E30F-0355-ACF1D13FB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감사합니다</a:t>
            </a:r>
            <a:r>
              <a:rPr lang="en-US" altLang="ko-KR" sz="40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Blank Presentation">
      <a:majorFont>
        <a:latin typeface="Nokia Sans SemiBold"/>
        <a:ea typeface=""/>
        <a:cs typeface=""/>
      </a:majorFont>
      <a:minorFont>
        <a:latin typeface="Rotis Sans Serif for Nok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24709</TotalTime>
  <Words>507</Words>
  <Application>Microsoft Office PowerPoint</Application>
  <PresentationFormat>화면 슬라이드 쇼(4:3)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Microsoft Sans Serif</vt:lpstr>
      <vt:lpstr>굴림</vt:lpstr>
      <vt:lpstr>Arial</vt:lpstr>
      <vt:lpstr>Nokia Sans SemiBold</vt:lpstr>
      <vt:lpstr>Rotis Sans Serif for Nokia</vt:lpstr>
      <vt:lpstr>Times New Roman</vt:lpstr>
      <vt:lpstr>맑은 고딕</vt:lpstr>
      <vt:lpstr>CMR9</vt:lpstr>
      <vt:lpstr>함초롬바탕</vt:lpstr>
      <vt:lpstr>Blank Presentation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GA4</dc:creator>
  <cp:lastModifiedBy>임재홍</cp:lastModifiedBy>
  <cp:revision>487</cp:revision>
  <dcterms:created xsi:type="dcterms:W3CDTF">2010-07-07T06:05:20Z</dcterms:created>
  <dcterms:modified xsi:type="dcterms:W3CDTF">2026-04-18T06:56:18Z</dcterms:modified>
</cp:coreProperties>
</file>