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2DCE7-B7C8-41AB-9BE2-700EA9E9A7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3FE73-F14E-4ED5-9F84-1F5671CDB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D77302-C18C-4B9F-BE40-1F5A4852E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9A58DE-3EBE-41FF-978E-E88808E08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C2632D-870A-44C5-A39D-A7B636CF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042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C00EF2-21BC-4986-9E0E-23DB24D24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6846B8-1461-4930-9CAE-4725A6171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BE64B1-64C9-4EE9-B7E5-430F2EAE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6A0B06-5235-45FD-AF2D-702AB318E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EDA46-5B32-4466-B748-81637A6D6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187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72D34-4F12-48DB-8520-BEBADDBD7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53A760-4BB4-40CE-82DD-043D31CAC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557EA7-AEED-41D1-9038-36C30A506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2BD1D6-3E4D-4EE9-9D89-7A473C446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9FBCE9-7ACC-43CF-9F5A-1EC7FE03C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214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13BF2A-74F3-4240-ACB1-17B75C67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C26988-83D6-4210-83C1-2989C7A630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5C8750-B406-4BE4-AED5-D2921086F0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55B43-8617-4A10-9D91-A7775B23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EEF283-EE8D-4A3A-BD0F-2106811FC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69B0D-769C-4D9D-A153-09165424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301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C51C4-C748-4F48-A40D-07B3E056D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88F823-9F93-4179-A667-F1EE91E3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245D756-2257-4B68-A71C-F460ECE5FB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80E83D8-20D9-4B62-8C78-1838B40C1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708F52C-439F-4EAA-B3E7-0B47B4E8A3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0B9C875-3639-4C79-BDD4-15E9CEEA5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CCFC79-764B-40EF-A43E-D4E327482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3634756-A2A6-45D2-B66E-98E767918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5327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B578D9-C90A-4EDE-8599-15DFA34D8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50E9E9-F224-4B0C-9061-981F925DC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A083DD-4B45-4139-9AC5-F6AA87969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365950-4508-483D-A045-F913654B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8095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785016-B543-4D62-8D62-462B6FC5A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A1C40F8-A530-4D98-93B7-482BEE3B6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4C369F-6206-4455-8B5B-AAD2812F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342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C4F888-5D3B-443A-A1D5-D68721B4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33B04-6856-4BB3-84FF-5D1C66FF2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B773B7-728F-4EB4-A73E-5424B74FA2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246298-8FF3-4E3B-B9FC-90C1DFFBA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F8C811-2BDD-4BB0-8918-67DEBE000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55AD79-049E-4D32-8AA8-7B793B040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184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B0182B-A886-4C8A-929E-B3CD5FC7B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2523C62-640E-428E-A8CB-9152AD3A5B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05841F-ED1C-48FA-937C-F1DC24EE2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A1DA72-032F-4794-B54B-EB2E1C7AA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604137-043B-4EB6-AD93-474D08097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FD946E4-6D76-44AE-902B-C07CD9EE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48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F427CF-9E8C-4771-910D-A36355E9E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1B22FF-26DC-40E6-B3C4-5DF299FF9F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B904E1-B5DA-4436-9413-073B800A4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8D26A-7D67-46A0-9FD0-2D02AA5D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6F0ED9-A986-499E-8203-3ECAC6760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96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758C9F5-B661-48B6-93AD-8EBA9914F0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701DE0-82FA-4372-AFE0-4A6730DFD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99C9C-F4DC-4C3B-BDFC-321B05669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B57739-CEE0-42F5-9EFA-D14B26973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5280A-54AC-4967-AB26-7004692B2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1696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2167A5-4509-41FB-AD87-4496F09E0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C0540-86EF-4B2D-86EB-3B73D61E7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4734A-DEF5-4797-9B3D-2BB6EDAE31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2F12EB-81C6-48CF-A30B-CC6EBD9FABE8}" type="datetimeFigureOut">
              <a:rPr lang="ko-KR" altLang="en-US" smtClean="0"/>
              <a:t>2026-04-16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078F3F-0C28-45A7-8C46-109D0BF59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88588-2FE1-4690-AE10-FF6F10B45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5620B-48D2-4E45-B4DF-DD454F673A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7153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2D8763-3D0D-405E-AC52-0198E621AD32}"/>
              </a:ext>
            </a:extLst>
          </p:cNvPr>
          <p:cNvSpPr txBox="1"/>
          <p:nvPr/>
        </p:nvSpPr>
        <p:spPr>
          <a:xfrm>
            <a:off x="667471" y="1172160"/>
            <a:ext cx="9580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MQH – </a:t>
            </a:r>
            <a:r>
              <a:rPr lang="en-US" altLang="ko-KR" sz="4000" u="sng" dirty="0"/>
              <a:t>410/ 851.1</a:t>
            </a:r>
            <a:r>
              <a:rPr lang="en-US" altLang="ko-KR" sz="4000" dirty="0"/>
              <a:t>/ 851</a:t>
            </a:r>
            <a:r>
              <a:rPr lang="en-US" altLang="ko-KR" sz="4000" u="sng" dirty="0"/>
              <a:t>-1</a:t>
            </a:r>
            <a:r>
              <a:rPr lang="en-US" altLang="ko-KR" sz="4000" dirty="0"/>
              <a:t> QP/QI  </a:t>
            </a:r>
            <a:endParaRPr lang="ko-KR" altLang="en-US" sz="4000" dirty="0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4706F49-7C9A-4F7A-8954-AFFA03AD1A31}"/>
              </a:ext>
            </a:extLst>
          </p:cNvPr>
          <p:cNvCxnSpPr>
            <a:cxnSpLocks/>
          </p:cNvCxnSpPr>
          <p:nvPr/>
        </p:nvCxnSpPr>
        <p:spPr>
          <a:xfrm>
            <a:off x="6285723" y="1783699"/>
            <a:ext cx="0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FC1B9B9-2FEF-4C33-A2DC-C55647751E8E}"/>
              </a:ext>
            </a:extLst>
          </p:cNvPr>
          <p:cNvCxnSpPr>
            <a:cxnSpLocks/>
          </p:cNvCxnSpPr>
          <p:nvPr/>
        </p:nvCxnSpPr>
        <p:spPr>
          <a:xfrm>
            <a:off x="6718827" y="2554975"/>
            <a:ext cx="690994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9AB739-ED05-4593-82B6-6CCA7907963A}"/>
              </a:ext>
            </a:extLst>
          </p:cNvPr>
          <p:cNvSpPr txBox="1"/>
          <p:nvPr/>
        </p:nvSpPr>
        <p:spPr>
          <a:xfrm>
            <a:off x="752168" y="1795001"/>
            <a:ext cx="89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0C57B-4385-400C-A314-8D566585B14F}"/>
              </a:ext>
            </a:extLst>
          </p:cNvPr>
          <p:cNvSpPr txBox="1"/>
          <p:nvPr/>
        </p:nvSpPr>
        <p:spPr>
          <a:xfrm>
            <a:off x="2888835" y="1836382"/>
            <a:ext cx="1245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표준항목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508D05-FC73-44E0-AACD-370B990C2A82}"/>
              </a:ext>
            </a:extLst>
          </p:cNvPr>
          <p:cNvSpPr txBox="1"/>
          <p:nvPr/>
        </p:nvSpPr>
        <p:spPr>
          <a:xfrm>
            <a:off x="4782179" y="303005"/>
            <a:ext cx="26276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/>
              <a:t>문서번호 체계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7471" y="3145971"/>
            <a:ext cx="5025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/>
              <a:t>MQH </a:t>
            </a:r>
            <a:r>
              <a:rPr lang="en-US" altLang="ko-KR" sz="3200" dirty="0"/>
              <a:t>: </a:t>
            </a:r>
            <a:r>
              <a:rPr lang="ko-KR" altLang="en-US" sz="3200" dirty="0"/>
              <a:t>회사 코드명</a:t>
            </a:r>
            <a:r>
              <a:rPr lang="en-US" altLang="ko-KR" sz="3200" dirty="0"/>
              <a:t> </a:t>
            </a:r>
            <a:endParaRPr lang="ko-KR" altLang="en-US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725160" y="3759047"/>
            <a:ext cx="1079581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410: </a:t>
            </a:r>
            <a:r>
              <a:rPr lang="ko-KR" altLang="en-US" sz="3200" dirty="0"/>
              <a:t>표준 항목 </a:t>
            </a:r>
            <a:r>
              <a:rPr lang="en-US" altLang="ko-KR" sz="3200" dirty="0"/>
              <a:t>4.1</a:t>
            </a:r>
            <a:r>
              <a:rPr lang="ko-KR" altLang="en-US" sz="3200" dirty="0"/>
              <a:t>에 </a:t>
            </a:r>
            <a:r>
              <a:rPr lang="en-US" altLang="ko-KR" sz="3200" dirty="0"/>
              <a:t>0</a:t>
            </a:r>
            <a:r>
              <a:rPr lang="ko-KR" altLang="en-US" sz="3200" dirty="0"/>
              <a:t>을 추가하여 </a:t>
            </a:r>
            <a:r>
              <a:rPr lang="en-US" altLang="ko-KR" sz="3200" dirty="0"/>
              <a:t>3</a:t>
            </a:r>
            <a:r>
              <a:rPr lang="ko-KR" altLang="en-US" sz="3200" dirty="0"/>
              <a:t>자리 통일함</a:t>
            </a:r>
            <a:r>
              <a:rPr lang="en-US" altLang="ko-KR" sz="3200" dirty="0"/>
              <a:t> </a:t>
            </a:r>
          </a:p>
          <a:p>
            <a:r>
              <a:rPr lang="en-US" altLang="ko-KR" sz="3200" dirty="0"/>
              <a:t>851 : </a:t>
            </a:r>
            <a:r>
              <a:rPr lang="ko-KR" altLang="en-US" sz="3200" dirty="0"/>
              <a:t>표준 항목명 </a:t>
            </a:r>
            <a:r>
              <a:rPr lang="en-US" altLang="ko-KR" sz="3200" dirty="0"/>
              <a:t>(8.5.1)</a:t>
            </a:r>
          </a:p>
          <a:p>
            <a:r>
              <a:rPr lang="en-US" altLang="ko-KR" sz="3200" dirty="0"/>
              <a:t>851.1: </a:t>
            </a:r>
            <a:r>
              <a:rPr lang="ko-KR" altLang="en-US" sz="3200" dirty="0"/>
              <a:t>표준 항목명 </a:t>
            </a:r>
            <a:r>
              <a:rPr lang="en-US" altLang="ko-KR" sz="3200" dirty="0"/>
              <a:t>(8.5.1.1)</a:t>
            </a:r>
          </a:p>
          <a:p>
            <a:r>
              <a:rPr lang="en-US" altLang="ko-KR" sz="3200" dirty="0"/>
              <a:t>851-1: </a:t>
            </a:r>
            <a:r>
              <a:rPr lang="ko-KR" altLang="en-US" sz="3200" dirty="0"/>
              <a:t>항목 </a:t>
            </a:r>
            <a:r>
              <a:rPr lang="en-US" altLang="ko-KR" sz="3200" dirty="0"/>
              <a:t>851 </a:t>
            </a:r>
            <a:r>
              <a:rPr lang="ko-KR" altLang="en-US" sz="3200" dirty="0"/>
              <a:t>내에 있는 일부를 절차 혹은 지침서화</a:t>
            </a:r>
            <a:endParaRPr lang="en-US" altLang="ko-KR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752168" y="5986413"/>
            <a:ext cx="9881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QP : </a:t>
            </a:r>
            <a:r>
              <a:rPr lang="ko-KR" altLang="en-US" sz="3200" dirty="0"/>
              <a:t>절차서</a:t>
            </a:r>
            <a:r>
              <a:rPr lang="en-US" altLang="ko-KR" sz="3200" dirty="0"/>
              <a:t>/ QI : </a:t>
            </a:r>
            <a:r>
              <a:rPr lang="ko-KR" altLang="en-US" sz="3200" dirty="0"/>
              <a:t>지침서</a:t>
            </a:r>
            <a:endParaRPr lang="en-US" altLang="ko-KR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667470" y="2464085"/>
            <a:ext cx="6622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표준 번호 체계 예</a:t>
            </a:r>
            <a:r>
              <a:rPr lang="en-US" altLang="ko-KR" sz="3200" dirty="0"/>
              <a:t>: 4.1 ~ 8.5.1.1 </a:t>
            </a:r>
            <a:endParaRPr lang="ko-KR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0C57B-4385-400C-A314-8D566585B14F}"/>
              </a:ext>
            </a:extLst>
          </p:cNvPr>
          <p:cNvSpPr txBox="1"/>
          <p:nvPr/>
        </p:nvSpPr>
        <p:spPr>
          <a:xfrm>
            <a:off x="6191508" y="1863842"/>
            <a:ext cx="186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일련번호 </a:t>
            </a:r>
          </a:p>
        </p:txBody>
      </p:sp>
    </p:spTree>
    <p:extLst>
      <p:ext uri="{BB962C8B-B14F-4D97-AF65-F5344CB8AC3E}">
        <p14:creationId xmlns:p14="http://schemas.microsoft.com/office/powerpoint/2010/main" val="1945868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2D8763-3D0D-405E-AC52-0198E621AD32}"/>
              </a:ext>
            </a:extLst>
          </p:cNvPr>
          <p:cNvSpPr txBox="1"/>
          <p:nvPr/>
        </p:nvSpPr>
        <p:spPr>
          <a:xfrm>
            <a:off x="667471" y="1172160"/>
            <a:ext cx="958046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MQH – 410/ 851.1/ </a:t>
            </a:r>
            <a:r>
              <a:rPr lang="en-US" altLang="ko-KR" sz="4000" u="sng" dirty="0"/>
              <a:t>851-1</a:t>
            </a:r>
            <a:r>
              <a:rPr lang="en-US" altLang="ko-KR" sz="4000" dirty="0"/>
              <a:t> QPF/QIF-1  </a:t>
            </a:r>
            <a:endParaRPr lang="ko-KR" altLang="en-US" sz="4000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AEAA4AC-5627-4A99-9CA1-D9741AFC38E4}"/>
              </a:ext>
            </a:extLst>
          </p:cNvPr>
          <p:cNvCxnSpPr>
            <a:cxnSpLocks/>
          </p:cNvCxnSpPr>
          <p:nvPr/>
        </p:nvCxnSpPr>
        <p:spPr>
          <a:xfrm>
            <a:off x="2703443" y="1783699"/>
            <a:ext cx="2390154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44706F49-7C9A-4F7A-8954-AFFA03AD1A31}"/>
              </a:ext>
            </a:extLst>
          </p:cNvPr>
          <p:cNvCxnSpPr>
            <a:cxnSpLocks/>
          </p:cNvCxnSpPr>
          <p:nvPr/>
        </p:nvCxnSpPr>
        <p:spPr>
          <a:xfrm>
            <a:off x="5255772" y="1783699"/>
            <a:ext cx="1029951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FC1B9B9-2FEF-4C33-A2DC-C55647751E8E}"/>
              </a:ext>
            </a:extLst>
          </p:cNvPr>
          <p:cNvCxnSpPr>
            <a:cxnSpLocks/>
          </p:cNvCxnSpPr>
          <p:nvPr/>
        </p:nvCxnSpPr>
        <p:spPr>
          <a:xfrm>
            <a:off x="6357925" y="1783699"/>
            <a:ext cx="690994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E9AB739-ED05-4593-82B6-6CCA7907963A}"/>
              </a:ext>
            </a:extLst>
          </p:cNvPr>
          <p:cNvSpPr txBox="1"/>
          <p:nvPr/>
        </p:nvSpPr>
        <p:spPr>
          <a:xfrm>
            <a:off x="752168" y="1795001"/>
            <a:ext cx="899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회사명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F0C57B-4385-400C-A314-8D566585B14F}"/>
              </a:ext>
            </a:extLst>
          </p:cNvPr>
          <p:cNvSpPr txBox="1"/>
          <p:nvPr/>
        </p:nvSpPr>
        <p:spPr>
          <a:xfrm>
            <a:off x="2872933" y="1830554"/>
            <a:ext cx="1245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표준항목 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508D05-FC73-44E0-AACD-370B990C2A82}"/>
              </a:ext>
            </a:extLst>
          </p:cNvPr>
          <p:cNvSpPr txBox="1"/>
          <p:nvPr/>
        </p:nvSpPr>
        <p:spPr>
          <a:xfrm>
            <a:off x="4782179" y="303005"/>
            <a:ext cx="262764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dirty="0"/>
              <a:t>양식번호 체계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7471" y="3145971"/>
            <a:ext cx="50254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MQH : </a:t>
            </a:r>
            <a:r>
              <a:rPr lang="ko-KR" altLang="en-US" sz="3200" dirty="0"/>
              <a:t>회사 코드명</a:t>
            </a:r>
            <a:r>
              <a:rPr lang="en-US" altLang="ko-KR" sz="3200" dirty="0"/>
              <a:t> </a:t>
            </a:r>
            <a:endParaRPr lang="ko-KR" altLang="en-US" sz="3200" dirty="0"/>
          </a:p>
        </p:txBody>
      </p:sp>
      <p:sp>
        <p:nvSpPr>
          <p:cNvPr id="17" name="TextBox 16"/>
          <p:cNvSpPr txBox="1"/>
          <p:nvPr/>
        </p:nvSpPr>
        <p:spPr>
          <a:xfrm>
            <a:off x="725160" y="3759047"/>
            <a:ext cx="107958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QPF-1: F</a:t>
            </a:r>
            <a:r>
              <a:rPr lang="ko-KR" altLang="en-US" sz="3200" dirty="0"/>
              <a:t>를 붙이고</a:t>
            </a:r>
            <a:r>
              <a:rPr lang="en-US" altLang="ko-KR" sz="3200" dirty="0"/>
              <a:t>, </a:t>
            </a:r>
            <a:r>
              <a:rPr lang="ko-KR" altLang="en-US" sz="3200" dirty="0"/>
              <a:t>양식 순서대로 </a:t>
            </a:r>
            <a:r>
              <a:rPr lang="en-US" altLang="ko-KR" sz="3200" dirty="0"/>
              <a:t>-1/-2</a:t>
            </a:r>
            <a:r>
              <a:rPr lang="ko-KR" altLang="en-US" sz="3200" dirty="0"/>
              <a:t>를 부여한다</a:t>
            </a:r>
            <a:r>
              <a:rPr lang="en-US" altLang="ko-KR" sz="3200" dirty="0"/>
              <a:t>.</a:t>
            </a:r>
            <a:r>
              <a:rPr lang="ko-KR" altLang="en-US" sz="3200" dirty="0"/>
              <a:t> </a:t>
            </a:r>
            <a:r>
              <a:rPr lang="en-US" altLang="ko-KR" sz="3200" dirty="0"/>
              <a:t> </a:t>
            </a:r>
          </a:p>
          <a:p>
            <a:r>
              <a:rPr lang="en-US" altLang="ko-KR" sz="3200" dirty="0"/>
              <a:t>QIF-1: F</a:t>
            </a:r>
            <a:r>
              <a:rPr lang="ko-KR" altLang="en-US" sz="3200" dirty="0"/>
              <a:t>를 붙이고</a:t>
            </a:r>
            <a:r>
              <a:rPr lang="en-US" altLang="ko-KR" sz="3200" dirty="0"/>
              <a:t>, </a:t>
            </a:r>
            <a:r>
              <a:rPr lang="ko-KR" altLang="en-US" sz="3200" dirty="0"/>
              <a:t>양식 순서대로 </a:t>
            </a:r>
            <a:r>
              <a:rPr lang="en-US" altLang="ko-KR" sz="3200" dirty="0"/>
              <a:t>-1/-2</a:t>
            </a:r>
            <a:r>
              <a:rPr lang="ko-KR" altLang="en-US" sz="3200" dirty="0"/>
              <a:t>를 부여한다</a:t>
            </a:r>
            <a:endParaRPr lang="en-US" altLang="ko-KR" sz="3200" dirty="0"/>
          </a:p>
          <a:p>
            <a:endParaRPr lang="en-US" altLang="ko-KR" sz="3200" dirty="0"/>
          </a:p>
        </p:txBody>
      </p:sp>
      <p:sp>
        <p:nvSpPr>
          <p:cNvPr id="18" name="TextBox 17"/>
          <p:cNvSpPr txBox="1"/>
          <p:nvPr/>
        </p:nvSpPr>
        <p:spPr>
          <a:xfrm>
            <a:off x="725160" y="5454119"/>
            <a:ext cx="98814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QP : </a:t>
            </a:r>
            <a:r>
              <a:rPr lang="ko-KR" altLang="en-US" sz="3200" dirty="0"/>
              <a:t>절차서</a:t>
            </a:r>
            <a:r>
              <a:rPr lang="en-US" altLang="ko-KR" sz="3200" dirty="0"/>
              <a:t>/ QI : </a:t>
            </a:r>
            <a:r>
              <a:rPr lang="ko-KR" altLang="en-US" sz="3200" dirty="0"/>
              <a:t>지침서</a:t>
            </a:r>
            <a:endParaRPr lang="en-US" altLang="ko-KR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667470" y="2464085"/>
            <a:ext cx="6622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200" dirty="0"/>
              <a:t>표준 번호 체계 예</a:t>
            </a:r>
            <a:r>
              <a:rPr lang="en-US" altLang="ko-KR" sz="3200" dirty="0"/>
              <a:t>: 4.1 ~ 8.5.1.1 </a:t>
            </a:r>
            <a:endParaRPr lang="ko-KR" altLang="en-US" sz="3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F0C57B-4385-400C-A314-8D566585B14F}"/>
              </a:ext>
            </a:extLst>
          </p:cNvPr>
          <p:cNvSpPr txBox="1"/>
          <p:nvPr/>
        </p:nvSpPr>
        <p:spPr>
          <a:xfrm>
            <a:off x="6040180" y="1895937"/>
            <a:ext cx="1866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일련번호 </a:t>
            </a:r>
          </a:p>
        </p:txBody>
      </p:sp>
    </p:spTree>
    <p:extLst>
      <p:ext uri="{BB962C8B-B14F-4D97-AF65-F5344CB8AC3E}">
        <p14:creationId xmlns:p14="http://schemas.microsoft.com/office/powerpoint/2010/main" val="17535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1193</TotalTime>
  <Words>133</Words>
  <Application>Microsoft Office PowerPoint</Application>
  <PresentationFormat>와이드스크린</PresentationFormat>
  <Paragraphs>22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노용기</dc:creator>
  <cp:lastModifiedBy>정효 강</cp:lastModifiedBy>
  <cp:revision>31</cp:revision>
  <cp:lastPrinted>2022-12-27T04:08:00Z</cp:lastPrinted>
  <dcterms:created xsi:type="dcterms:W3CDTF">2019-03-28T06:37:45Z</dcterms:created>
  <dcterms:modified xsi:type="dcterms:W3CDTF">2026-04-16T01:06:58Z</dcterms:modified>
</cp:coreProperties>
</file>