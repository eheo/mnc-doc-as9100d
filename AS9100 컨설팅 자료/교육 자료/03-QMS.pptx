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29" r:id="rId2"/>
    <p:sldMasterId id="2147483673" r:id="rId3"/>
    <p:sldMasterId id="2147483650" r:id="rId4"/>
  </p:sldMasterIdLst>
  <p:notesMasterIdLst>
    <p:notesMasterId r:id="rId44"/>
  </p:notesMasterIdLst>
  <p:handoutMasterIdLst>
    <p:handoutMasterId r:id="rId45"/>
  </p:handoutMasterIdLst>
  <p:sldIdLst>
    <p:sldId id="278" r:id="rId5"/>
    <p:sldId id="281" r:id="rId6"/>
    <p:sldId id="387" r:id="rId7"/>
    <p:sldId id="452" r:id="rId8"/>
    <p:sldId id="357" r:id="rId9"/>
    <p:sldId id="409" r:id="rId10"/>
    <p:sldId id="464" r:id="rId11"/>
    <p:sldId id="439" r:id="rId12"/>
    <p:sldId id="355" r:id="rId13"/>
    <p:sldId id="362" r:id="rId14"/>
    <p:sldId id="363" r:id="rId15"/>
    <p:sldId id="441" r:id="rId16"/>
    <p:sldId id="423" r:id="rId17"/>
    <p:sldId id="429" r:id="rId18"/>
    <p:sldId id="462" r:id="rId19"/>
    <p:sldId id="443" r:id="rId20"/>
    <p:sldId id="411" r:id="rId21"/>
    <p:sldId id="442" r:id="rId22"/>
    <p:sldId id="424" r:id="rId23"/>
    <p:sldId id="425" r:id="rId24"/>
    <p:sldId id="444" r:id="rId25"/>
    <p:sldId id="395" r:id="rId26"/>
    <p:sldId id="397" r:id="rId27"/>
    <p:sldId id="398" r:id="rId28"/>
    <p:sldId id="399" r:id="rId29"/>
    <p:sldId id="465" r:id="rId30"/>
    <p:sldId id="412" r:id="rId31"/>
    <p:sldId id="413" r:id="rId32"/>
    <p:sldId id="400" r:id="rId33"/>
    <p:sldId id="401" r:id="rId34"/>
    <p:sldId id="402" r:id="rId35"/>
    <p:sldId id="403" r:id="rId36"/>
    <p:sldId id="404" r:id="rId37"/>
    <p:sldId id="405" r:id="rId38"/>
    <p:sldId id="406" r:id="rId39"/>
    <p:sldId id="407" r:id="rId40"/>
    <p:sldId id="408" r:id="rId41"/>
    <p:sldId id="285" r:id="rId42"/>
    <p:sldId id="461" r:id="rId43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8F3"/>
    <a:srgbClr val="316BFD"/>
    <a:srgbClr val="000066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87" autoAdjust="0"/>
    <p:restoredTop sz="94660"/>
  </p:normalViewPr>
  <p:slideViewPr>
    <p:cSldViewPr showGuides="1">
      <p:cViewPr varScale="1">
        <p:scale>
          <a:sx n="79" d="100"/>
          <a:sy n="79" d="100"/>
        </p:scale>
        <p:origin x="86" y="461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4" d="100"/>
          <a:sy n="84" d="100"/>
        </p:scale>
        <p:origin x="222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CE1CAF7-FB39-1A1B-D1AF-4426CB396F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A57694-F043-BFA6-BAF6-F111658889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9042A0B-942A-4A31-A45B-66F153091C8F}" type="datetime1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EA59FA-CA48-F381-3AA8-5C9DFC0827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ko-KR" altLang="en-US"/>
              <a:t>경영과품질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444667-F281-A43D-AC83-A35F66391F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ED8FF00-3E5B-477B-933F-410DFEAB140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08A5797-9DDB-D3F8-9A05-2553ACA445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63E8D7-86D2-4F6B-90EA-DC68E7CF34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fld id="{FBE55F9B-C866-405A-A928-3D9B12B05819}" type="datetime1">
              <a:rPr lang="ko-KR" altLang="en-US"/>
              <a:pPr>
                <a:defRPr/>
              </a:pPr>
              <a:t>2026-04-18</a:t>
            </a:fld>
            <a:endParaRPr lang="ko-KR" altLang="en-US" dirty="0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29A48852-7968-A4A8-D61F-4251A35F7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D2BAB169-14E5-D4BC-F010-2A2CB6E1E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420248-00EA-6D33-7A02-5B291B3556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r>
              <a:rPr lang="ko-KR" altLang="en-US"/>
              <a:t>경영과품질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AF096C-03AD-47DB-C95C-5A5762E96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lnSpc>
                <a:spcPct val="110000"/>
              </a:lnSpc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773F918E-C6DF-4FA9-9B8B-2295D488C37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슬라이드 이미지 개체 틀 1">
            <a:extLst>
              <a:ext uri="{FF2B5EF4-FFF2-40B4-BE49-F238E27FC236}">
                <a16:creationId xmlns:a16="http://schemas.microsoft.com/office/drawing/2014/main" id="{B187FCDC-5EEF-4499-C802-A31A0E63E0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슬라이드 노트 개체 틀 2">
            <a:extLst>
              <a:ext uri="{FF2B5EF4-FFF2-40B4-BE49-F238E27FC236}">
                <a16:creationId xmlns:a16="http://schemas.microsoft.com/office/drawing/2014/main" id="{37F306CF-EE31-85A2-37C0-D27899F796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748" name="바닥글 개체 틀 4">
            <a:extLst>
              <a:ext uri="{FF2B5EF4-FFF2-40B4-BE49-F238E27FC236}">
                <a16:creationId xmlns:a16="http://schemas.microsoft.com/office/drawing/2014/main" id="{BD7BC08B-7E91-5A79-F0E7-F52D0BE4C0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/>
              <a:t>경영과품질</a:t>
            </a:r>
          </a:p>
        </p:txBody>
      </p:sp>
      <p:sp>
        <p:nvSpPr>
          <p:cNvPr id="31749" name="슬라이드 번호 개체 틀 5">
            <a:extLst>
              <a:ext uri="{FF2B5EF4-FFF2-40B4-BE49-F238E27FC236}">
                <a16:creationId xmlns:a16="http://schemas.microsoft.com/office/drawing/2014/main" id="{68281F51-8D3A-787B-140A-55AE186B0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FB9B7726-4358-42AB-BD0B-387A127AD87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>
            <a:extLst>
              <a:ext uri="{FF2B5EF4-FFF2-40B4-BE49-F238E27FC236}">
                <a16:creationId xmlns:a16="http://schemas.microsoft.com/office/drawing/2014/main" id="{44AAD1FC-8FC9-C2AE-A3D7-CCBA83814B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>
            <a:extLst>
              <a:ext uri="{FF2B5EF4-FFF2-40B4-BE49-F238E27FC236}">
                <a16:creationId xmlns:a16="http://schemas.microsoft.com/office/drawing/2014/main" id="{E3749335-0EC2-6364-8A82-857F3D474A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796" name="바닥글 개체 틀 4">
            <a:extLst>
              <a:ext uri="{FF2B5EF4-FFF2-40B4-BE49-F238E27FC236}">
                <a16:creationId xmlns:a16="http://schemas.microsoft.com/office/drawing/2014/main" id="{B7E23A02-F795-ACB9-66AD-F596B704C3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/>
              <a:t>경영과품질</a:t>
            </a:r>
          </a:p>
        </p:txBody>
      </p:sp>
      <p:sp>
        <p:nvSpPr>
          <p:cNvPr id="33797" name="슬라이드 번호 개체 틀 5">
            <a:extLst>
              <a:ext uri="{FF2B5EF4-FFF2-40B4-BE49-F238E27FC236}">
                <a16:creationId xmlns:a16="http://schemas.microsoft.com/office/drawing/2014/main" id="{78D1DF39-AF92-B707-A45D-C637891D5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6D9B3087-D219-46F5-B29F-7D98518640E1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이미지 개체 틀 1">
            <a:extLst>
              <a:ext uri="{FF2B5EF4-FFF2-40B4-BE49-F238E27FC236}">
                <a16:creationId xmlns:a16="http://schemas.microsoft.com/office/drawing/2014/main" id="{8315F702-27A6-88FC-DF11-90F2DBC92A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슬라이드 노트 개체 틀 2">
            <a:extLst>
              <a:ext uri="{FF2B5EF4-FFF2-40B4-BE49-F238E27FC236}">
                <a16:creationId xmlns:a16="http://schemas.microsoft.com/office/drawing/2014/main" id="{E71CDA2C-DE08-4CD3-1A55-D72ED3CD82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/>
              <a:t>경영과픔질</a:t>
            </a:r>
            <a:endParaRPr lang="en-US" altLang="ko-KR"/>
          </a:p>
        </p:txBody>
      </p:sp>
      <p:sp>
        <p:nvSpPr>
          <p:cNvPr id="38916" name="바닥글 개체 틀 3">
            <a:extLst>
              <a:ext uri="{FF2B5EF4-FFF2-40B4-BE49-F238E27FC236}">
                <a16:creationId xmlns:a16="http://schemas.microsoft.com/office/drawing/2014/main" id="{68381D33-87B6-2AAC-4EEC-9A30FD568B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/>
              <a:t>경영과품질</a:t>
            </a:r>
          </a:p>
        </p:txBody>
      </p:sp>
      <p:sp>
        <p:nvSpPr>
          <p:cNvPr id="38917" name="슬라이드 번호 개체 틀 4">
            <a:extLst>
              <a:ext uri="{FF2B5EF4-FFF2-40B4-BE49-F238E27FC236}">
                <a16:creationId xmlns:a16="http://schemas.microsoft.com/office/drawing/2014/main" id="{D7BDE623-A060-601F-7A25-B48123DDC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F5ABAB72-3783-4DE6-9404-BD69F6C14CEF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52854073"/>
      </p:ext>
    </p:extLst>
  </p:cSld>
  <p:clrMapOvr>
    <a:masterClrMapping/>
  </p:clrMapOvr>
  <p:transition>
    <p:zoom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50985116"/>
      </p:ext>
    </p:extLst>
  </p:cSld>
  <p:clrMapOvr>
    <a:masterClrMapping/>
  </p:clrMapOvr>
  <p:transition>
    <p:zoom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05238580"/>
      </p:ext>
    </p:extLst>
  </p:cSld>
  <p:clrMapOvr>
    <a:masterClrMapping/>
  </p:clrMapOvr>
  <p:transition>
    <p:zoom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5938" y="1155700"/>
            <a:ext cx="4108450" cy="4826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76788" y="1155700"/>
            <a:ext cx="4110037" cy="4826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11830937"/>
      </p:ext>
    </p:extLst>
  </p:cSld>
  <p:clrMapOvr>
    <a:masterClrMapping/>
  </p:clrMapOvr>
  <p:transition>
    <p:zoom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1493340"/>
      </p:ext>
    </p:extLst>
  </p:cSld>
  <p:clrMapOvr>
    <a:masterClrMapping/>
  </p:clrMapOvr>
  <p:transition>
    <p:zoom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05607024"/>
      </p:ext>
    </p:extLst>
  </p:cSld>
  <p:clrMapOvr>
    <a:masterClrMapping/>
  </p:clrMapOvr>
  <p:transition>
    <p:zoom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96C1B33-C921-8880-70B8-6A5F5DF42F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49275"/>
            <a:ext cx="9109075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026268"/>
      </p:ext>
    </p:extLst>
  </p:cSld>
  <p:clrMapOvr>
    <a:masterClrMapping/>
  </p:clrMapOvr>
  <p:transition>
    <p:zoom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756229956"/>
      </p:ext>
    </p:extLst>
  </p:cSld>
  <p:clrMapOvr>
    <a:masterClrMapping/>
  </p:clrMapOvr>
  <p:transition>
    <p:zoom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45350053"/>
      </p:ext>
    </p:extLst>
  </p:cSld>
  <p:clrMapOvr>
    <a:masterClrMapping/>
  </p:clrMapOvr>
  <p:transition>
    <p:zoom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20929663"/>
      </p:ext>
    </p:extLst>
  </p:cSld>
  <p:clrMapOvr>
    <a:masterClrMapping/>
  </p:clrMapOvr>
  <p:transition>
    <p:zoom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94500" y="304800"/>
            <a:ext cx="2092325" cy="56769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5938" y="304800"/>
            <a:ext cx="6126162" cy="56769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674986"/>
      </p:ext>
    </p:extLst>
  </p:cSld>
  <p:clrMapOvr>
    <a:masterClrMapping/>
  </p:clrMapOvr>
  <p:transition>
    <p:zoom dir="in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9E2A0B-E712-4217-3071-F7612B0CD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5E48B-9E51-4693-B68A-49A4ED96AB01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72E99C-3D6E-4AA3-2B41-130C9AF92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C5122C-CB35-E231-3045-08BD13C2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5C3D90C-F0F6-4D68-A0DB-2391BEF0352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901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C8D6D-6585-BF33-0564-12A2E5F83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E95217-4E0F-45AD-A0F1-0317903AB988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54D4F-D49E-CBC6-0B5E-71826CF2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DC214E-F873-24A3-74A9-F44A353F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78D45CD-017E-4AF1-89AC-9BC93DEF574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903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4F999-9E2E-EA47-21D7-273D7C1D9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7B9D21-5C50-4247-B7AA-842828816AEB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18FCBD-62D2-2B60-36FB-A6E3533D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A44960-AB67-01CF-9CAC-BF9121D4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4B572EA-89D7-4C42-98D1-32B6EEB4695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359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9F7770-C4AA-F91C-9DD4-168D1F5C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93D05-C24E-47D6-9D93-620D107498C0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1DB359-19EA-CBDF-4724-F9739FB3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CCAC2-8149-FC68-1E5B-7CDF7EF3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56DE514-A965-4647-9F78-08EC207C84A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856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330DC6-27E5-F391-7978-296A5E3BC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32DDD-088E-45C8-8BDE-3B1725BA92AB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E44E89-F54A-815C-D504-7939D168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4E9470-F65B-72C2-5A52-97B1A1A5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7241915-4B06-4DC1-9FEA-1AB070E170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183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464B48-C27C-E8FF-C302-4BFF7C159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03262-E9DD-430E-B8E4-80F603C47148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B6620C-D9C7-55CE-74BA-12FDB5CEF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29A657-182B-FA85-EC1C-86E5A431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0F40DC4-73DD-4B3A-832B-AB8D060FECB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688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2E703C-E00E-C5FE-89D7-96983049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DF4AD-8CCE-40F3-8C0F-C0A90F400C0A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B9EFA7-B44F-D696-0BEB-4071AE99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230377-DD58-0565-DC2D-0BDF567A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C22E9C7-B4D8-4711-9B9F-5002494E85F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2885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FB46-B74A-AC1E-1BEB-D021074A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FE8D4A-E8B4-4047-8E40-B3214302BDE2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A54FB2-DF35-B29F-A04E-57E9687CD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55CCFA-6E81-7F7A-BB60-AE324490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0CA0EA7-EF89-4FEA-B5C6-75A8C98B79F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6799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3DC2B0-AA28-02C8-7C86-84A0D9AC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335B9-FF83-48E0-9BE5-1EBC48A371EE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F5E798-48C2-7733-93BC-2C4DB238E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7D9994-4B1A-BBDC-DE15-C9DDAD6E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E7D418A-E310-4B0C-9669-A9920C236E2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3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10602E-DA73-9205-DAF4-A8B137AE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6F9B0-C25F-4493-B461-7DFAD63E5B6A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E21C5-73B1-A9DD-1F97-AFE2DBFF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FD4EC-E147-79B9-7F6E-14C36494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1F6A62D-36EF-4EE6-96CB-3A18D5E1295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418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4C1FC0-9BB7-CDCF-041B-5AC15728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CBFAB-C43E-431B-B59F-09B10745732C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56F412-E52B-6EB4-71FD-E2773382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4B830E-F957-39AE-E452-A09909D5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8ECBAA2-B32A-48D1-9755-0CC1A4F68F0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7363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55E606-20D7-471E-5C5C-C272D45B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DF1D4-6B2B-4514-A49B-7097453DDB18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F0A13-6306-9AF8-798E-5E93A2C9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A1A751-93AA-45D5-C92A-0FD361B7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941B70-6294-4095-89A5-3C83F82793B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3721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64493B-C6D9-F64B-84D1-1438BADAA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06689-26D3-4FAB-BD4B-8A6A8CAE9E08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81B233-4E8D-9115-9955-22ADB855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932F8-96B7-2D96-6D02-3B917B0B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05E1D-7197-4A6D-AE2B-A7B0E9833DD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2594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266E72-DA78-02C9-F5E0-A307DF05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DA60C-291A-42CF-B5EA-C1D95EC464CE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2D05D5-0387-F23D-7C33-15B54F632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CBA721-0AD1-F5D2-43EB-27A121DE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747B1-160B-4912-9089-794A03137D6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4707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1F96CA-282F-8E9C-D071-84A97150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FEAF2-F9B3-4408-926D-7CB2F791DF85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971519-3F33-F44F-B0CE-C94FFA0FF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4B87EE-E063-2728-ABF3-D34C456C5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8965E-9BA7-454A-94E4-FF055919721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9501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D96495-9CF4-DA08-7876-152181155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80999-CE07-4416-A438-5F9E3B43A451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1DDF9C-FB4F-499E-65CC-64AE33EB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F61F86-3AA8-5F13-37A1-B7A580E4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8BC35F-427A-4572-9C6A-A37BBC87E9D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3327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9C744D-84B0-323D-EF55-CFFAD2A56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A158A-3798-4B3B-ADAB-BC9015480083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CAB306-8E70-1FCC-0959-43E49290D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1A8F81-A99F-A576-EC5D-A2D4D45E9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6A5DE-6561-49C6-B620-EB0DBE542FC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1002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834FAD-712E-ADFE-CFD4-AAF2888CC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34BF7D-B212-4844-A254-1B3D0746C71E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B1BD87-689A-3CE0-3294-5B5DCE317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560708-01C1-6664-16B8-1E3377412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EF5D0-7201-4857-9444-74EA2F1A8F7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1474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512C8-642A-6E54-7244-3C8ACCFC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277728-A243-468E-A026-490D11863083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DBC557-2B93-F993-83C0-5AEBE00BE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A19E74-879C-40A9-7090-B5D32746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B25AC8-55E6-49C4-A042-27E9358A66E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7985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84B6C4-67F7-E376-4AE8-AFE0A3FF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A2367-0DA9-4C19-A810-56488D7AC4A8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2789BE-EDC8-9184-F382-DBC3D018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379EEB-D3BF-8353-62A6-999B10D61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DCA5C-0CE7-4ADD-A131-F0CBB8D246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2790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7A4F22-BD95-16A2-E46F-E4F1598F4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295CB9-E0F9-4064-8F2A-3C1B9842F49A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9AB19E-461B-B988-8E39-9050AB2D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0F7A5B-3F57-04FA-CDEA-1D9BF54DE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5D2BF-528E-4E03-BC5D-E41196232A5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4473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310D25-2D08-ED9B-A86F-3134BD558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243CE-1014-4896-80A1-23DB79ED77E8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A3B87C-D356-3269-C060-4AD9A318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C2188-DE86-5A9D-93E7-B3D2FBB2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A7781-5D52-4EC5-BBC0-8AF059DF1E7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682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F8B154-0C1F-9451-D60C-831AD0AB47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9FF814-0C2B-993D-18EC-78967970D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8E712D-64E1-920C-13DE-B8511A9B44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92CCB-8321-4B22-8E64-996591F573C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8391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4BAFFA-CD0C-D1CF-A0D4-C6E5618F49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C92ECB-A22C-D3B3-2A85-88C84249C5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4627D-081B-6D4B-371C-9121AAA4C2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1A733D-59E7-40C5-A36B-E89556FFC5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7586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028B63-58E0-D2DB-0550-7D19078895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38C9256-F491-5068-F8CA-A66872DE36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E6D55C-E9A1-8DC1-C52D-450DB3216D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DDE2A0-F3DF-41E2-9826-BB1E50E120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24574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DDE27-AB89-82EC-6B20-651801E6EE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753A21-7E05-2440-3880-3B402F1830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CBED87-0254-8A8F-4B54-694CDEF309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CEF34-0CBA-4F9B-B97D-9DB0A50855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78267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A539DD9-98E2-AC53-DADF-254A36F231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444C149-F3A0-5F26-62E4-6B8A28AAE6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7F673BA-BB7D-62E5-5290-23B4393916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FC255-19EA-4319-91E2-E202F0233A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65163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206F7D4-8AB3-32E1-F588-53FCCFDB3C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2F8FAB0-6839-C25E-CA41-1284CCC5EE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8D43319-6CEF-C5F3-2534-2AD525A479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57EED0-7293-40D5-9B60-3C72BDF659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46470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3A407BB-6B33-C228-E5E1-C7FA387A32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6187DFC-9CE7-6B36-F282-5FDC13CAAE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B4CB4CA-BB44-362D-B99C-4F675EAC0F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E1B8FE-6B4F-4FB3-8475-25C17652B2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63140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4E9D75-D788-4656-9CC0-6F7F1E2D29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217E5C-4D3B-425F-7B73-97DBDF7306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3E6F05-24EE-3F8F-1597-D50AE00E90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0F58C7-8C44-4493-A098-A7A5250084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78219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2D4B6C-C5CB-2029-2B5B-54C3A9B91C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1D8C7E-9EA9-7D64-34B5-B2E984B998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DD429D-F9F6-68D6-A253-0F7A92FF2C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423CEA-DE40-43CF-99A8-90AB8480C06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14368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0AC98D-B7B4-9C75-8AD0-2E4086E6EF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549117-2D24-21DF-3995-B26B8CE169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3939D7-5030-40DD-441C-439B481B9F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E3452-B6C9-4F6D-B26D-52AB00E363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74210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F13F8F-0F5D-3C19-2D02-DB48321BE3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A4D6D1-78BE-78EC-81B9-6641B43624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9C63C0-F45C-E485-9FDC-30950481B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824B52-71D6-4C5A-85CC-3F08CF3B85E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36826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AA69B82-B7C5-E397-5550-837DB462B9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304800"/>
            <a:ext cx="80391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Title: 32 pt Arial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87AC773-5BEB-7497-0B12-CCA08A938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5938" y="1155700"/>
            <a:ext cx="8370887" cy="482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Nokia PowerPoint 97Template - December 13,1997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10" r:id="rId1"/>
    <p:sldLayoutId id="2147486311" r:id="rId2"/>
    <p:sldLayoutId id="2147486312" r:id="rId3"/>
    <p:sldLayoutId id="2147486313" r:id="rId4"/>
    <p:sldLayoutId id="2147486314" r:id="rId5"/>
    <p:sldLayoutId id="2147486315" r:id="rId6"/>
    <p:sldLayoutId id="2147486331" r:id="rId7"/>
    <p:sldLayoutId id="2147486316" r:id="rId8"/>
    <p:sldLayoutId id="2147486317" r:id="rId9"/>
    <p:sldLayoutId id="2147486318" r:id="rId10"/>
    <p:sldLayoutId id="2147486319" r:id="rId11"/>
  </p:sldLayoutIdLst>
  <p:transition>
    <p:zoom dir="in"/>
  </p:transition>
  <p:hf hdr="0" ftr="0" dt="0"/>
  <p:txStyles>
    <p:titleStyle>
      <a:lvl1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2pPr>
      <a:lvl3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3pPr>
      <a:lvl4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4pPr>
      <a:lvl5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5pPr>
      <a:lvl6pPr marL="4572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6pPr>
      <a:lvl7pPr marL="9144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7pPr>
      <a:lvl8pPr marL="13716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8pPr>
      <a:lvl9pPr marL="18288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9pPr>
    </p:titleStyle>
    <p:bodyStyle>
      <a:lvl1pPr marL="280988" indent="-280988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Clr>
          <a:schemeClr val="hlink"/>
        </a:buClr>
        <a:buSzPct val="125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66750" indent="-195263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Clr>
          <a:schemeClr val="hlink"/>
        </a:buClr>
        <a:buSzPct val="125000"/>
        <a:buChar char="•"/>
        <a:defRPr>
          <a:solidFill>
            <a:schemeClr val="tx1"/>
          </a:solidFill>
          <a:latin typeface="Arial" charset="0"/>
        </a:defRPr>
      </a:lvl2pPr>
      <a:lvl3pPr marL="1336675" indent="-384175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marL="1804988" indent="-277813" algn="l" defTabSz="7620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2860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7432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32004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6576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41148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>
            <a:extLst>
              <a:ext uri="{FF2B5EF4-FFF2-40B4-BE49-F238E27FC236}">
                <a16:creationId xmlns:a16="http://schemas.microsoft.com/office/drawing/2014/main" id="{07AAF6F3-B1B1-F833-95F6-DF23E43D781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>
            <a:extLst>
              <a:ext uri="{FF2B5EF4-FFF2-40B4-BE49-F238E27FC236}">
                <a16:creationId xmlns:a16="http://schemas.microsoft.com/office/drawing/2014/main" id="{AE85EC21-2548-410A-72C7-00841D71B7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0BC0CF-DE20-6150-7D79-B9A837A71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78642E9-4739-4DCE-84E5-1660A2BDBA58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605167-FDF0-8EBD-8E21-CD7CAD435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ko-KR" altLang="en-US"/>
              <a:t>경영과품질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AD88E6-3F20-FCA0-24CA-D4F9F10A9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/>
              <a:t>1</a:t>
            </a: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32" r:id="rId1"/>
    <p:sldLayoutId id="2147486333" r:id="rId2"/>
    <p:sldLayoutId id="2147486334" r:id="rId3"/>
    <p:sldLayoutId id="2147486335" r:id="rId4"/>
    <p:sldLayoutId id="2147486336" r:id="rId5"/>
    <p:sldLayoutId id="2147486337" r:id="rId6"/>
    <p:sldLayoutId id="2147486338" r:id="rId7"/>
    <p:sldLayoutId id="2147486339" r:id="rId8"/>
    <p:sldLayoutId id="2147486340" r:id="rId9"/>
    <p:sldLayoutId id="2147486341" r:id="rId10"/>
    <p:sldLayoutId id="2147486342" r:id="rId11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개체 틀 1">
            <a:extLst>
              <a:ext uri="{FF2B5EF4-FFF2-40B4-BE49-F238E27FC236}">
                <a16:creationId xmlns:a16="http://schemas.microsoft.com/office/drawing/2014/main" id="{B2F468BF-53BF-2B29-E4B6-1A6FAAFDB93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5" name="텍스트 개체 틀 2">
            <a:extLst>
              <a:ext uri="{FF2B5EF4-FFF2-40B4-BE49-F238E27FC236}">
                <a16:creationId xmlns:a16="http://schemas.microsoft.com/office/drawing/2014/main" id="{8A88967A-0131-E5C1-05C4-2BE4D0D95E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A65E98-E1D9-D8FD-905E-98FFF1317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10CE08-D072-8DD8-F281-A7ACBFFC8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ko-KR" altLang="en-US"/>
              <a:t>경영과품질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40E43-AD4B-AE6C-A485-4926315A2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790A71B-4FB2-449A-BFC4-8F34C52D11E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43" r:id="rId1"/>
    <p:sldLayoutId id="2147486344" r:id="rId2"/>
    <p:sldLayoutId id="2147486345" r:id="rId3"/>
    <p:sldLayoutId id="2147486346" r:id="rId4"/>
    <p:sldLayoutId id="2147486347" r:id="rId5"/>
    <p:sldLayoutId id="2147486348" r:id="rId6"/>
    <p:sldLayoutId id="2147486349" r:id="rId7"/>
    <p:sldLayoutId id="2147486350" r:id="rId8"/>
    <p:sldLayoutId id="2147486351" r:id="rId9"/>
    <p:sldLayoutId id="2147486352" r:id="rId10"/>
    <p:sldLayoutId id="2147486353" r:id="rId11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991D8AD-B530-518B-1D4C-006E119F9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DAEE8F4-8923-0865-C9FD-AB6CBEC5C9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CBA98B49-53E0-0A21-3FFA-368B847189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lnSpc>
                <a:spcPct val="100000"/>
              </a:lnSpc>
              <a:spcBef>
                <a:spcPct val="0"/>
              </a:spcBef>
              <a:defRPr sz="1400" b="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0D797769-7A7E-E809-6276-E4741ECFAE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lnSpc>
                <a:spcPct val="100000"/>
              </a:lnSpc>
              <a:spcBef>
                <a:spcPct val="0"/>
              </a:spcBef>
              <a:defRPr sz="1400" b="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216C395B-BBA0-F357-B57F-309F56224F3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b="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629D8896-9420-4B89-A2A4-30419662A93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20" r:id="rId1"/>
    <p:sldLayoutId id="2147486321" r:id="rId2"/>
    <p:sldLayoutId id="2147486322" r:id="rId3"/>
    <p:sldLayoutId id="2147486323" r:id="rId4"/>
    <p:sldLayoutId id="2147486324" r:id="rId5"/>
    <p:sldLayoutId id="2147486325" r:id="rId6"/>
    <p:sldLayoutId id="2147486326" r:id="rId7"/>
    <p:sldLayoutId id="2147486327" r:id="rId8"/>
    <p:sldLayoutId id="2147486328" r:id="rId9"/>
    <p:sldLayoutId id="2147486329" r:id="rId10"/>
    <p:sldLayoutId id="2147486330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3A4DE5D-A9C7-5110-C92C-ACF4D3732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293EA50-7CA0-D15D-34A5-88E250190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30724" name="TextBox 12">
            <a:extLst>
              <a:ext uri="{FF2B5EF4-FFF2-40B4-BE49-F238E27FC236}">
                <a16:creationId xmlns:a16="http://schemas.microsoft.com/office/drawing/2014/main" id="{C4BE4118-5B51-13AF-3CD9-A3CE08B47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4759325"/>
            <a:ext cx="78105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3200">
                <a:latin typeface="Microsoft Sans Serif" panose="020B0604020202020204" pitchFamily="34" charset="0"/>
              </a:rPr>
              <a:t>경품인 컨설팅</a:t>
            </a:r>
          </a:p>
        </p:txBody>
      </p:sp>
      <p:sp>
        <p:nvSpPr>
          <p:cNvPr id="30725" name="Rectangle 6">
            <a:extLst>
              <a:ext uri="{FF2B5EF4-FFF2-40B4-BE49-F238E27FC236}">
                <a16:creationId xmlns:a16="http://schemas.microsoft.com/office/drawing/2014/main" id="{1B01CD67-7793-0F11-FAAF-54AD1B005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DA80BBB7-F25B-A3AF-7D14-9B5BE41E35DE}"/>
              </a:ext>
            </a:extLst>
          </p:cNvPr>
          <p:cNvSpPr txBox="1">
            <a:spLocks/>
          </p:cNvSpPr>
          <p:nvPr/>
        </p:nvSpPr>
        <p:spPr>
          <a:xfrm>
            <a:off x="1104900" y="1830388"/>
            <a:ext cx="7315200" cy="14779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270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666750" indent="-195263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6675" indent="-384175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04988" indent="-277813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280988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ko-KR" altLang="en-US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품질 경영 시스템 수립 </a:t>
            </a:r>
            <a:endParaRPr kumimoji="0" lang="en-US" altLang="ko-KR" sz="3200" dirty="0">
              <a:solidFill>
                <a:srgbClr val="063DE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ko-KR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AS9100: 2016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ko-KR" altLang="en-US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ko-KR" sz="3200" dirty="0">
              <a:solidFill>
                <a:srgbClr val="063DE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0996855-6677-09F1-CBFD-EBF437ADC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13EE172-C91C-C4DB-49B4-45E3474BF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E8615AB-D059-26F1-9DDA-E02B117325F8}"/>
              </a:ext>
            </a:extLst>
          </p:cNvPr>
          <p:cNvSpPr/>
          <p:nvPr/>
        </p:nvSpPr>
        <p:spPr>
          <a:xfrm>
            <a:off x="0" y="-33338"/>
            <a:ext cx="646113" cy="454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  <p:sp>
        <p:nvSpPr>
          <p:cNvPr id="32773" name="Rectangle 6">
            <a:extLst>
              <a:ext uri="{FF2B5EF4-FFF2-40B4-BE49-F238E27FC236}">
                <a16:creationId xmlns:a16="http://schemas.microsoft.com/office/drawing/2014/main" id="{531F080A-D734-8047-2ED9-4994447A2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8263"/>
            <a:ext cx="15049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2774" name="TextBox 4">
            <a:extLst>
              <a:ext uri="{FF2B5EF4-FFF2-40B4-BE49-F238E27FC236}">
                <a16:creationId xmlns:a16="http://schemas.microsoft.com/office/drawing/2014/main" id="{41CC960A-B657-E03C-9A6D-5061C8F3B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ko-KR"/>
              <a:t>QMS (Quality Management System) </a:t>
            </a:r>
            <a:r>
              <a:rPr lang="ko-KR" altLang="en-US"/>
              <a:t>란 </a:t>
            </a:r>
            <a:endParaRPr lang="en-US" altLang="ko-KR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ko-KR" altLang="en-US"/>
              <a:t>프로세스 </a:t>
            </a:r>
            <a:endParaRPr lang="en-US" altLang="ko-KR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ko-KR" altLang="en-US"/>
              <a:t>프로세스별 표준 요구 조건 </a:t>
            </a:r>
            <a:br>
              <a:rPr lang="en-US" altLang="ko-KR"/>
            </a:br>
            <a:endParaRPr lang="en-US" altLang="ko-KR"/>
          </a:p>
        </p:txBody>
      </p:sp>
    </p:spTree>
  </p:cSld>
  <p:clrMapOvr>
    <a:masterClrMapping/>
  </p:clrMapOvr>
  <p:transition>
    <p:zoom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9FCA3EC-7B7E-DA51-4342-83AB993AD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0DA8B6-8DF5-2A56-64D3-D32E31B034E4}"/>
              </a:ext>
            </a:extLst>
          </p:cNvPr>
          <p:cNvSpPr/>
          <p:nvPr/>
        </p:nvSpPr>
        <p:spPr>
          <a:xfrm>
            <a:off x="7938" y="0"/>
            <a:ext cx="1223962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</a:t>
            </a:r>
          </a:p>
        </p:txBody>
      </p:sp>
      <p:sp>
        <p:nvSpPr>
          <p:cNvPr id="34820" name="TextBox 4">
            <a:extLst>
              <a:ext uri="{FF2B5EF4-FFF2-40B4-BE49-F238E27FC236}">
                <a16:creationId xmlns:a16="http://schemas.microsoft.com/office/drawing/2014/main" id="{8825E7FA-F9DC-6926-398D-B4E42D248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19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ko-KR" altLang="en-US" sz="4000"/>
              <a:t>품질 경영 시스템 이란</a:t>
            </a:r>
            <a:r>
              <a:rPr lang="en-US" altLang="ko-KR" sz="4000"/>
              <a:t>?</a:t>
            </a:r>
            <a:r>
              <a:rPr lang="ko-KR" altLang="en-US" sz="4000"/>
              <a:t>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ko-KR"/>
              <a:t> PC </a:t>
            </a:r>
            <a:r>
              <a:rPr lang="ko-KR" altLang="en-US"/>
              <a:t>운영 시스템</a:t>
            </a:r>
            <a:r>
              <a:rPr lang="en-US" altLang="ko-KR"/>
              <a:t>: Windows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스마트폰 운영 시스템</a:t>
            </a:r>
            <a:r>
              <a:rPr lang="en-US" altLang="ko-KR"/>
              <a:t>:  </a:t>
            </a:r>
            <a:r>
              <a:rPr lang="ko-KR" altLang="en-US"/>
              <a:t>앤드로이드 </a:t>
            </a:r>
            <a:endParaRPr lang="en-US" altLang="ko-KR"/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회사 운영 시스템</a:t>
            </a:r>
            <a:r>
              <a:rPr lang="en-US" altLang="ko-KR"/>
              <a:t>: </a:t>
            </a:r>
            <a:r>
              <a:rPr lang="ko-KR" altLang="en-US"/>
              <a:t>품질 경영 시스템 </a:t>
            </a:r>
            <a:endParaRPr lang="en-US" altLang="ko-KR"/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D2144B9D-11D8-6DB1-04B0-39AEFC2F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F721F3BC-5E29-918B-9787-CB8FE0DBC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FC64A1B-5265-3F86-B9FF-0EFC0F5E0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E5FC51-8384-07A9-20D6-85D7527F2CAB}"/>
              </a:ext>
            </a:extLst>
          </p:cNvPr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844" name="Oval 3">
            <a:extLst>
              <a:ext uri="{FF2B5EF4-FFF2-40B4-BE49-F238E27FC236}">
                <a16:creationId xmlns:a16="http://schemas.microsoft.com/office/drawing/2014/main" id="{AFFB6ED8-BE84-B6B4-AC7D-897C67EB9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0" y="3575050"/>
            <a:ext cx="1439863" cy="1439863"/>
          </a:xfrm>
          <a:prstGeom prst="ellipse">
            <a:avLst/>
          </a:prstGeom>
          <a:gradFill rotWithShape="1">
            <a:gsLst>
              <a:gs pos="0">
                <a:srgbClr val="316BFD"/>
              </a:gs>
              <a:gs pos="100000">
                <a:schemeClr val="bg1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5845" name="Oval 5">
            <a:extLst>
              <a:ext uri="{FF2B5EF4-FFF2-40B4-BE49-F238E27FC236}">
                <a16:creationId xmlns:a16="http://schemas.microsoft.com/office/drawing/2014/main" id="{F406A998-937F-F008-9D19-59EE843FA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3571875"/>
            <a:ext cx="1366837" cy="1511300"/>
          </a:xfrm>
          <a:prstGeom prst="ellipse">
            <a:avLst/>
          </a:prstGeom>
          <a:gradFill rotWithShape="1">
            <a:gsLst>
              <a:gs pos="0">
                <a:srgbClr val="316BFD"/>
              </a:gs>
              <a:gs pos="100000">
                <a:schemeClr val="bg1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5846" name="Oval 6">
            <a:extLst>
              <a:ext uri="{FF2B5EF4-FFF2-40B4-BE49-F238E27FC236}">
                <a16:creationId xmlns:a16="http://schemas.microsoft.com/office/drawing/2014/main" id="{6101FA38-CEAB-2EE5-4747-66A9B1044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938" y="944563"/>
            <a:ext cx="1366837" cy="1511300"/>
          </a:xfrm>
          <a:prstGeom prst="ellipse">
            <a:avLst/>
          </a:prstGeom>
          <a:gradFill rotWithShape="1">
            <a:gsLst>
              <a:gs pos="0">
                <a:srgbClr val="316BFD"/>
              </a:gs>
              <a:gs pos="100000">
                <a:schemeClr val="bg1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5847" name="TextBox 6">
            <a:extLst>
              <a:ext uri="{FF2B5EF4-FFF2-40B4-BE49-F238E27FC236}">
                <a16:creationId xmlns:a16="http://schemas.microsoft.com/office/drawing/2014/main" id="{4D8EF407-3B3A-F362-5B15-12D1C7780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088" y="3998913"/>
            <a:ext cx="1087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rgbClr val="000000"/>
                </a:solidFill>
              </a:rPr>
              <a:t>QMS,</a:t>
            </a:r>
          </a:p>
          <a:p>
            <a:pPr algn="ctr"/>
            <a:r>
              <a:rPr lang="ko-KR" altLang="en-US">
                <a:solidFill>
                  <a:srgbClr val="000000"/>
                </a:solidFill>
              </a:rPr>
              <a:t>프로세스</a:t>
            </a: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5848" name="TextBox 25">
            <a:extLst>
              <a:ext uri="{FF2B5EF4-FFF2-40B4-BE49-F238E27FC236}">
                <a16:creationId xmlns:a16="http://schemas.microsoft.com/office/drawing/2014/main" id="{DA10CB2E-D650-C36C-0D78-B5B0935A7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4076700"/>
            <a:ext cx="170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rgbClr val="000000"/>
                </a:solidFill>
              </a:rPr>
              <a:t>3</a:t>
            </a:r>
            <a:r>
              <a:rPr lang="ko-KR" altLang="en-US">
                <a:solidFill>
                  <a:srgbClr val="000000"/>
                </a:solidFill>
              </a:rPr>
              <a:t>자심사</a:t>
            </a:r>
          </a:p>
        </p:txBody>
      </p:sp>
      <p:sp>
        <p:nvSpPr>
          <p:cNvPr id="35849" name="TextBox 29">
            <a:extLst>
              <a:ext uri="{FF2B5EF4-FFF2-40B4-BE49-F238E27FC236}">
                <a16:creationId xmlns:a16="http://schemas.microsoft.com/office/drawing/2014/main" id="{12B6A54B-2355-EB65-5FE9-29C9E124F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8" y="1457325"/>
            <a:ext cx="1368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>
                <a:solidFill>
                  <a:srgbClr val="000000"/>
                </a:solidFill>
              </a:rPr>
              <a:t>표준</a:t>
            </a:r>
            <a:r>
              <a:rPr lang="en-US" altLang="ko-KR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35850" name="AutoShape 32">
            <a:extLst>
              <a:ext uri="{FF2B5EF4-FFF2-40B4-BE49-F238E27FC236}">
                <a16:creationId xmlns:a16="http://schemas.microsoft.com/office/drawing/2014/main" id="{D16E0EBA-D20E-A037-0673-0D70BC891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852738"/>
            <a:ext cx="1223962" cy="1296987"/>
          </a:xfrm>
          <a:prstGeom prst="diamond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5851" name="TextBox 16">
            <a:extLst>
              <a:ext uri="{FF2B5EF4-FFF2-40B4-BE49-F238E27FC236}">
                <a16:creationId xmlns:a16="http://schemas.microsoft.com/office/drawing/2014/main" id="{830754C6-9191-8B1C-1945-A20B59E8C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5263" y="1457325"/>
            <a:ext cx="1457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>
                <a:solidFill>
                  <a:srgbClr val="000000"/>
                </a:solidFill>
              </a:rPr>
              <a:t>첨부</a:t>
            </a:r>
            <a:r>
              <a:rPr lang="en-US" altLang="ko-KR">
                <a:solidFill>
                  <a:srgbClr val="000000"/>
                </a:solidFill>
              </a:rPr>
              <a:t>: 1 </a:t>
            </a:r>
            <a:r>
              <a:rPr lang="ko-KR" altLang="en-US">
                <a:solidFill>
                  <a:srgbClr val="000000"/>
                </a:solidFill>
              </a:rPr>
              <a:t>참조</a:t>
            </a:r>
          </a:p>
        </p:txBody>
      </p:sp>
      <p:sp>
        <p:nvSpPr>
          <p:cNvPr id="35852" name="TextBox 17">
            <a:extLst>
              <a:ext uri="{FF2B5EF4-FFF2-40B4-BE49-F238E27FC236}">
                <a16:creationId xmlns:a16="http://schemas.microsoft.com/office/drawing/2014/main" id="{5F7D4F81-5576-391F-6644-D04E3EC47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0" y="5202238"/>
            <a:ext cx="1457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>
                <a:solidFill>
                  <a:srgbClr val="000000"/>
                </a:solidFill>
              </a:rPr>
              <a:t>첨부</a:t>
            </a:r>
            <a:r>
              <a:rPr lang="en-US" altLang="ko-KR">
                <a:solidFill>
                  <a:srgbClr val="000000"/>
                </a:solidFill>
              </a:rPr>
              <a:t>: 2 </a:t>
            </a:r>
            <a:r>
              <a:rPr lang="ko-KR" altLang="en-US">
                <a:solidFill>
                  <a:srgbClr val="000000"/>
                </a:solidFill>
              </a:rPr>
              <a:t>참조</a:t>
            </a:r>
          </a:p>
        </p:txBody>
      </p:sp>
      <p:sp>
        <p:nvSpPr>
          <p:cNvPr id="35853" name="TextBox 19">
            <a:extLst>
              <a:ext uri="{FF2B5EF4-FFF2-40B4-BE49-F238E27FC236}">
                <a16:creationId xmlns:a16="http://schemas.microsoft.com/office/drawing/2014/main" id="{EF7E3358-7CC3-C37E-D321-F0DC47129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063" y="5213350"/>
            <a:ext cx="1457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>
                <a:solidFill>
                  <a:srgbClr val="000000"/>
                </a:solidFill>
              </a:rPr>
              <a:t>첨부</a:t>
            </a:r>
            <a:r>
              <a:rPr lang="en-US" altLang="ko-KR">
                <a:solidFill>
                  <a:srgbClr val="000000"/>
                </a:solidFill>
              </a:rPr>
              <a:t>: 3 </a:t>
            </a:r>
            <a:r>
              <a:rPr lang="ko-KR" altLang="en-US">
                <a:solidFill>
                  <a:srgbClr val="000000"/>
                </a:solidFill>
              </a:rPr>
              <a:t>참조</a:t>
            </a:r>
          </a:p>
        </p:txBody>
      </p:sp>
      <p:sp>
        <p:nvSpPr>
          <p:cNvPr id="35854" name="Rectangle 3">
            <a:extLst>
              <a:ext uri="{FF2B5EF4-FFF2-40B4-BE49-F238E27FC236}">
                <a16:creationId xmlns:a16="http://schemas.microsoft.com/office/drawing/2014/main" id="{360029B2-3D61-1F54-1E75-53E7D4B49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35855" name="Rectangle 6">
            <a:extLst>
              <a:ext uri="{FF2B5EF4-FFF2-40B4-BE49-F238E27FC236}">
                <a16:creationId xmlns:a16="http://schemas.microsoft.com/office/drawing/2014/main" id="{9677222A-F5EE-A9E6-A567-AADE3EDF6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r>
              <a:rPr lang="ko-KR" altLang="en-US" sz="1600">
                <a:solidFill>
                  <a:srgbClr val="000000"/>
                </a:solidFill>
                <a:latin typeface="Microsoft Sans Serif" panose="020B0604020202020204" pitchFamily="34" charset="0"/>
              </a:rPr>
              <a:t> </a:t>
            </a:r>
            <a:endParaRPr lang="en-US" altLang="ko-KR" sz="16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cxnSp>
        <p:nvCxnSpPr>
          <p:cNvPr id="35856" name="직선 화살표 연결선 5">
            <a:extLst>
              <a:ext uri="{FF2B5EF4-FFF2-40B4-BE49-F238E27FC236}">
                <a16:creationId xmlns:a16="http://schemas.microsoft.com/office/drawing/2014/main" id="{CBA18CFD-89AD-A749-0AE9-B931333167A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135313" y="2476500"/>
            <a:ext cx="1081087" cy="1222375"/>
          </a:xfrm>
          <a:prstGeom prst="straightConnector1">
            <a:avLst/>
          </a:prstGeom>
          <a:noFill/>
          <a:ln w="63500" cmpd="dbl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7" name="직선 화살표 연결선 19">
            <a:extLst>
              <a:ext uri="{FF2B5EF4-FFF2-40B4-BE49-F238E27FC236}">
                <a16:creationId xmlns:a16="http://schemas.microsoft.com/office/drawing/2014/main" id="{DCA723D2-1282-0760-A393-C76667000A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89500" y="2455863"/>
            <a:ext cx="1031875" cy="1360487"/>
          </a:xfrm>
          <a:prstGeom prst="straightConnector1">
            <a:avLst/>
          </a:prstGeom>
          <a:noFill/>
          <a:ln w="63500" cmpd="dbl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8" name="직선 화살표 연결선 25">
            <a:extLst>
              <a:ext uri="{FF2B5EF4-FFF2-40B4-BE49-F238E27FC236}">
                <a16:creationId xmlns:a16="http://schemas.microsoft.com/office/drawing/2014/main" id="{83311EED-B646-0E17-906C-F7003D4BCA1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97263" y="4233863"/>
            <a:ext cx="2052637" cy="25400"/>
          </a:xfrm>
          <a:prstGeom prst="straightConnector1">
            <a:avLst/>
          </a:prstGeom>
          <a:noFill/>
          <a:ln w="63500" cmpd="dbl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9" name="직선 화살표 연결선 27">
            <a:extLst>
              <a:ext uri="{FF2B5EF4-FFF2-40B4-BE49-F238E27FC236}">
                <a16:creationId xmlns:a16="http://schemas.microsoft.com/office/drawing/2014/main" id="{93C3D7AD-0F9B-78CE-F28C-38E6BADCB79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475038" y="4581525"/>
            <a:ext cx="2052637" cy="0"/>
          </a:xfrm>
          <a:prstGeom prst="straightConnector1">
            <a:avLst/>
          </a:prstGeom>
          <a:noFill/>
          <a:ln w="63500" cmpd="dbl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0" name="직선 화살표 연결선 30">
            <a:extLst>
              <a:ext uri="{FF2B5EF4-FFF2-40B4-BE49-F238E27FC236}">
                <a16:creationId xmlns:a16="http://schemas.microsoft.com/office/drawing/2014/main" id="{3E631A2E-AC29-37B3-183A-774D8704E83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46675" y="2214563"/>
            <a:ext cx="973138" cy="1281112"/>
          </a:xfrm>
          <a:prstGeom prst="straightConnector1">
            <a:avLst/>
          </a:prstGeom>
          <a:noFill/>
          <a:ln w="63500" cmpd="dbl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1" name="직선 화살표 연결선 35">
            <a:extLst>
              <a:ext uri="{FF2B5EF4-FFF2-40B4-BE49-F238E27FC236}">
                <a16:creationId xmlns:a16="http://schemas.microsoft.com/office/drawing/2014/main" id="{084ADACC-2FC0-8A5A-A2F5-9B5B87F0188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36875" y="2295525"/>
            <a:ext cx="965200" cy="1106488"/>
          </a:xfrm>
          <a:prstGeom prst="straightConnector1">
            <a:avLst/>
          </a:prstGeom>
          <a:noFill/>
          <a:ln w="63500" cmpd="dbl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zoom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A9D9E32-12CF-00FD-FF0D-B67DC5CA4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FAA9F9-606B-E4AB-A8AC-42873F59AD1E}"/>
              </a:ext>
            </a:extLst>
          </p:cNvPr>
          <p:cNvSpPr/>
          <p:nvPr/>
        </p:nvSpPr>
        <p:spPr>
          <a:xfrm>
            <a:off x="7938" y="0"/>
            <a:ext cx="193357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7E36A0AB-47E6-1976-EF45-EE4F94F7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4940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ko-KR" altLang="en-US" dirty="0"/>
              <a:t>표준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요구 조건 제시 </a:t>
            </a:r>
            <a:r>
              <a:rPr lang="en-US" altLang="ko-KR" dirty="0"/>
              <a:t>(Requirements)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altLang="ko-KR" dirty="0"/>
          </a:p>
          <a:p>
            <a:pPr marL="0" indent="0">
              <a:spcBef>
                <a:spcPct val="50000"/>
              </a:spcBef>
              <a:defRPr/>
            </a:pPr>
            <a:r>
              <a:rPr lang="ko-KR" altLang="en-US" dirty="0"/>
              <a:t>품질 경영 시스템</a:t>
            </a:r>
            <a:endParaRPr lang="en-US" altLang="ko-KR" dirty="0"/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/>
              <a:t>운영 시스템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표준 요구 조건 실현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경영 목적 달성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altLang="ko-KR" dirty="0"/>
          </a:p>
          <a:p>
            <a:pPr marL="0" indent="0">
              <a:spcBef>
                <a:spcPct val="50000"/>
              </a:spcBef>
              <a:defRPr/>
            </a:pPr>
            <a:r>
              <a:rPr lang="en-US" altLang="ko-KR" dirty="0"/>
              <a:t>3</a:t>
            </a:r>
            <a:r>
              <a:rPr lang="ko-KR" altLang="en-US" dirty="0"/>
              <a:t>자 심사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 표준 요구 조건 달성 여부 심사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altLang="ko-KR" dirty="0"/>
          </a:p>
          <a:p>
            <a:pPr marL="0" indent="0">
              <a:spcBef>
                <a:spcPct val="50000"/>
              </a:spcBef>
              <a:defRPr/>
            </a:pPr>
            <a:endParaRPr lang="en-US" altLang="ko-KR" dirty="0"/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FFE6F024-7944-D590-F8D4-59D6E10B0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BD28EB13-4C82-C243-32FE-3A135FDC5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직사각형 2">
            <a:extLst>
              <a:ext uri="{FF2B5EF4-FFF2-40B4-BE49-F238E27FC236}">
                <a16:creationId xmlns:a16="http://schemas.microsoft.com/office/drawing/2014/main" id="{0FD8CD9E-FD88-417B-1B39-F72CA428C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765175"/>
            <a:ext cx="4105275" cy="42481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B989FD6-7B38-510D-36FA-69ED04519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4BD33F-FB81-C770-C508-743C0178733A}"/>
              </a:ext>
            </a:extLst>
          </p:cNvPr>
          <p:cNvSpPr/>
          <p:nvPr/>
        </p:nvSpPr>
        <p:spPr>
          <a:xfrm>
            <a:off x="7938" y="0"/>
            <a:ext cx="193357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893" name="Oval 3">
            <a:extLst>
              <a:ext uri="{FF2B5EF4-FFF2-40B4-BE49-F238E27FC236}">
                <a16:creationId xmlns:a16="http://schemas.microsoft.com/office/drawing/2014/main" id="{4C2F9A9A-6425-816A-A61B-A051AC2E1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1958975"/>
            <a:ext cx="1439863" cy="1439863"/>
          </a:xfrm>
          <a:prstGeom prst="ellipse">
            <a:avLst/>
          </a:prstGeom>
          <a:gradFill rotWithShape="1">
            <a:gsLst>
              <a:gs pos="0">
                <a:srgbClr val="316BFD"/>
              </a:gs>
              <a:gs pos="100000">
                <a:schemeClr val="bg1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/>
          </a:p>
        </p:txBody>
      </p:sp>
      <p:sp>
        <p:nvSpPr>
          <p:cNvPr id="37894" name="Oval 5">
            <a:extLst>
              <a:ext uri="{FF2B5EF4-FFF2-40B4-BE49-F238E27FC236}">
                <a16:creationId xmlns:a16="http://schemas.microsoft.com/office/drawing/2014/main" id="{1378E038-30DC-3C60-4CA0-29F145A6F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825500"/>
            <a:ext cx="1406525" cy="1511300"/>
          </a:xfrm>
          <a:prstGeom prst="ellipse">
            <a:avLst/>
          </a:prstGeom>
          <a:gradFill rotWithShape="1">
            <a:gsLst>
              <a:gs pos="0">
                <a:srgbClr val="316BFD"/>
              </a:gs>
              <a:gs pos="100000">
                <a:schemeClr val="bg1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/>
          </a:p>
        </p:txBody>
      </p:sp>
      <p:sp>
        <p:nvSpPr>
          <p:cNvPr id="37895" name="Oval 6">
            <a:extLst>
              <a:ext uri="{FF2B5EF4-FFF2-40B4-BE49-F238E27FC236}">
                <a16:creationId xmlns:a16="http://schemas.microsoft.com/office/drawing/2014/main" id="{DC0E05C0-D806-4B80-981C-526F910CB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1949450"/>
            <a:ext cx="1450975" cy="1511300"/>
          </a:xfrm>
          <a:prstGeom prst="ellipse">
            <a:avLst/>
          </a:prstGeom>
          <a:gradFill rotWithShape="1">
            <a:gsLst>
              <a:gs pos="0">
                <a:srgbClr val="316BFD"/>
              </a:gs>
              <a:gs pos="100000">
                <a:schemeClr val="bg1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/>
          </a:p>
        </p:txBody>
      </p:sp>
      <p:sp>
        <p:nvSpPr>
          <p:cNvPr id="37896" name="TextBox 6">
            <a:extLst>
              <a:ext uri="{FF2B5EF4-FFF2-40B4-BE49-F238E27FC236}">
                <a16:creationId xmlns:a16="http://schemas.microsoft.com/office/drawing/2014/main" id="{EA50547D-5ECA-A4E3-1621-32139A018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100" y="2427288"/>
            <a:ext cx="10874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프로세스</a:t>
            </a:r>
            <a:endParaRPr lang="en-US" altLang="ko-KR"/>
          </a:p>
          <a:p>
            <a:pPr algn="ctr"/>
            <a:r>
              <a:rPr lang="en-US" altLang="ko-KR">
                <a:solidFill>
                  <a:srgbClr val="FF0000"/>
                </a:solidFill>
              </a:rPr>
              <a:t>Process Map</a:t>
            </a:r>
          </a:p>
        </p:txBody>
      </p:sp>
      <p:sp>
        <p:nvSpPr>
          <p:cNvPr id="37897" name="TextBox 25">
            <a:extLst>
              <a:ext uri="{FF2B5EF4-FFF2-40B4-BE49-F238E27FC236}">
                <a16:creationId xmlns:a16="http://schemas.microsoft.com/office/drawing/2014/main" id="{E992FFD8-ACFE-3F23-D74E-2DBCD882F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438" y="1352550"/>
            <a:ext cx="1701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절차서</a:t>
            </a:r>
            <a:endParaRPr lang="en-US" altLang="ko-KR"/>
          </a:p>
          <a:p>
            <a:pPr algn="ctr"/>
            <a:r>
              <a:rPr lang="ko-KR" altLang="en-US">
                <a:solidFill>
                  <a:srgbClr val="FF0000"/>
                </a:solidFill>
              </a:rPr>
              <a:t>방법</a:t>
            </a:r>
          </a:p>
        </p:txBody>
      </p:sp>
      <p:sp>
        <p:nvSpPr>
          <p:cNvPr id="37898" name="TextBox 29">
            <a:extLst>
              <a:ext uri="{FF2B5EF4-FFF2-40B4-BE49-F238E27FC236}">
                <a16:creationId xmlns:a16="http://schemas.microsoft.com/office/drawing/2014/main" id="{C8DB5A5F-FFFA-57E0-BADF-91CC689E5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2213"/>
            <a:ext cx="1368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/>
              <a:t>AS9100 </a:t>
            </a:r>
          </a:p>
        </p:txBody>
      </p:sp>
      <p:sp>
        <p:nvSpPr>
          <p:cNvPr id="37899" name="Oval 5">
            <a:extLst>
              <a:ext uri="{FF2B5EF4-FFF2-40B4-BE49-F238E27FC236}">
                <a16:creationId xmlns:a16="http://schemas.microsoft.com/office/drawing/2014/main" id="{22A12684-4640-6B0C-E557-5FB12A215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284538"/>
            <a:ext cx="1462087" cy="1511300"/>
          </a:xfrm>
          <a:prstGeom prst="ellipse">
            <a:avLst/>
          </a:prstGeom>
          <a:gradFill rotWithShape="1">
            <a:gsLst>
              <a:gs pos="0">
                <a:srgbClr val="316BFD"/>
              </a:gs>
              <a:gs pos="100000">
                <a:schemeClr val="bg1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/>
          </a:p>
        </p:txBody>
      </p:sp>
      <p:sp>
        <p:nvSpPr>
          <p:cNvPr id="37900" name="TextBox 25">
            <a:extLst>
              <a:ext uri="{FF2B5EF4-FFF2-40B4-BE49-F238E27FC236}">
                <a16:creationId xmlns:a16="http://schemas.microsoft.com/office/drawing/2014/main" id="{98E476B1-7BFE-2105-F382-4A0ED0F34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438" y="3586163"/>
            <a:ext cx="170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기록서</a:t>
            </a:r>
          </a:p>
          <a:p>
            <a:pPr algn="ctr"/>
            <a:r>
              <a:rPr lang="ko-KR" altLang="en-US">
                <a:solidFill>
                  <a:srgbClr val="FF0000"/>
                </a:solidFill>
              </a:rPr>
              <a:t>결과</a:t>
            </a:r>
            <a:r>
              <a:rPr lang="ko-KR" altLang="en-US"/>
              <a:t> </a:t>
            </a:r>
            <a:endParaRPr lang="en-US" altLang="ko-KR"/>
          </a:p>
        </p:txBody>
      </p:sp>
      <p:sp>
        <p:nvSpPr>
          <p:cNvPr id="37901" name="Oval 5">
            <a:extLst>
              <a:ext uri="{FF2B5EF4-FFF2-40B4-BE49-F238E27FC236}">
                <a16:creationId xmlns:a16="http://schemas.microsoft.com/office/drawing/2014/main" id="{1F7E2BCD-3A67-41DE-3F33-D1C586C59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1949450"/>
            <a:ext cx="1366837" cy="1511300"/>
          </a:xfrm>
          <a:prstGeom prst="ellipse">
            <a:avLst/>
          </a:prstGeom>
          <a:gradFill rotWithShape="1">
            <a:gsLst>
              <a:gs pos="0">
                <a:srgbClr val="316BFD"/>
              </a:gs>
              <a:gs pos="100000">
                <a:schemeClr val="bg1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/>
          </a:p>
        </p:txBody>
      </p:sp>
      <p:sp>
        <p:nvSpPr>
          <p:cNvPr id="37902" name="TextBox 25">
            <a:extLst>
              <a:ext uri="{FF2B5EF4-FFF2-40B4-BE49-F238E27FC236}">
                <a16:creationId xmlns:a16="http://schemas.microsoft.com/office/drawing/2014/main" id="{C3C6D499-7B47-DA56-E8C2-5078C6053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2476500"/>
            <a:ext cx="170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/>
              <a:t>3</a:t>
            </a:r>
            <a:r>
              <a:rPr lang="ko-KR" altLang="en-US"/>
              <a:t>자 심사</a:t>
            </a:r>
          </a:p>
        </p:txBody>
      </p:sp>
      <p:sp>
        <p:nvSpPr>
          <p:cNvPr id="37903" name="Rectangle 3">
            <a:extLst>
              <a:ext uri="{FF2B5EF4-FFF2-40B4-BE49-F238E27FC236}">
                <a16:creationId xmlns:a16="http://schemas.microsoft.com/office/drawing/2014/main" id="{6772FA28-B77D-B5DB-C08E-EBBE01432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37904" name="Rectangle 6">
            <a:extLst>
              <a:ext uri="{FF2B5EF4-FFF2-40B4-BE49-F238E27FC236}">
                <a16:creationId xmlns:a16="http://schemas.microsoft.com/office/drawing/2014/main" id="{36814117-E35D-2D6A-83BC-E0908D019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7905" name="TextBox 2">
            <a:extLst>
              <a:ext uri="{FF2B5EF4-FFF2-40B4-BE49-F238E27FC236}">
                <a16:creationId xmlns:a16="http://schemas.microsoft.com/office/drawing/2014/main" id="{FB6C8D3C-B4E6-91AB-4BBB-9A1149105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5013325"/>
            <a:ext cx="410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/>
              <a:t>운영 시스템</a:t>
            </a:r>
            <a:r>
              <a:rPr lang="en-US" altLang="ko-KR"/>
              <a:t>, </a:t>
            </a:r>
            <a:endParaRPr lang="ko-KR" altLang="en-US"/>
          </a:p>
        </p:txBody>
      </p:sp>
    </p:spTree>
  </p:cSld>
  <p:clrMapOvr>
    <a:masterClrMapping/>
  </p:clrMapOvr>
  <p:transition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18533C2-CBBC-7454-9E1B-025EEDCD6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36FC3DB-F9BB-9028-A90E-30B4FD500FAF}"/>
              </a:ext>
            </a:extLst>
          </p:cNvPr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940" name="Oval 3">
            <a:extLst>
              <a:ext uri="{FF2B5EF4-FFF2-40B4-BE49-F238E27FC236}">
                <a16:creationId xmlns:a16="http://schemas.microsoft.com/office/drawing/2014/main" id="{CE7F2016-A000-FA00-3764-7C381B79C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0275" y="2384425"/>
            <a:ext cx="1841500" cy="1933575"/>
          </a:xfrm>
          <a:prstGeom prst="ellipse">
            <a:avLst/>
          </a:prstGeom>
          <a:gradFill rotWithShape="1">
            <a:gsLst>
              <a:gs pos="0">
                <a:srgbClr val="316BFD"/>
              </a:gs>
              <a:gs pos="100000">
                <a:schemeClr val="bg1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9941" name="TextBox 6">
            <a:extLst>
              <a:ext uri="{FF2B5EF4-FFF2-40B4-BE49-F238E27FC236}">
                <a16:creationId xmlns:a16="http://schemas.microsoft.com/office/drawing/2014/main" id="{D151ACF9-01A2-DFC9-E541-CFF3D03F1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2363" y="3097213"/>
            <a:ext cx="1457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2400">
                <a:solidFill>
                  <a:srgbClr val="000000"/>
                </a:solidFill>
              </a:rPr>
              <a:t>절차서</a:t>
            </a:r>
            <a:endParaRPr lang="en-US" altLang="ko-KR" sz="2400">
              <a:solidFill>
                <a:srgbClr val="000000"/>
              </a:solidFill>
            </a:endParaRPr>
          </a:p>
        </p:txBody>
      </p:sp>
      <p:sp>
        <p:nvSpPr>
          <p:cNvPr id="39942" name="AutoShape 32">
            <a:extLst>
              <a:ext uri="{FF2B5EF4-FFF2-40B4-BE49-F238E27FC236}">
                <a16:creationId xmlns:a16="http://schemas.microsoft.com/office/drawing/2014/main" id="{66E91F18-38D1-660C-7EB5-6E131433D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852738"/>
            <a:ext cx="1223962" cy="1296987"/>
          </a:xfrm>
          <a:prstGeom prst="diamond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9943" name="TextBox 16">
            <a:extLst>
              <a:ext uri="{FF2B5EF4-FFF2-40B4-BE49-F238E27FC236}">
                <a16:creationId xmlns:a16="http://schemas.microsoft.com/office/drawing/2014/main" id="{E24BE2F8-B79D-4530-9D53-470DCEE7D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8113" y="1365250"/>
            <a:ext cx="1457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>
                <a:solidFill>
                  <a:srgbClr val="000000"/>
                </a:solidFill>
              </a:rPr>
              <a:t>첨부</a:t>
            </a:r>
            <a:r>
              <a:rPr lang="en-US" altLang="ko-KR">
                <a:solidFill>
                  <a:srgbClr val="000000"/>
                </a:solidFill>
              </a:rPr>
              <a:t>: 1 </a:t>
            </a:r>
            <a:r>
              <a:rPr lang="ko-KR" altLang="en-US">
                <a:solidFill>
                  <a:srgbClr val="000000"/>
                </a:solidFill>
              </a:rPr>
              <a:t>참조</a:t>
            </a:r>
          </a:p>
        </p:txBody>
      </p:sp>
      <p:sp>
        <p:nvSpPr>
          <p:cNvPr id="39944" name="TextBox 17">
            <a:extLst>
              <a:ext uri="{FF2B5EF4-FFF2-40B4-BE49-F238E27FC236}">
                <a16:creationId xmlns:a16="http://schemas.microsoft.com/office/drawing/2014/main" id="{A7439ADB-FE15-461A-E8F0-58DFE1293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3" y="3597275"/>
            <a:ext cx="1457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>
                <a:solidFill>
                  <a:srgbClr val="000000"/>
                </a:solidFill>
              </a:rPr>
              <a:t>첨부</a:t>
            </a:r>
            <a:r>
              <a:rPr lang="en-US" altLang="ko-KR">
                <a:solidFill>
                  <a:srgbClr val="000000"/>
                </a:solidFill>
              </a:rPr>
              <a:t>: 2 </a:t>
            </a:r>
            <a:r>
              <a:rPr lang="ko-KR" altLang="en-US">
                <a:solidFill>
                  <a:srgbClr val="000000"/>
                </a:solidFill>
              </a:rPr>
              <a:t>참조</a:t>
            </a:r>
          </a:p>
        </p:txBody>
      </p:sp>
      <p:sp>
        <p:nvSpPr>
          <p:cNvPr id="39945" name="Rectangle 3">
            <a:extLst>
              <a:ext uri="{FF2B5EF4-FFF2-40B4-BE49-F238E27FC236}">
                <a16:creationId xmlns:a16="http://schemas.microsoft.com/office/drawing/2014/main" id="{26D3A596-DC88-2FFC-7C8D-394ACEAE3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39946" name="Rectangle 6">
            <a:extLst>
              <a:ext uri="{FF2B5EF4-FFF2-40B4-BE49-F238E27FC236}">
                <a16:creationId xmlns:a16="http://schemas.microsoft.com/office/drawing/2014/main" id="{16CC6322-C2A9-027E-6206-FFD9011E4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r>
              <a:rPr lang="ko-KR" altLang="en-US" sz="1600">
                <a:solidFill>
                  <a:srgbClr val="000000"/>
                </a:solidFill>
                <a:latin typeface="Microsoft Sans Serif" panose="020B0604020202020204" pitchFamily="34" charset="0"/>
              </a:rPr>
              <a:t> </a:t>
            </a:r>
            <a:endParaRPr lang="en-US" altLang="ko-KR" sz="16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cxnSp>
        <p:nvCxnSpPr>
          <p:cNvPr id="39947" name="직선 화살표 연결선 5">
            <a:extLst>
              <a:ext uri="{FF2B5EF4-FFF2-40B4-BE49-F238E27FC236}">
                <a16:creationId xmlns:a16="http://schemas.microsoft.com/office/drawing/2014/main" id="{87C9D2BA-17D4-87B9-9F1A-8EBC917FE07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652713" y="2193925"/>
            <a:ext cx="847725" cy="574675"/>
          </a:xfrm>
          <a:prstGeom prst="straightConnector1">
            <a:avLst/>
          </a:prstGeom>
          <a:noFill/>
          <a:ln w="63500" cmpd="dbl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8" name="직선 화살표 연결선 35">
            <a:extLst>
              <a:ext uri="{FF2B5EF4-FFF2-40B4-BE49-F238E27FC236}">
                <a16:creationId xmlns:a16="http://schemas.microsoft.com/office/drawing/2014/main" id="{92DD45A2-4684-CB07-1960-9214FDC88B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28888" y="2362200"/>
            <a:ext cx="939800" cy="642938"/>
          </a:xfrm>
          <a:prstGeom prst="straightConnector1">
            <a:avLst/>
          </a:prstGeom>
          <a:noFill/>
          <a:ln w="63500" cmpd="dbl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9" name="Oval 3">
            <a:extLst>
              <a:ext uri="{FF2B5EF4-FFF2-40B4-BE49-F238E27FC236}">
                <a16:creationId xmlns:a16="http://schemas.microsoft.com/office/drawing/2014/main" id="{CFBA2CCC-3C7C-BE94-D805-AFFB2E573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3188" y="1284288"/>
            <a:ext cx="1168400" cy="1254125"/>
          </a:xfrm>
          <a:prstGeom prst="ellipse">
            <a:avLst/>
          </a:prstGeom>
          <a:gradFill rotWithShape="1">
            <a:gsLst>
              <a:gs pos="0">
                <a:srgbClr val="316BFD"/>
              </a:gs>
              <a:gs pos="100000">
                <a:schemeClr val="bg1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9950" name="TextBox 6">
            <a:extLst>
              <a:ext uri="{FF2B5EF4-FFF2-40B4-BE49-F238E27FC236}">
                <a16:creationId xmlns:a16="http://schemas.microsoft.com/office/drawing/2014/main" id="{D5ED13BB-2254-77F2-577F-03CAB97E4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1720850"/>
            <a:ext cx="882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>
                <a:solidFill>
                  <a:srgbClr val="000000"/>
                </a:solidFill>
              </a:rPr>
              <a:t>표 준</a:t>
            </a: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9951" name="Oval 3">
            <a:extLst>
              <a:ext uri="{FF2B5EF4-FFF2-40B4-BE49-F238E27FC236}">
                <a16:creationId xmlns:a16="http://schemas.microsoft.com/office/drawing/2014/main" id="{D8DB74EB-3C1B-D8E0-062C-4BF6F67A9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238" y="3898900"/>
            <a:ext cx="2225675" cy="2376488"/>
          </a:xfrm>
          <a:prstGeom prst="ellipse">
            <a:avLst/>
          </a:prstGeom>
          <a:gradFill rotWithShape="1">
            <a:gsLst>
              <a:gs pos="0">
                <a:srgbClr val="316BFD"/>
              </a:gs>
              <a:gs pos="100000">
                <a:schemeClr val="bg1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39952" name="TextBox 6">
            <a:extLst>
              <a:ext uri="{FF2B5EF4-FFF2-40B4-BE49-F238E27FC236}">
                <a16:creationId xmlns:a16="http://schemas.microsoft.com/office/drawing/2014/main" id="{E6AFA6CE-11DC-1B0D-71DA-07CBD0DDC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150" y="4333875"/>
            <a:ext cx="2224088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4400">
                <a:solidFill>
                  <a:srgbClr val="000000"/>
                </a:solidFill>
              </a:rPr>
              <a:t>기록서</a:t>
            </a:r>
            <a:endParaRPr lang="en-US" altLang="ko-KR" sz="4400">
              <a:solidFill>
                <a:srgbClr val="000000"/>
              </a:solidFill>
            </a:endParaRPr>
          </a:p>
          <a:p>
            <a:pPr algn="ctr"/>
            <a:r>
              <a:rPr lang="ko-KR" altLang="en-US" sz="2400">
                <a:solidFill>
                  <a:srgbClr val="000000"/>
                </a:solidFill>
              </a:rPr>
              <a:t>관리대장</a:t>
            </a:r>
            <a:r>
              <a:rPr lang="en-US" altLang="ko-KR" sz="2400">
                <a:solidFill>
                  <a:srgbClr val="000000"/>
                </a:solidFill>
              </a:rPr>
              <a:t>/ </a:t>
            </a:r>
            <a:r>
              <a:rPr lang="ko-KR" altLang="en-US" sz="2400">
                <a:solidFill>
                  <a:srgbClr val="000000"/>
                </a:solidFill>
              </a:rPr>
              <a:t>기록서</a:t>
            </a:r>
            <a:endParaRPr lang="en-US" altLang="ko-KR" sz="2400">
              <a:solidFill>
                <a:srgbClr val="000000"/>
              </a:solidFill>
            </a:endParaRPr>
          </a:p>
        </p:txBody>
      </p:sp>
      <p:cxnSp>
        <p:nvCxnSpPr>
          <p:cNvPr id="39953" name="직선 화살표 연결선 5">
            <a:extLst>
              <a:ext uri="{FF2B5EF4-FFF2-40B4-BE49-F238E27FC236}">
                <a16:creationId xmlns:a16="http://schemas.microsoft.com/office/drawing/2014/main" id="{2585B4DD-042D-5EDB-6E5B-187853258FF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203825" y="3946525"/>
            <a:ext cx="847725" cy="574675"/>
          </a:xfrm>
          <a:prstGeom prst="straightConnector1">
            <a:avLst/>
          </a:prstGeom>
          <a:noFill/>
          <a:ln w="63500" cmpd="dbl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4" name="직선 화살표 연결선 35">
            <a:extLst>
              <a:ext uri="{FF2B5EF4-FFF2-40B4-BE49-F238E27FC236}">
                <a16:creationId xmlns:a16="http://schemas.microsoft.com/office/drawing/2014/main" id="{113EA3CB-5482-7110-3D5A-E8DFECAB39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91113" y="4143375"/>
            <a:ext cx="939800" cy="642938"/>
          </a:xfrm>
          <a:prstGeom prst="straightConnector1">
            <a:avLst/>
          </a:prstGeom>
          <a:noFill/>
          <a:ln w="63500" cmpd="dbl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zoom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49D7911-1F75-EDAF-9201-56B946D99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FA2894-CD04-E443-C6D7-54E273690F5A}"/>
              </a:ext>
            </a:extLst>
          </p:cNvPr>
          <p:cNvSpPr/>
          <p:nvPr/>
        </p:nvSpPr>
        <p:spPr>
          <a:xfrm>
            <a:off x="7938" y="0"/>
            <a:ext cx="193357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964" name="TextBox 4">
            <a:extLst>
              <a:ext uri="{FF2B5EF4-FFF2-40B4-BE49-F238E27FC236}">
                <a16:creationId xmlns:a16="http://schemas.microsoft.com/office/drawing/2014/main" id="{2D020092-5319-A135-56F4-B9E5D868C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27860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ko-KR" altLang="en-US" sz="4000" dirty="0"/>
              <a:t>품질 경영 시스템 이란</a:t>
            </a:r>
            <a:r>
              <a:rPr lang="en-US" altLang="ko-KR" sz="4000" dirty="0"/>
              <a:t>?</a:t>
            </a:r>
            <a:r>
              <a:rPr lang="ko-KR" altLang="en-US" sz="4000" dirty="0"/>
              <a:t> 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경영에 관한 것이다</a:t>
            </a:r>
            <a:r>
              <a:rPr lang="en-US" altLang="ko-KR" dirty="0"/>
              <a:t>. (</a:t>
            </a:r>
            <a:r>
              <a:rPr lang="ko-KR" altLang="en-US" dirty="0"/>
              <a:t>품질은 후 순위이다</a:t>
            </a:r>
            <a:r>
              <a:rPr lang="en-US" altLang="ko-KR" dirty="0"/>
              <a:t>)</a:t>
            </a:r>
          </a:p>
          <a:p>
            <a:pPr marL="0" indent="0">
              <a:spcBef>
                <a:spcPct val="50000"/>
              </a:spcBef>
              <a:defRPr/>
            </a:pPr>
            <a:r>
              <a:rPr lang="en-US" altLang="ko-KR" dirty="0"/>
              <a:t> 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품질은 경영의 결과물이다</a:t>
            </a:r>
            <a:r>
              <a:rPr lang="en-US" altLang="ko-KR" dirty="0"/>
              <a:t>. (</a:t>
            </a:r>
            <a:r>
              <a:rPr lang="ko-KR" altLang="en-US" dirty="0"/>
              <a:t>품질 집중은 일시적이다</a:t>
            </a:r>
            <a:r>
              <a:rPr lang="en-US" altLang="ko-KR" dirty="0"/>
              <a:t>)</a:t>
            </a:r>
          </a:p>
          <a:p>
            <a:pPr marL="0" indent="0">
              <a:spcBef>
                <a:spcPct val="50000"/>
              </a:spcBef>
              <a:defRPr/>
            </a:pPr>
            <a:r>
              <a:rPr lang="ko-KR" altLang="en-US" dirty="0"/>
              <a:t> 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경영에 품질을 입혀야 한다</a:t>
            </a:r>
            <a:endParaRPr lang="en-US" altLang="ko-KR" dirty="0"/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E4A3A11D-CF3B-2D11-026E-BB05A8ECB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53420C9D-CFBB-9EC9-80FF-112CDC210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325341D-1C39-8011-739E-EBF3AC8EA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3E25FF-F4AE-BF94-8BF7-2F6B8B97C5A5}"/>
              </a:ext>
            </a:extLst>
          </p:cNvPr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2E6A91B-DDE8-5AA5-3EA8-8971588D4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1989" name="Rectangle 6">
            <a:extLst>
              <a:ext uri="{FF2B5EF4-FFF2-40B4-BE49-F238E27FC236}">
                <a16:creationId xmlns:a16="http://schemas.microsoft.com/office/drawing/2014/main" id="{07F0AAE8-5165-50A8-CB1D-59C4DAD80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41990" name="TextBox 4">
            <a:extLst>
              <a:ext uri="{FF2B5EF4-FFF2-40B4-BE49-F238E27FC236}">
                <a16:creationId xmlns:a16="http://schemas.microsoft.com/office/drawing/2014/main" id="{E8249B6C-F844-1CF2-C74F-88658BD54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438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QMS (Quality Management System) </a:t>
            </a:r>
            <a:r>
              <a:rPr lang="ko-KR" altLang="en-US"/>
              <a:t>란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1. </a:t>
            </a:r>
            <a:r>
              <a:rPr lang="ko-KR" altLang="en-US"/>
              <a:t>시스템을 수립해서</a:t>
            </a:r>
            <a:r>
              <a:rPr lang="en-US" altLang="ko-KR"/>
              <a:t> </a:t>
            </a:r>
            <a:r>
              <a:rPr lang="ko-KR" altLang="en-US"/>
              <a:t>관리 및 경영하라는 것이다</a:t>
            </a:r>
            <a:r>
              <a:rPr lang="en-US" altLang="ko-KR"/>
              <a:t>.</a:t>
            </a:r>
          </a:p>
          <a:p>
            <a:pPr>
              <a:spcBef>
                <a:spcPct val="50000"/>
              </a:spcBef>
            </a:pPr>
            <a:r>
              <a:rPr lang="en-US" altLang="ko-KR"/>
              <a:t>2. </a:t>
            </a:r>
            <a:r>
              <a:rPr lang="ko-KR" altLang="en-US"/>
              <a:t>시스템이란 다양한 프로세스들의 조합이다</a:t>
            </a:r>
            <a:r>
              <a:rPr lang="en-US" altLang="ko-KR"/>
              <a:t> </a:t>
            </a:r>
          </a:p>
          <a:p>
            <a:pPr>
              <a:spcBef>
                <a:spcPct val="50000"/>
              </a:spcBef>
            </a:pPr>
            <a:r>
              <a:rPr lang="en-US" altLang="ko-KR"/>
              <a:t>3. </a:t>
            </a:r>
            <a:r>
              <a:rPr lang="ko-KR" altLang="en-US"/>
              <a:t>시스템을 수립한다는 것은 분야별 프로세스를 수립한다는 의미이다</a:t>
            </a:r>
            <a:r>
              <a:rPr lang="en-US" altLang="ko-KR"/>
              <a:t>.</a:t>
            </a:r>
          </a:p>
          <a:p>
            <a:pPr>
              <a:spcBef>
                <a:spcPct val="50000"/>
              </a:spcBef>
            </a:pPr>
            <a:r>
              <a:rPr lang="en-US" altLang="ko-KR"/>
              <a:t>4. </a:t>
            </a:r>
            <a:r>
              <a:rPr lang="ko-KR" altLang="en-US"/>
              <a:t>프로세스란 행위의 순서적인 조합이다</a:t>
            </a:r>
            <a:r>
              <a:rPr lang="en-US" altLang="ko-KR"/>
              <a:t>. </a:t>
            </a:r>
            <a:r>
              <a:rPr lang="ko-KR" altLang="en-US"/>
              <a:t>참조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5. </a:t>
            </a:r>
            <a:r>
              <a:rPr lang="ko-KR" altLang="en-US"/>
              <a:t>다양한 프로세스를 관리하는 것을 품질 경영 시스템이라 한다</a:t>
            </a:r>
            <a:r>
              <a:rPr lang="en-US" altLang="ko-KR"/>
              <a:t> </a:t>
            </a:r>
          </a:p>
          <a:p>
            <a:pPr>
              <a:spcBef>
                <a:spcPct val="50000"/>
              </a:spcBef>
            </a:pPr>
            <a:r>
              <a:rPr lang="en-US" altLang="ko-KR"/>
              <a:t>6. </a:t>
            </a:r>
            <a:r>
              <a:rPr lang="ko-KR" altLang="en-US"/>
              <a:t>프로세스에는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ko-KR" altLang="en-US"/>
              <a:t> </a:t>
            </a:r>
            <a:r>
              <a:rPr lang="en-US" altLang="ko-KR"/>
              <a:t>- Main /</a:t>
            </a:r>
            <a:r>
              <a:rPr lang="ko-KR" altLang="en-US"/>
              <a:t> </a:t>
            </a:r>
            <a:r>
              <a:rPr lang="en-US" altLang="ko-KR"/>
              <a:t>core </a:t>
            </a:r>
            <a:r>
              <a:rPr lang="ko-KR" altLang="en-US"/>
              <a:t>프로세스 </a:t>
            </a:r>
            <a:r>
              <a:rPr lang="en-US" altLang="ko-KR"/>
              <a:t>(</a:t>
            </a:r>
            <a:r>
              <a:rPr lang="ko-KR" altLang="en-US"/>
              <a:t>영업</a:t>
            </a:r>
            <a:r>
              <a:rPr lang="en-US" altLang="ko-KR"/>
              <a:t>, </a:t>
            </a:r>
            <a:r>
              <a:rPr lang="ko-KR" altLang="en-US"/>
              <a:t>제품설계</a:t>
            </a:r>
            <a:r>
              <a:rPr lang="en-US" altLang="ko-KR"/>
              <a:t>, </a:t>
            </a:r>
            <a:r>
              <a:rPr lang="ko-KR" altLang="en-US"/>
              <a:t>공정설계</a:t>
            </a:r>
            <a:r>
              <a:rPr lang="en-US" altLang="ko-KR"/>
              <a:t>, </a:t>
            </a:r>
            <a:r>
              <a:rPr lang="ko-KR" altLang="en-US"/>
              <a:t>구매</a:t>
            </a:r>
            <a:r>
              <a:rPr lang="en-US" altLang="ko-KR"/>
              <a:t>,  </a:t>
            </a:r>
            <a:r>
              <a:rPr lang="ko-KR" altLang="en-US"/>
              <a:t>진행</a:t>
            </a:r>
            <a:r>
              <a:rPr lang="en-US" altLang="ko-KR"/>
              <a:t>, </a:t>
            </a:r>
            <a:r>
              <a:rPr lang="ko-KR" altLang="en-US"/>
              <a:t>생산</a:t>
            </a:r>
            <a:r>
              <a:rPr lang="en-US" altLang="ko-KR"/>
              <a:t>, </a:t>
            </a:r>
            <a:r>
              <a:rPr lang="ko-KR" altLang="en-US"/>
              <a:t>검사 및 납품</a:t>
            </a:r>
            <a:r>
              <a:rPr lang="en-US" altLang="ko-KR"/>
              <a:t>)  + </a:t>
            </a:r>
            <a:r>
              <a:rPr lang="ko-KR" altLang="en-US"/>
              <a:t>세부 프로세스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QMS </a:t>
            </a:r>
            <a:r>
              <a:rPr lang="ko-KR" altLang="en-US"/>
              <a:t>프로세스로 구성되어 있다</a:t>
            </a:r>
            <a:r>
              <a:rPr lang="en-US" altLang="ko-KR"/>
              <a:t>.</a:t>
            </a:r>
          </a:p>
          <a:p>
            <a:pPr>
              <a:spcBef>
                <a:spcPct val="50000"/>
              </a:spcBef>
            </a:pPr>
            <a:endParaRPr lang="ko-KR" altLang="en-US"/>
          </a:p>
        </p:txBody>
      </p:sp>
    </p:spTree>
  </p:cSld>
  <p:clrMapOvr>
    <a:masterClrMapping/>
  </p:clrMapOvr>
  <p:transition>
    <p:zoom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0B9901C-2FD8-DBFE-DC12-2EC35C037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AAD2F3-BD6E-F4DC-B04F-B1125BED6751}"/>
              </a:ext>
            </a:extLst>
          </p:cNvPr>
          <p:cNvSpPr/>
          <p:nvPr/>
        </p:nvSpPr>
        <p:spPr>
          <a:xfrm>
            <a:off x="7938" y="0"/>
            <a:ext cx="193357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8EC2E07B-63E3-71F7-7E38-C4154A58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3013" name="Rectangle 6">
            <a:extLst>
              <a:ext uri="{FF2B5EF4-FFF2-40B4-BE49-F238E27FC236}">
                <a16:creationId xmlns:a16="http://schemas.microsoft.com/office/drawing/2014/main" id="{64A8D25F-4B6E-5F03-766C-E9BEDF0F7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43014" name="AutoShape 17">
            <a:extLst>
              <a:ext uri="{FF2B5EF4-FFF2-40B4-BE49-F238E27FC236}">
                <a16:creationId xmlns:a16="http://schemas.microsoft.com/office/drawing/2014/main" id="{4AB87F5F-3FD6-B489-C5B5-4F05DF7B1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6525" y="3771900"/>
            <a:ext cx="2413000" cy="860425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43015" name="TextBox 4">
            <a:extLst>
              <a:ext uri="{FF2B5EF4-FFF2-40B4-BE49-F238E27FC236}">
                <a16:creationId xmlns:a16="http://schemas.microsoft.com/office/drawing/2014/main" id="{50227BED-9640-317B-424C-4A33A0EC1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ko-KR" altLang="en-US"/>
              <a:t>품질 경영 시스템 주요 항목</a:t>
            </a:r>
            <a:r>
              <a:rPr lang="en-US" altLang="ko-KR"/>
              <a:t>?  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경영환경 분석</a:t>
            </a:r>
            <a:r>
              <a:rPr lang="en-US" altLang="ko-KR"/>
              <a:t>, </a:t>
            </a:r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기회 </a:t>
            </a:r>
            <a:r>
              <a:rPr lang="en-US" altLang="ko-KR"/>
              <a:t>/ </a:t>
            </a:r>
            <a:r>
              <a:rPr lang="ko-KR" altLang="en-US"/>
              <a:t>리스크 인식</a:t>
            </a:r>
            <a:endParaRPr lang="en-US" altLang="ko-KR"/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리스크 분석</a:t>
            </a:r>
            <a:r>
              <a:rPr lang="en-US" altLang="ko-KR"/>
              <a:t>, </a:t>
            </a:r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리스크 인식</a:t>
            </a:r>
            <a:endParaRPr lang="en-US" altLang="ko-KR"/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프로세스 결정</a:t>
            </a:r>
            <a:endParaRPr lang="en-US" altLang="ko-KR"/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작업 공정들 정리</a:t>
            </a:r>
            <a:r>
              <a:rPr lang="en-US" altLang="ko-KR"/>
              <a:t>, </a:t>
            </a:r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절차</a:t>
            </a:r>
            <a:endParaRPr lang="en-US" altLang="ko-KR"/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작업 결과들 기록</a:t>
            </a:r>
            <a:r>
              <a:rPr lang="en-US" altLang="ko-KR"/>
              <a:t>, </a:t>
            </a:r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기록</a:t>
            </a:r>
            <a:endParaRPr lang="en-US" altLang="ko-KR"/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내부 심사</a:t>
            </a:r>
            <a:r>
              <a:rPr lang="en-US" altLang="ko-KR"/>
              <a:t>, </a:t>
            </a:r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문제점 인식</a:t>
            </a:r>
            <a:endParaRPr lang="en-US" altLang="ko-KR"/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경영검토</a:t>
            </a:r>
            <a:r>
              <a:rPr lang="en-US" altLang="ko-KR"/>
              <a:t>, </a:t>
            </a:r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레벨 업 기회</a:t>
            </a:r>
            <a:endParaRPr lang="en-US" altLang="ko-KR"/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시정조치</a:t>
            </a:r>
            <a:r>
              <a:rPr lang="en-US" altLang="ko-KR"/>
              <a:t>, </a:t>
            </a:r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향상 혹은 개선</a:t>
            </a:r>
            <a:endParaRPr lang="en-US" altLang="ko-KR"/>
          </a:p>
        </p:txBody>
      </p:sp>
      <p:sp>
        <p:nvSpPr>
          <p:cNvPr id="43016" name="AutoShape 17">
            <a:extLst>
              <a:ext uri="{FF2B5EF4-FFF2-40B4-BE49-F238E27FC236}">
                <a16:creationId xmlns:a16="http://schemas.microsoft.com/office/drawing/2014/main" id="{8E19EDE8-01CD-AEAF-E959-583994F03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6525" y="3267075"/>
            <a:ext cx="2413000" cy="860425"/>
          </a:xfrm>
          <a:prstGeom prst="triangle">
            <a:avLst>
              <a:gd name="adj" fmla="val 50000"/>
            </a:avLst>
          </a:prstGeom>
          <a:solidFill>
            <a:srgbClr val="FFFF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43017" name="AutoShape 16">
            <a:extLst>
              <a:ext uri="{FF2B5EF4-FFF2-40B4-BE49-F238E27FC236}">
                <a16:creationId xmlns:a16="http://schemas.microsoft.com/office/drawing/2014/main" id="{804A795E-1881-6AD5-8219-8E34A9196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2747963"/>
            <a:ext cx="2159000" cy="860425"/>
          </a:xfrm>
          <a:prstGeom prst="triangle">
            <a:avLst>
              <a:gd name="adj" fmla="val 50000"/>
            </a:avLst>
          </a:prstGeom>
          <a:solidFill>
            <a:srgbClr val="CCFFCC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43018" name="AutoShape 15">
            <a:extLst>
              <a:ext uri="{FF2B5EF4-FFF2-40B4-BE49-F238E27FC236}">
                <a16:creationId xmlns:a16="http://schemas.microsoft.com/office/drawing/2014/main" id="{0A5E237F-62FD-6171-D0ED-03A4A2A6B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525" y="2390775"/>
            <a:ext cx="1651000" cy="688975"/>
          </a:xfrm>
          <a:prstGeom prst="triangle">
            <a:avLst>
              <a:gd name="adj" fmla="val 50000"/>
            </a:avLst>
          </a:prstGeom>
          <a:solidFill>
            <a:srgbClr val="CC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43019" name="Text Box 14">
            <a:extLst>
              <a:ext uri="{FF2B5EF4-FFF2-40B4-BE49-F238E27FC236}">
                <a16:creationId xmlns:a16="http://schemas.microsoft.com/office/drawing/2014/main" id="{EC57AE25-65E0-1BA7-79E9-35F6F147D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525" y="2747963"/>
            <a:ext cx="10160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000">
                <a:latin typeface="Times New Roman" panose="02020603050405020304" pitchFamily="18" charset="0"/>
                <a:cs typeface="Times New Roman" panose="02020603050405020304" pitchFamily="18" charset="0"/>
              </a:rPr>
              <a:t>QMS Manual</a:t>
            </a:r>
            <a:endParaRPr lang="en-US" altLang="ko-KR"/>
          </a:p>
        </p:txBody>
      </p:sp>
      <p:sp>
        <p:nvSpPr>
          <p:cNvPr id="43020" name="Text Box 13">
            <a:extLst>
              <a:ext uri="{FF2B5EF4-FFF2-40B4-BE49-F238E27FC236}">
                <a16:creationId xmlns:a16="http://schemas.microsoft.com/office/drawing/2014/main" id="{2595E430-C5D4-CBDC-18CD-538134E45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525" y="3267075"/>
            <a:ext cx="10160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000">
                <a:latin typeface="Times New Roman" panose="02020603050405020304" pitchFamily="18" charset="0"/>
                <a:cs typeface="Times New Roman" panose="02020603050405020304" pitchFamily="18" charset="0"/>
              </a:rPr>
              <a:t>QMS Process</a:t>
            </a:r>
            <a:endParaRPr lang="en-US" altLang="ko-KR"/>
          </a:p>
        </p:txBody>
      </p:sp>
      <p:sp>
        <p:nvSpPr>
          <p:cNvPr id="43021" name="Text Box 12">
            <a:extLst>
              <a:ext uri="{FF2B5EF4-FFF2-40B4-BE49-F238E27FC236}">
                <a16:creationId xmlns:a16="http://schemas.microsoft.com/office/drawing/2014/main" id="{0768653A-7097-367A-D64D-008713E10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3752850"/>
            <a:ext cx="16510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000">
                <a:latin typeface="Times New Roman" panose="02020603050405020304" pitchFamily="18" charset="0"/>
                <a:cs typeface="Times New Roman" panose="02020603050405020304" pitchFamily="18" charset="0"/>
              </a:rPr>
              <a:t>QMS Instruction</a:t>
            </a:r>
            <a:endParaRPr lang="en-US" altLang="ko-KR"/>
          </a:p>
        </p:txBody>
      </p:sp>
      <p:sp>
        <p:nvSpPr>
          <p:cNvPr id="43022" name="Text Box 11">
            <a:extLst>
              <a:ext uri="{FF2B5EF4-FFF2-40B4-BE49-F238E27FC236}">
                <a16:creationId xmlns:a16="http://schemas.microsoft.com/office/drawing/2014/main" id="{AA56325A-4956-88AC-9349-2B7D03FAF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525" y="1038225"/>
            <a:ext cx="1587500" cy="515938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endParaRPr lang="en-US" altLang="ko-KR" sz="600"/>
          </a:p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US" altLang="ko-KR"/>
          </a:p>
        </p:txBody>
      </p:sp>
      <p:sp>
        <p:nvSpPr>
          <p:cNvPr id="43023" name="Text Box 10">
            <a:extLst>
              <a:ext uri="{FF2B5EF4-FFF2-40B4-BE49-F238E27FC236}">
                <a16:creationId xmlns:a16="http://schemas.microsoft.com/office/drawing/2014/main" id="{99ABABFE-96B9-F6E7-7DCC-AD483A2E6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7525" y="1038225"/>
            <a:ext cx="1651000" cy="515938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AS9100 requirements</a:t>
            </a:r>
            <a:endParaRPr lang="en-US" altLang="ko-KR"/>
          </a:p>
        </p:txBody>
      </p:sp>
      <p:sp>
        <p:nvSpPr>
          <p:cNvPr id="43024" name="Text Box 9">
            <a:extLst>
              <a:ext uri="{FF2B5EF4-FFF2-40B4-BE49-F238E27FC236}">
                <a16:creationId xmlns:a16="http://schemas.microsoft.com/office/drawing/2014/main" id="{8830345F-66DE-B1CA-5C47-E0132359E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025" y="1038225"/>
            <a:ext cx="1587500" cy="515938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endParaRPr lang="en-US" altLang="ko-KR" sz="600"/>
          </a:p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endParaRPr lang="en-US" altLang="ko-KR"/>
          </a:p>
        </p:txBody>
      </p:sp>
      <p:sp>
        <p:nvSpPr>
          <p:cNvPr id="43025" name="Line 8">
            <a:extLst>
              <a:ext uri="{FF2B5EF4-FFF2-40B4-BE49-F238E27FC236}">
                <a16:creationId xmlns:a16="http://schemas.microsoft.com/office/drawing/2014/main" id="{AD610943-83A8-A614-1B16-AD98732583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025" y="2212975"/>
            <a:ext cx="368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026" name="Line 7">
            <a:extLst>
              <a:ext uri="{FF2B5EF4-FFF2-40B4-BE49-F238E27FC236}">
                <a16:creationId xmlns:a16="http://schemas.microsoft.com/office/drawing/2014/main" id="{9CD827E1-B9ED-AA3A-2097-ADD52A4AB7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01025" y="1849438"/>
            <a:ext cx="0" cy="344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027" name="Line 6">
            <a:extLst>
              <a:ext uri="{FF2B5EF4-FFF2-40B4-BE49-F238E27FC236}">
                <a16:creationId xmlns:a16="http://schemas.microsoft.com/office/drawing/2014/main" id="{715D0589-4EE7-B551-8DC5-AEF4274B95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23025" y="1849438"/>
            <a:ext cx="0" cy="344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028" name="Line 5">
            <a:extLst>
              <a:ext uri="{FF2B5EF4-FFF2-40B4-BE49-F238E27FC236}">
                <a16:creationId xmlns:a16="http://schemas.microsoft.com/office/drawing/2014/main" id="{A1057EB8-BA95-CEE0-E7C9-67F28F1B6C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8025" y="1849438"/>
            <a:ext cx="0" cy="344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029" name="Line 1">
            <a:extLst>
              <a:ext uri="{FF2B5EF4-FFF2-40B4-BE49-F238E27FC236}">
                <a16:creationId xmlns:a16="http://schemas.microsoft.com/office/drawing/2014/main" id="{28DB97F1-73F9-5078-39A6-FB211197D1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30500" y="1382713"/>
            <a:ext cx="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030" name="Text Box 12">
            <a:extLst>
              <a:ext uri="{FF2B5EF4-FFF2-40B4-BE49-F238E27FC236}">
                <a16:creationId xmlns:a16="http://schemas.microsoft.com/office/drawing/2014/main" id="{7D8D4D6D-BD01-BAC9-723D-BCB4B5AAE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4257675"/>
            <a:ext cx="16510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Records/ Evidence</a:t>
            </a:r>
          </a:p>
        </p:txBody>
      </p:sp>
    </p:spTree>
  </p:cSld>
  <p:clrMapOvr>
    <a:masterClrMapping/>
  </p:clrMapOvr>
  <p:transition>
    <p:zoom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F6814AF-8153-60B9-6FFE-A82B4E633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B61BA0-0922-5BC5-A561-82B628414832}"/>
              </a:ext>
            </a:extLst>
          </p:cNvPr>
          <p:cNvSpPr/>
          <p:nvPr/>
        </p:nvSpPr>
        <p:spPr>
          <a:xfrm>
            <a:off x="7938" y="0"/>
            <a:ext cx="193357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0C3A43C-0F50-C5C2-E717-2331EB5D8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4037" name="Rectangle 6">
            <a:extLst>
              <a:ext uri="{FF2B5EF4-FFF2-40B4-BE49-F238E27FC236}">
                <a16:creationId xmlns:a16="http://schemas.microsoft.com/office/drawing/2014/main" id="{155FA350-8ECF-3C79-0219-F609389C8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8BF39C12-F79F-E3F5-4B39-9CC18A3B6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2862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ko-KR" altLang="en-US" dirty="0"/>
              <a:t>시스템 적용 목적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경영 목적 달성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품질 향상</a:t>
            </a:r>
            <a:r>
              <a:rPr lang="en-US" altLang="ko-KR" dirty="0"/>
              <a:t>(</a:t>
            </a:r>
            <a:r>
              <a:rPr lang="ko-KR" altLang="en-US" dirty="0"/>
              <a:t>무 결함</a:t>
            </a:r>
            <a:r>
              <a:rPr lang="en-US" altLang="ko-KR" dirty="0"/>
              <a:t>)</a:t>
            </a:r>
            <a:endParaRPr lang="ko-KR" altLang="en-US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생산성 향상</a:t>
            </a:r>
            <a:r>
              <a:rPr lang="en-US" altLang="ko-KR" dirty="0"/>
              <a:t>(Lead time </a:t>
            </a:r>
            <a:r>
              <a:rPr lang="ko-KR" altLang="en-US" dirty="0" err="1"/>
              <a:t>단축등</a:t>
            </a:r>
            <a:r>
              <a:rPr lang="en-US" altLang="ko-KR" dirty="0"/>
              <a:t>)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고객 만족 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>
                <a:solidFill>
                  <a:srgbClr val="0348F3"/>
                </a:solidFill>
              </a:rPr>
              <a:t>사업 기회 창출</a:t>
            </a:r>
            <a:endParaRPr lang="en-US" altLang="ko-KR" dirty="0">
              <a:solidFill>
                <a:srgbClr val="0348F3"/>
              </a:solidFill>
            </a:endParaRPr>
          </a:p>
          <a:p>
            <a:pPr marL="0" indent="0">
              <a:spcBef>
                <a:spcPct val="50000"/>
              </a:spcBef>
              <a:defRPr/>
            </a:pPr>
            <a:endParaRPr lang="en-US" altLang="ko-KR" dirty="0"/>
          </a:p>
        </p:txBody>
      </p:sp>
    </p:spTree>
  </p:cSld>
  <p:clrMapOvr>
    <a:masterClrMapping/>
  </p:clrMapOvr>
  <p:transition>
    <p:zoom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6084E78-4431-E757-2209-DD3609401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6EBB7A3-E4FA-29B9-4A16-4C177D5A646B}"/>
              </a:ext>
            </a:extLst>
          </p:cNvPr>
          <p:cNvSpPr/>
          <p:nvPr/>
        </p:nvSpPr>
        <p:spPr>
          <a:xfrm>
            <a:off x="7938" y="0"/>
            <a:ext cx="1697037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프로세스란 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75D9C26-E7D8-48D2-1DDB-63113B465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5061" name="Rectangle 6">
            <a:extLst>
              <a:ext uri="{FF2B5EF4-FFF2-40B4-BE49-F238E27FC236}">
                <a16:creationId xmlns:a16="http://schemas.microsoft.com/office/drawing/2014/main" id="{401D6CB9-6B6D-AD76-7F47-6A586E37C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45062" name="TextBox 5">
            <a:extLst>
              <a:ext uri="{FF2B5EF4-FFF2-40B4-BE49-F238E27FC236}">
                <a16:creationId xmlns:a16="http://schemas.microsoft.com/office/drawing/2014/main" id="{A7608B70-20B6-0157-5C2C-084A58B76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2097088"/>
            <a:ext cx="1800225" cy="3698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투입</a:t>
            </a:r>
            <a:r>
              <a:rPr lang="en-US" altLang="ko-KR"/>
              <a:t>, Input</a:t>
            </a:r>
            <a:endParaRPr lang="ko-KR" altLang="en-US"/>
          </a:p>
        </p:txBody>
      </p:sp>
      <p:sp>
        <p:nvSpPr>
          <p:cNvPr id="9" name="덧셈 기호 8">
            <a:extLst>
              <a:ext uri="{FF2B5EF4-FFF2-40B4-BE49-F238E27FC236}">
                <a16:creationId xmlns:a16="http://schemas.microsoft.com/office/drawing/2014/main" id="{4563FFC8-65BD-3636-9A0B-F06E5FDC211D}"/>
              </a:ext>
            </a:extLst>
          </p:cNvPr>
          <p:cNvSpPr/>
          <p:nvPr/>
        </p:nvSpPr>
        <p:spPr bwMode="auto">
          <a:xfrm>
            <a:off x="2628900" y="1993900"/>
            <a:ext cx="504825" cy="576263"/>
          </a:xfrm>
          <a:prstGeom prst="mathPlus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762000" eaLnBrk="1" latinLnBrk="1" hangingPunct="1">
              <a:lnSpc>
                <a:spcPct val="110000"/>
              </a:lnSpc>
              <a:spcBef>
                <a:spcPct val="50000"/>
              </a:spcBef>
              <a:defRPr/>
            </a:pPr>
            <a:endParaRPr lang="ko-KR" altLang="en-US"/>
          </a:p>
        </p:txBody>
      </p:sp>
      <p:sp>
        <p:nvSpPr>
          <p:cNvPr id="45064" name="TextBox 14">
            <a:extLst>
              <a:ext uri="{FF2B5EF4-FFF2-40B4-BE49-F238E27FC236}">
                <a16:creationId xmlns:a16="http://schemas.microsoft.com/office/drawing/2014/main" id="{44E26B7B-A772-6981-AEBD-9CBBB384F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8838" y="2101850"/>
            <a:ext cx="1800225" cy="368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투입물 </a:t>
            </a:r>
            <a:r>
              <a:rPr lang="en-US" altLang="ko-KR"/>
              <a:t>+ </a:t>
            </a:r>
            <a:r>
              <a:rPr lang="ko-KR" altLang="en-US"/>
              <a:t>행위</a:t>
            </a:r>
          </a:p>
        </p:txBody>
      </p:sp>
      <p:sp>
        <p:nvSpPr>
          <p:cNvPr id="11" name="등호 10">
            <a:extLst>
              <a:ext uri="{FF2B5EF4-FFF2-40B4-BE49-F238E27FC236}">
                <a16:creationId xmlns:a16="http://schemas.microsoft.com/office/drawing/2014/main" id="{67AF73C0-B2D6-ED8E-DF43-7CA25DB4DB81}"/>
              </a:ext>
            </a:extLst>
          </p:cNvPr>
          <p:cNvSpPr/>
          <p:nvPr/>
        </p:nvSpPr>
        <p:spPr bwMode="auto">
          <a:xfrm>
            <a:off x="5416550" y="2087563"/>
            <a:ext cx="576263" cy="355600"/>
          </a:xfrm>
          <a:prstGeom prst="mathEqual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762000" eaLnBrk="1" latinLnBrk="1" hangingPunct="1">
              <a:lnSpc>
                <a:spcPct val="110000"/>
              </a:lnSpc>
              <a:spcBef>
                <a:spcPct val="50000"/>
              </a:spcBef>
              <a:defRPr/>
            </a:pPr>
            <a:endParaRPr lang="ko-KR" altLang="en-US"/>
          </a:p>
        </p:txBody>
      </p:sp>
      <p:sp>
        <p:nvSpPr>
          <p:cNvPr id="45066" name="TextBox 16">
            <a:extLst>
              <a:ext uri="{FF2B5EF4-FFF2-40B4-BE49-F238E27FC236}">
                <a16:creationId xmlns:a16="http://schemas.microsoft.com/office/drawing/2014/main" id="{46D4FC6F-96E4-648F-B34D-82DCF3C30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5" y="2097088"/>
            <a:ext cx="1800225" cy="3698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산출</a:t>
            </a:r>
            <a:r>
              <a:rPr lang="en-US" altLang="ko-KR"/>
              <a:t>, Output</a:t>
            </a:r>
            <a:endParaRPr lang="ko-KR" altLang="en-US"/>
          </a:p>
        </p:txBody>
      </p:sp>
      <p:sp>
        <p:nvSpPr>
          <p:cNvPr id="45067" name="TextBox 17">
            <a:extLst>
              <a:ext uri="{FF2B5EF4-FFF2-40B4-BE49-F238E27FC236}">
                <a16:creationId xmlns:a16="http://schemas.microsoft.com/office/drawing/2014/main" id="{2D55143B-0214-4F51-29A7-85C876A45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588" y="4460875"/>
            <a:ext cx="1800225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투입물 </a:t>
            </a:r>
            <a:r>
              <a:rPr lang="en-US" altLang="ko-KR"/>
              <a:t>4</a:t>
            </a:r>
            <a:r>
              <a:rPr lang="ko-KR" altLang="en-US"/>
              <a:t> </a:t>
            </a:r>
            <a:r>
              <a:rPr lang="en-US" altLang="ko-KR"/>
              <a:t>+ </a:t>
            </a:r>
            <a:r>
              <a:rPr lang="ko-KR" altLang="en-US"/>
              <a:t>행위</a:t>
            </a:r>
          </a:p>
        </p:txBody>
      </p:sp>
      <p:sp>
        <p:nvSpPr>
          <p:cNvPr id="45068" name="TextBox 18">
            <a:extLst>
              <a:ext uri="{FF2B5EF4-FFF2-40B4-BE49-F238E27FC236}">
                <a16:creationId xmlns:a16="http://schemas.microsoft.com/office/drawing/2014/main" id="{1230840B-E0C5-F613-CFD9-CE509FF00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675" y="3024188"/>
            <a:ext cx="1800225" cy="3698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투입물 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+ </a:t>
            </a:r>
            <a:r>
              <a:rPr lang="ko-KR" altLang="en-US"/>
              <a:t>행위</a:t>
            </a:r>
          </a:p>
        </p:txBody>
      </p:sp>
      <p:sp>
        <p:nvSpPr>
          <p:cNvPr id="45069" name="TextBox 19">
            <a:extLst>
              <a:ext uri="{FF2B5EF4-FFF2-40B4-BE49-F238E27FC236}">
                <a16:creationId xmlns:a16="http://schemas.microsoft.com/office/drawing/2014/main" id="{FD8F99CD-9A4F-E143-71DD-EDC4A6E00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3725" y="3494088"/>
            <a:ext cx="1800225" cy="368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투입물 </a:t>
            </a:r>
            <a:r>
              <a:rPr lang="en-US" altLang="ko-KR"/>
              <a:t>2</a:t>
            </a:r>
            <a:r>
              <a:rPr lang="ko-KR" altLang="en-US"/>
              <a:t> </a:t>
            </a:r>
            <a:r>
              <a:rPr lang="en-US" altLang="ko-KR"/>
              <a:t>+ </a:t>
            </a:r>
            <a:r>
              <a:rPr lang="ko-KR" altLang="en-US"/>
              <a:t>행위</a:t>
            </a:r>
          </a:p>
        </p:txBody>
      </p:sp>
      <p:sp>
        <p:nvSpPr>
          <p:cNvPr id="45070" name="TextBox 20">
            <a:extLst>
              <a:ext uri="{FF2B5EF4-FFF2-40B4-BE49-F238E27FC236}">
                <a16:creationId xmlns:a16="http://schemas.microsoft.com/office/drawing/2014/main" id="{8AA68E93-AEF9-4DF9-DD29-8903B0C07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4425" y="3957638"/>
            <a:ext cx="1800225" cy="368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투입물 </a:t>
            </a:r>
            <a:r>
              <a:rPr lang="en-US" altLang="ko-KR"/>
              <a:t>3</a:t>
            </a:r>
            <a:r>
              <a:rPr lang="ko-KR" altLang="en-US"/>
              <a:t> </a:t>
            </a:r>
            <a:r>
              <a:rPr lang="en-US" altLang="ko-KR"/>
              <a:t>+ </a:t>
            </a:r>
            <a:r>
              <a:rPr lang="ko-KR" altLang="en-US"/>
              <a:t>행위</a:t>
            </a:r>
          </a:p>
        </p:txBody>
      </p:sp>
      <p:sp>
        <p:nvSpPr>
          <p:cNvPr id="45071" name="TextBox 21">
            <a:extLst>
              <a:ext uri="{FF2B5EF4-FFF2-40B4-BE49-F238E27FC236}">
                <a16:creationId xmlns:a16="http://schemas.microsoft.com/office/drawing/2014/main" id="{52CCD1D7-3687-7BA1-D5E6-66E8CCF85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3765550"/>
            <a:ext cx="1800225" cy="368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투입</a:t>
            </a:r>
            <a:r>
              <a:rPr lang="en-US" altLang="ko-KR"/>
              <a:t>, Input</a:t>
            </a:r>
            <a:endParaRPr lang="ko-KR" altLang="en-US"/>
          </a:p>
        </p:txBody>
      </p:sp>
      <p:sp>
        <p:nvSpPr>
          <p:cNvPr id="18" name="덧셈 기호 17">
            <a:extLst>
              <a:ext uri="{FF2B5EF4-FFF2-40B4-BE49-F238E27FC236}">
                <a16:creationId xmlns:a16="http://schemas.microsoft.com/office/drawing/2014/main" id="{652E20FF-5CC4-F16B-7A18-69E423F18206}"/>
              </a:ext>
            </a:extLst>
          </p:cNvPr>
          <p:cNvSpPr/>
          <p:nvPr/>
        </p:nvSpPr>
        <p:spPr bwMode="auto">
          <a:xfrm>
            <a:off x="2376488" y="3660775"/>
            <a:ext cx="504825" cy="576263"/>
          </a:xfrm>
          <a:prstGeom prst="mathPlus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762000" eaLnBrk="1" latinLnBrk="1" hangingPunct="1">
              <a:lnSpc>
                <a:spcPct val="110000"/>
              </a:lnSpc>
              <a:spcBef>
                <a:spcPct val="50000"/>
              </a:spcBef>
              <a:defRPr/>
            </a:pPr>
            <a:endParaRPr lang="ko-KR" altLang="en-US"/>
          </a:p>
        </p:txBody>
      </p:sp>
      <p:sp>
        <p:nvSpPr>
          <p:cNvPr id="19" name="등호 18">
            <a:extLst>
              <a:ext uri="{FF2B5EF4-FFF2-40B4-BE49-F238E27FC236}">
                <a16:creationId xmlns:a16="http://schemas.microsoft.com/office/drawing/2014/main" id="{B2CFE44E-87AC-18F0-1810-C606F40F0212}"/>
              </a:ext>
            </a:extLst>
          </p:cNvPr>
          <p:cNvSpPr/>
          <p:nvPr/>
        </p:nvSpPr>
        <p:spPr bwMode="auto">
          <a:xfrm>
            <a:off x="6175375" y="3725863"/>
            <a:ext cx="576263" cy="355600"/>
          </a:xfrm>
          <a:prstGeom prst="mathEqual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762000" eaLnBrk="1" latinLnBrk="1" hangingPunct="1">
              <a:lnSpc>
                <a:spcPct val="110000"/>
              </a:lnSpc>
              <a:spcBef>
                <a:spcPct val="50000"/>
              </a:spcBef>
              <a:defRPr/>
            </a:pPr>
            <a:endParaRPr lang="ko-KR" altLang="en-US"/>
          </a:p>
        </p:txBody>
      </p:sp>
      <p:sp>
        <p:nvSpPr>
          <p:cNvPr id="45074" name="TextBox 24">
            <a:extLst>
              <a:ext uri="{FF2B5EF4-FFF2-40B4-BE49-F238E27FC236}">
                <a16:creationId xmlns:a16="http://schemas.microsoft.com/office/drawing/2014/main" id="{6F90AD91-3BFF-7609-D9CE-2E7BBA33F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350" y="3725863"/>
            <a:ext cx="1800225" cy="3698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/>
              <a:t>산출</a:t>
            </a:r>
            <a:r>
              <a:rPr lang="en-US" altLang="ko-KR"/>
              <a:t>, Output</a:t>
            </a:r>
            <a:endParaRPr lang="ko-KR" altLang="en-US"/>
          </a:p>
        </p:txBody>
      </p:sp>
      <p:sp>
        <p:nvSpPr>
          <p:cNvPr id="45075" name="TextBox 3">
            <a:extLst>
              <a:ext uri="{FF2B5EF4-FFF2-40B4-BE49-F238E27FC236}">
                <a16:creationId xmlns:a16="http://schemas.microsoft.com/office/drawing/2014/main" id="{8F5BEA35-095C-10B7-7C57-37C2CFD48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1468438"/>
            <a:ext cx="79803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/>
              <a:t>시작점 </a:t>
            </a:r>
            <a:r>
              <a:rPr lang="en-US" altLang="ko-KR"/>
              <a:t>~~~~~~~~~~~~~~~~~~~~~~~~~~~~~~~~~~~~~~~~~~~~~~ </a:t>
            </a:r>
            <a:r>
              <a:rPr lang="ko-KR" altLang="en-US"/>
              <a:t>끝점</a:t>
            </a:r>
          </a:p>
        </p:txBody>
      </p:sp>
      <p:sp>
        <p:nvSpPr>
          <p:cNvPr id="45076" name="TextBox 9">
            <a:extLst>
              <a:ext uri="{FF2B5EF4-FFF2-40B4-BE49-F238E27FC236}">
                <a16:creationId xmlns:a16="http://schemas.microsoft.com/office/drawing/2014/main" id="{FF3315CF-92D6-4051-BF39-F1162EB48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5024438"/>
            <a:ext cx="74866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/>
              <a:t>: </a:t>
            </a:r>
            <a:r>
              <a:rPr lang="ko-KR" altLang="en-US"/>
              <a:t>시작 </a:t>
            </a:r>
            <a:r>
              <a:rPr lang="en-US" altLang="ko-KR"/>
              <a:t>/ </a:t>
            </a:r>
            <a:r>
              <a:rPr lang="ko-KR" altLang="en-US"/>
              <a:t>끝점 사이에서 연속된 투입과 행위가 결합되면서 산출물을 완성해 가는 부가가치를 축적해 가는 과정이다</a:t>
            </a:r>
            <a:r>
              <a:rPr lang="en-US" altLang="ko-KR"/>
              <a:t>. </a:t>
            </a:r>
          </a:p>
          <a:p>
            <a:r>
              <a:rPr lang="en-US" altLang="ko-KR"/>
              <a:t>: </a:t>
            </a:r>
            <a:r>
              <a:rPr lang="ko-KR" altLang="en-US"/>
              <a:t>프로세스 맵</a:t>
            </a:r>
            <a:r>
              <a:rPr lang="en-US" altLang="ko-KR"/>
              <a:t>/ VSM (Value Stream Map)</a:t>
            </a:r>
            <a:r>
              <a:rPr lang="ko-KR" altLang="en-US"/>
              <a:t>을 그리는 과정</a:t>
            </a:r>
            <a:endParaRPr lang="en-US" altLang="ko-KR"/>
          </a:p>
          <a:p>
            <a:r>
              <a:rPr lang="en-US" altLang="ko-KR"/>
              <a:t>: </a:t>
            </a:r>
            <a:r>
              <a:rPr lang="ko-KR" altLang="en-US"/>
              <a:t>과정을 문서화하면 절차서</a:t>
            </a:r>
            <a:r>
              <a:rPr lang="en-US" altLang="ko-KR"/>
              <a:t>/ </a:t>
            </a:r>
            <a:r>
              <a:rPr lang="ko-KR" altLang="en-US"/>
              <a:t>지침서</a:t>
            </a:r>
          </a:p>
        </p:txBody>
      </p:sp>
      <p:sp>
        <p:nvSpPr>
          <p:cNvPr id="45077" name="TextBox 2">
            <a:extLst>
              <a:ext uri="{FF2B5EF4-FFF2-40B4-BE49-F238E27FC236}">
                <a16:creationId xmlns:a16="http://schemas.microsoft.com/office/drawing/2014/main" id="{380675B6-0B78-96AD-0740-7101C8C18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225" y="2770188"/>
            <a:ext cx="14684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400"/>
              <a:t>세부 프로세스</a:t>
            </a:r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45078" name="TextBox 24">
            <a:extLst>
              <a:ext uri="{FF2B5EF4-FFF2-40B4-BE49-F238E27FC236}">
                <a16:creationId xmlns:a16="http://schemas.microsoft.com/office/drawing/2014/main" id="{58733EC7-AEC0-17CD-93B4-8BA2C2E75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938" y="3178175"/>
            <a:ext cx="1668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400"/>
              <a:t>세부 프로세스</a:t>
            </a:r>
            <a:r>
              <a:rPr lang="en-US" altLang="ko-KR" sz="1400"/>
              <a:t>2</a:t>
            </a:r>
            <a:endParaRPr lang="ko-KR" altLang="en-US" sz="1400"/>
          </a:p>
        </p:txBody>
      </p:sp>
      <p:sp>
        <p:nvSpPr>
          <p:cNvPr id="45079" name="TextBox 26">
            <a:extLst>
              <a:ext uri="{FF2B5EF4-FFF2-40B4-BE49-F238E27FC236}">
                <a16:creationId xmlns:a16="http://schemas.microsoft.com/office/drawing/2014/main" id="{F4534D8A-D6A6-8DD4-4C13-9C7530E55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288" y="3602038"/>
            <a:ext cx="102711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400"/>
              <a:t>프로세스</a:t>
            </a:r>
            <a:r>
              <a:rPr lang="en-US" altLang="ko-KR" sz="1400"/>
              <a:t>3</a:t>
            </a:r>
            <a:endParaRPr lang="ko-KR" altLang="en-US" sz="1400"/>
          </a:p>
        </p:txBody>
      </p:sp>
      <p:sp>
        <p:nvSpPr>
          <p:cNvPr id="45080" name="TextBox 27">
            <a:extLst>
              <a:ext uri="{FF2B5EF4-FFF2-40B4-BE49-F238E27FC236}">
                <a16:creationId xmlns:a16="http://schemas.microsoft.com/office/drawing/2014/main" id="{133CCDD4-CCB5-EBCE-A7D4-70FF88EFE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3" y="4168775"/>
            <a:ext cx="102552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400"/>
              <a:t>프로세스</a:t>
            </a:r>
            <a:r>
              <a:rPr lang="en-US" altLang="ko-KR" sz="1400"/>
              <a:t>4</a:t>
            </a:r>
            <a:endParaRPr lang="ko-KR" altLang="en-US" sz="1400"/>
          </a:p>
        </p:txBody>
      </p:sp>
    </p:spTree>
  </p:cSld>
  <p:clrMapOvr>
    <a:masterClrMapping/>
  </p:clrMapOvr>
  <p:transition>
    <p:zoom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E72B909-3CB3-52D6-4D64-324AFB5D2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4E0790-A40C-6DBC-26DB-67D0757E00A6}"/>
              </a:ext>
            </a:extLst>
          </p:cNvPr>
          <p:cNvSpPr/>
          <p:nvPr/>
        </p:nvSpPr>
        <p:spPr>
          <a:xfrm>
            <a:off x="7938" y="0"/>
            <a:ext cx="2979737" cy="4540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B0165FA4-CDE9-6D8D-BCD6-3D2B13482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6085" name="Rectangle 6">
            <a:extLst>
              <a:ext uri="{FF2B5EF4-FFF2-40B4-BE49-F238E27FC236}">
                <a16:creationId xmlns:a16="http://schemas.microsoft.com/office/drawing/2014/main" id="{1C925C86-7F1B-C2C4-6982-BDC0E3F13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97753927-F04E-F861-DB1B-D9700CF02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452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spcBef>
                <a:spcPct val="50000"/>
              </a:spcBef>
              <a:defRPr/>
            </a:pPr>
            <a:r>
              <a:rPr lang="en-US" altLang="ko-KR" dirty="0"/>
              <a:t>Process </a:t>
            </a:r>
            <a:r>
              <a:rPr lang="ko-KR" altLang="en-US" dirty="0"/>
              <a:t>일반적 수립 과정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조직 환경 파악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요구 조건 파악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구성 요소 파악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필요 프로세스 결정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효과적 프로세스 수립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시각적 절차 수립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공정 실현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정확한 기록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지속적 분석 및 평가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경영 검토 및 레벨 업</a:t>
            </a:r>
            <a:endParaRPr lang="en-US" altLang="ko-KR" dirty="0"/>
          </a:p>
        </p:txBody>
      </p:sp>
    </p:spTree>
  </p:cSld>
  <p:clrMapOvr>
    <a:masterClrMapping/>
  </p:clrMapOvr>
  <p:transition>
    <p:zoom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1D41ED7-8A2C-2736-6355-BAE7D09C8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85CD08-A8A3-D722-9DBB-FEBC15585D9D}"/>
              </a:ext>
            </a:extLst>
          </p:cNvPr>
          <p:cNvSpPr/>
          <p:nvPr/>
        </p:nvSpPr>
        <p:spPr>
          <a:xfrm>
            <a:off x="7938" y="0"/>
            <a:ext cx="3967162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3EE49C23-F75B-20AF-483C-C7F51B1FF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7109" name="Rectangle 6">
            <a:extLst>
              <a:ext uri="{FF2B5EF4-FFF2-40B4-BE49-F238E27FC236}">
                <a16:creationId xmlns:a16="http://schemas.microsoft.com/office/drawing/2014/main" id="{CC03AF6B-2933-1199-0ECC-D30909056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47110" name="TextBox 4">
            <a:extLst>
              <a:ext uri="{FF2B5EF4-FFF2-40B4-BE49-F238E27FC236}">
                <a16:creationId xmlns:a16="http://schemas.microsoft.com/office/drawing/2014/main" id="{B8B26D01-7958-0168-A020-AA9A9425F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ko-KR" altLang="en-US" sz="4000"/>
              <a:t>프로세스 표준 주요 구성</a:t>
            </a:r>
            <a:r>
              <a:rPr lang="en-US" altLang="ko-KR"/>
              <a:t> 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프로세스 수립 조건 항목 </a:t>
            </a:r>
            <a:r>
              <a:rPr lang="en-US" altLang="ko-KR"/>
              <a:t>(Control), para 4.4 +  </a:t>
            </a:r>
            <a:r>
              <a:rPr lang="ko-KR" altLang="en-US"/>
              <a:t>그외</a:t>
            </a:r>
            <a:br>
              <a:rPr lang="en-US" altLang="ko-KR"/>
            </a:br>
            <a:r>
              <a:rPr lang="en-US" altLang="ko-KR"/>
              <a:t>: QMS </a:t>
            </a:r>
            <a:r>
              <a:rPr lang="ko-KR" altLang="en-US"/>
              <a:t>프로세스 </a:t>
            </a:r>
            <a:endParaRPr lang="en-US" altLang="ko-KR"/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프로세스 생산 계획 항목 </a:t>
            </a:r>
            <a:r>
              <a:rPr lang="en-US" altLang="ko-KR"/>
              <a:t>(Requirements), para 8.1 + (2.3.4)</a:t>
            </a:r>
            <a:br>
              <a:rPr lang="en-US" altLang="ko-KR"/>
            </a:br>
            <a:r>
              <a:rPr lang="en-US" altLang="ko-KR"/>
              <a:t>: CORE </a:t>
            </a:r>
            <a:r>
              <a:rPr lang="ko-KR" altLang="en-US"/>
              <a:t>프로세스</a:t>
            </a:r>
            <a:endParaRPr lang="en-US" altLang="ko-KR"/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프로세스 수행 조건</a:t>
            </a:r>
            <a:r>
              <a:rPr lang="en-US" altLang="ko-KR"/>
              <a:t> </a:t>
            </a:r>
            <a:r>
              <a:rPr lang="ko-KR" altLang="en-US"/>
              <a:t>항목 </a:t>
            </a:r>
            <a:r>
              <a:rPr lang="en-US" altLang="ko-KR"/>
              <a:t>(Condition), para 8.5, 8.6, 8.7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ko-KR" altLang="en-US"/>
              <a:t>프로세스  평가 및 개선 항목</a:t>
            </a:r>
            <a:r>
              <a:rPr lang="en-US" altLang="ko-KR"/>
              <a:t>, para 9/10</a:t>
            </a:r>
          </a:p>
        </p:txBody>
      </p:sp>
    </p:spTree>
  </p:cSld>
  <p:clrMapOvr>
    <a:masterClrMapping/>
  </p:clrMapOvr>
  <p:transition>
    <p:zoom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06F21EAE-E2D7-786B-EB71-DCC5D6AF8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DD3E14-3A6D-ADFA-467B-7281225460C7}"/>
              </a:ext>
            </a:extLst>
          </p:cNvPr>
          <p:cNvSpPr/>
          <p:nvPr/>
        </p:nvSpPr>
        <p:spPr>
          <a:xfrm>
            <a:off x="7938" y="0"/>
            <a:ext cx="7659687" cy="4540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요구 내용</a:t>
            </a: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A6307481-DEFB-4EC5-D8C0-360A22A5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8133" name="Rectangle 3">
            <a:extLst>
              <a:ext uri="{FF2B5EF4-FFF2-40B4-BE49-F238E27FC236}">
                <a16:creationId xmlns:a16="http://schemas.microsoft.com/office/drawing/2014/main" id="{801BE645-62CE-4151-785C-4B62D30F1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65594F9F-A728-CE17-CBA7-26C2F87A9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DCFFC357-C030-14D0-CD15-35AC9DBE5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452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defRPr/>
            </a:pPr>
            <a:r>
              <a:rPr lang="en-US" altLang="ko-KR" dirty="0"/>
              <a:t>4.4 </a:t>
            </a:r>
            <a:r>
              <a:rPr lang="ko-KR" altLang="en-US" dirty="0"/>
              <a:t>프로세스 수립 및 문서화 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: QMS </a:t>
            </a:r>
            <a:r>
              <a:rPr lang="ko-KR" altLang="en-US" dirty="0"/>
              <a:t>요구 조건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a.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각 공정에  필요한 투입과 예상되는 산출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b.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각 공정의 공정 순서와 공정간에 상호 작용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c.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공정 운영 및 관리를 위한 기준과 방법</a:t>
            </a:r>
            <a:r>
              <a:rPr lang="en-US" altLang="ko-KR" dirty="0"/>
              <a:t> (</a:t>
            </a:r>
            <a:r>
              <a:rPr lang="ko-KR" altLang="en-US" dirty="0"/>
              <a:t>수집</a:t>
            </a:r>
            <a:r>
              <a:rPr lang="en-US" altLang="ko-KR" dirty="0"/>
              <a:t>, </a:t>
            </a:r>
            <a:r>
              <a:rPr lang="ko-KR" altLang="en-US" dirty="0"/>
              <a:t>측정 및 성과 측정 포함 </a:t>
            </a:r>
            <a:r>
              <a:rPr lang="en-US" altLang="ko-KR" dirty="0"/>
              <a:t>)</a:t>
            </a:r>
          </a:p>
          <a:p>
            <a:pPr marL="0" indent="0">
              <a:defRPr/>
            </a:pPr>
            <a:r>
              <a:rPr lang="en-US" altLang="ko-KR" dirty="0"/>
              <a:t>d.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필요한 자원과 가용성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e. </a:t>
            </a:r>
            <a:r>
              <a:rPr lang="ko-KR" altLang="en-US" dirty="0"/>
              <a:t>지정</a:t>
            </a:r>
            <a:r>
              <a:rPr lang="en-US" altLang="ko-KR" dirty="0"/>
              <a:t>, </a:t>
            </a:r>
            <a:r>
              <a:rPr lang="ko-KR" altLang="en-US" dirty="0"/>
              <a:t>각 공정에 책임 및 권한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f. </a:t>
            </a:r>
            <a:r>
              <a:rPr lang="ko-KR" altLang="en-US" dirty="0"/>
              <a:t>취급</a:t>
            </a:r>
            <a:r>
              <a:rPr lang="en-US" altLang="ko-KR" dirty="0"/>
              <a:t>, </a:t>
            </a:r>
            <a:r>
              <a:rPr lang="ko-KR" altLang="en-US" dirty="0"/>
              <a:t>위험과 기회 </a:t>
            </a:r>
            <a:r>
              <a:rPr lang="en-US" altLang="ko-KR" dirty="0"/>
              <a:t>(para 6.1</a:t>
            </a:r>
            <a:r>
              <a:rPr lang="ko-KR" altLang="en-US" dirty="0"/>
              <a:t>결정 사항</a:t>
            </a:r>
            <a:r>
              <a:rPr lang="en-US" altLang="ko-KR" dirty="0"/>
              <a:t>)</a:t>
            </a:r>
          </a:p>
          <a:p>
            <a:pPr marL="0" indent="0">
              <a:defRPr/>
            </a:pPr>
            <a:r>
              <a:rPr lang="en-US" altLang="ko-KR" dirty="0"/>
              <a:t>g. </a:t>
            </a:r>
            <a:r>
              <a:rPr lang="ko-KR" altLang="en-US" dirty="0"/>
              <a:t>평가 및 변경</a:t>
            </a:r>
            <a:r>
              <a:rPr lang="en-US" altLang="ko-KR" dirty="0"/>
              <a:t>, </a:t>
            </a:r>
            <a:r>
              <a:rPr lang="ko-KR" altLang="en-US" dirty="0"/>
              <a:t>각 공정이 의도된 결과 달성 여부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h. </a:t>
            </a:r>
            <a:r>
              <a:rPr lang="ko-KR" altLang="en-US" dirty="0"/>
              <a:t>개선</a:t>
            </a:r>
            <a:r>
              <a:rPr lang="en-US" altLang="ko-KR" dirty="0"/>
              <a:t>, </a:t>
            </a:r>
            <a:r>
              <a:rPr lang="ko-KR" altLang="en-US" dirty="0"/>
              <a:t>수립된 각 공정 및 </a:t>
            </a:r>
            <a:r>
              <a:rPr lang="en-US" altLang="ko-KR" dirty="0"/>
              <a:t>QMS</a:t>
            </a:r>
            <a:r>
              <a:rPr lang="ko-KR" altLang="en-US" dirty="0"/>
              <a:t>  </a:t>
            </a:r>
            <a:r>
              <a:rPr lang="en-US" altLang="ko-KR" dirty="0"/>
              <a:t> </a:t>
            </a:r>
          </a:p>
          <a:p>
            <a:pPr>
              <a:buFontTx/>
              <a:buAutoNum type="arabicPeriod"/>
              <a:defRPr/>
            </a:pPr>
            <a:endParaRPr lang="en-US" altLang="ko-KR" dirty="0"/>
          </a:p>
        </p:txBody>
      </p:sp>
    </p:spTree>
  </p:cSld>
  <p:clrMapOvr>
    <a:masterClrMapping/>
  </p:clrMapOvr>
  <p:transition>
    <p:zoom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F8AAC03-FC1A-A25F-09A6-0CCBE50C8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83908E-EA65-A9C9-796A-0B101CFE1E7C}"/>
              </a:ext>
            </a:extLst>
          </p:cNvPr>
          <p:cNvSpPr/>
          <p:nvPr/>
        </p:nvSpPr>
        <p:spPr>
          <a:xfrm>
            <a:off x="7938" y="0"/>
            <a:ext cx="5643562" cy="5080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E8D80388-8A08-98C8-0FB0-5E1E6B4C6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16F82957-A79C-A617-99E6-DF89D7ED1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6626BD41-214C-897D-EE55-8C02C27A6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27069736-11FA-2F4F-8940-FDFD6E248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3694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spcBef>
                <a:spcPct val="50000"/>
              </a:spcBef>
              <a:defRPr/>
            </a:pPr>
            <a:r>
              <a:rPr lang="en-US" altLang="ko-KR" dirty="0"/>
              <a:t>Process </a:t>
            </a:r>
            <a:r>
              <a:rPr lang="ko-KR" altLang="en-US" dirty="0"/>
              <a:t>결정</a:t>
            </a:r>
            <a:r>
              <a:rPr lang="en-US" altLang="ko-KR" dirty="0"/>
              <a:t>, QMS </a:t>
            </a:r>
            <a:r>
              <a:rPr lang="ko-KR" altLang="en-US" dirty="0"/>
              <a:t>프로세스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표준 검토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프로세스 대상 선정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표준 요구 항목 추출</a:t>
            </a:r>
            <a:r>
              <a:rPr lang="en-US" altLang="ko-KR" dirty="0"/>
              <a:t>, Requirements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표준 수행 조건 추출</a:t>
            </a:r>
            <a:r>
              <a:rPr lang="en-US" altLang="ko-KR" dirty="0"/>
              <a:t>, Conditions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프로세스 수립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프로세스 실행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프로세스 관리</a:t>
            </a:r>
            <a:r>
              <a:rPr lang="en-US" altLang="ko-KR" dirty="0"/>
              <a:t>, Control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프로세스 개선   </a:t>
            </a:r>
          </a:p>
        </p:txBody>
      </p:sp>
    </p:spTree>
  </p:cSld>
  <p:clrMapOvr>
    <a:masterClrMapping/>
  </p:clrMapOvr>
  <p:transition>
    <p:zoom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9BA90AB-AFFA-3F26-BE06-B94AA4B51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1DFE35-DF20-A639-BB38-DA84A73F0635}"/>
              </a:ext>
            </a:extLst>
          </p:cNvPr>
          <p:cNvSpPr/>
          <p:nvPr/>
        </p:nvSpPr>
        <p:spPr>
          <a:xfrm>
            <a:off x="7938" y="0"/>
            <a:ext cx="5211762" cy="4540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요구 내용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D5658E80-52E3-49A8-5AFC-3CA204194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014E95E6-970B-C3A5-7D14-BC966506A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0182" name="Rectangle 6">
            <a:extLst>
              <a:ext uri="{FF2B5EF4-FFF2-40B4-BE49-F238E27FC236}">
                <a16:creationId xmlns:a16="http://schemas.microsoft.com/office/drawing/2014/main" id="{10C11D37-3E9F-1D8D-C263-D29EA2BCD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1187D0FA-25FE-304F-8BCD-C4F8E8B2D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4940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defRPr/>
            </a:pPr>
            <a:r>
              <a:rPr lang="en-US" altLang="ko-KR" dirty="0"/>
              <a:t>8.1 </a:t>
            </a:r>
            <a:r>
              <a:rPr lang="ko-KR" altLang="en-US" dirty="0"/>
              <a:t>생산 계획</a:t>
            </a:r>
            <a:r>
              <a:rPr lang="en-US" altLang="ko-KR" dirty="0"/>
              <a:t>/</a:t>
            </a:r>
            <a:r>
              <a:rPr lang="ko-KR" altLang="en-US" dirty="0"/>
              <a:t>실현</a:t>
            </a:r>
            <a:r>
              <a:rPr lang="en-US" altLang="ko-KR" dirty="0"/>
              <a:t>(Requirements) </a:t>
            </a:r>
            <a:r>
              <a:rPr lang="ko-KR" altLang="en-US" dirty="0"/>
              <a:t>수립 및 문서화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a.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제품 정보  </a:t>
            </a:r>
            <a:r>
              <a:rPr lang="en-US" altLang="ko-KR" dirty="0"/>
              <a:t>(Requirements)</a:t>
            </a:r>
          </a:p>
          <a:p>
            <a:pPr marL="0" indent="0">
              <a:defRPr/>
            </a:pPr>
            <a:r>
              <a:rPr lang="en-US" altLang="ko-KR" dirty="0"/>
              <a:t>b. </a:t>
            </a:r>
            <a:r>
              <a:rPr lang="ko-KR" altLang="en-US" dirty="0"/>
              <a:t>수립</a:t>
            </a:r>
            <a:r>
              <a:rPr lang="en-US" altLang="ko-KR" dirty="0"/>
              <a:t>, </a:t>
            </a:r>
            <a:r>
              <a:rPr lang="ko-KR" altLang="en-US" dirty="0"/>
              <a:t>제품 </a:t>
            </a:r>
            <a:r>
              <a:rPr lang="en-US" altLang="ko-KR" dirty="0"/>
              <a:t>/ </a:t>
            </a:r>
            <a:r>
              <a:rPr lang="ko-KR" altLang="en-US" dirty="0"/>
              <a:t>서비스 및 프로세스 합격 기준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c.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 제품 적합성과 정시 납품을 위한 자원 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d. </a:t>
            </a:r>
            <a:r>
              <a:rPr lang="ko-KR" altLang="en-US" dirty="0"/>
              <a:t>실행</a:t>
            </a:r>
            <a:r>
              <a:rPr lang="en-US" altLang="ko-KR" dirty="0"/>
              <a:t>, </a:t>
            </a:r>
            <a:r>
              <a:rPr lang="ko-KR" altLang="en-US" dirty="0" err="1"/>
              <a:t>범위내</a:t>
            </a:r>
            <a:r>
              <a:rPr lang="ko-KR" altLang="en-US" dirty="0"/>
              <a:t> 프로세스  관리 실행 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e.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수립 </a:t>
            </a:r>
            <a:r>
              <a:rPr lang="en-US" altLang="ko-KR" dirty="0"/>
              <a:t>(</a:t>
            </a:r>
            <a:r>
              <a:rPr lang="ko-KR" altLang="en-US" dirty="0"/>
              <a:t>절차</a:t>
            </a:r>
            <a:r>
              <a:rPr lang="en-US" altLang="ko-KR" dirty="0"/>
              <a:t>)</a:t>
            </a:r>
            <a:r>
              <a:rPr lang="ko-KR" altLang="en-US" dirty="0"/>
              <a:t> 및 유지 </a:t>
            </a:r>
            <a:r>
              <a:rPr lang="en-US" altLang="ko-KR" dirty="0"/>
              <a:t>(</a:t>
            </a:r>
            <a:r>
              <a:rPr lang="ko-KR" altLang="en-US" dirty="0"/>
              <a:t>기록서</a:t>
            </a:r>
            <a:r>
              <a:rPr lang="en-US" altLang="ko-KR" dirty="0"/>
              <a:t>), </a:t>
            </a:r>
            <a:r>
              <a:rPr lang="ko-KR" altLang="en-US" dirty="0"/>
              <a:t>제품 및 서비스 관련된 서류 정보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f.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프로세스 </a:t>
            </a:r>
            <a:r>
              <a:rPr lang="en-US" altLang="ko-KR" dirty="0"/>
              <a:t>(Key </a:t>
            </a:r>
            <a:r>
              <a:rPr lang="ko-KR" altLang="en-US" dirty="0"/>
              <a:t>포함한 </a:t>
            </a:r>
            <a:r>
              <a:rPr lang="ko-KR" altLang="en-US" dirty="0" err="1"/>
              <a:t>크리티컬</a:t>
            </a:r>
            <a:r>
              <a:rPr lang="ko-KR" altLang="en-US" dirty="0"/>
              <a:t> 품목 관리</a:t>
            </a:r>
            <a:r>
              <a:rPr lang="en-US" altLang="ko-KR" dirty="0"/>
              <a:t>)</a:t>
            </a:r>
          </a:p>
          <a:p>
            <a:pPr marL="0" indent="0">
              <a:defRPr/>
            </a:pPr>
            <a:r>
              <a:rPr lang="en-US" altLang="ko-KR" dirty="0"/>
              <a:t>g. </a:t>
            </a:r>
            <a:r>
              <a:rPr lang="ko-KR" altLang="en-US" dirty="0"/>
              <a:t>지정</a:t>
            </a:r>
            <a:r>
              <a:rPr lang="en-US" altLang="ko-KR" dirty="0"/>
              <a:t>, </a:t>
            </a:r>
            <a:r>
              <a:rPr lang="ko-KR" altLang="en-US" dirty="0"/>
              <a:t>각 제품 공정에 관한 책임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h.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하자 보증 프로세스 및 자원 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 err="1"/>
              <a:t>i</a:t>
            </a:r>
            <a:r>
              <a:rPr lang="en-US" altLang="ko-KR" dirty="0"/>
              <a:t>.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외주 구매 품목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j. </a:t>
            </a:r>
            <a:r>
              <a:rPr lang="ko-KR" altLang="en-US" dirty="0"/>
              <a:t>수립</a:t>
            </a:r>
            <a:r>
              <a:rPr lang="en-US" altLang="ko-KR" dirty="0"/>
              <a:t>, </a:t>
            </a:r>
            <a:r>
              <a:rPr lang="ko-KR" altLang="en-US" dirty="0" err="1"/>
              <a:t>부적합품</a:t>
            </a:r>
            <a:r>
              <a:rPr lang="ko-KR" altLang="en-US" dirty="0"/>
              <a:t> 납품 방지  </a:t>
            </a:r>
            <a:r>
              <a:rPr lang="en-US" altLang="ko-KR" dirty="0"/>
              <a:t> </a:t>
            </a:r>
          </a:p>
          <a:p>
            <a:pPr>
              <a:buFontTx/>
              <a:buAutoNum type="arabicPeriod"/>
              <a:defRPr/>
            </a:pPr>
            <a:endParaRPr lang="en-US" altLang="ko-KR" dirty="0"/>
          </a:p>
        </p:txBody>
      </p:sp>
    </p:spTree>
  </p:cSld>
  <p:clrMapOvr>
    <a:masterClrMapping/>
  </p:clrMapOvr>
  <p:transition>
    <p:zoom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3AD22D8-D484-175C-520A-BA0C0F4C0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A6336B0-562A-3E40-D08B-9442C3EB9E40}"/>
              </a:ext>
            </a:extLst>
          </p:cNvPr>
          <p:cNvSpPr/>
          <p:nvPr/>
        </p:nvSpPr>
        <p:spPr>
          <a:xfrm>
            <a:off x="7938" y="0"/>
            <a:ext cx="5643562" cy="5080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DBCD5349-A4CE-5841-CCCF-EF7279442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66B019B-8A84-2291-865E-CE005B56A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42D40FBF-E101-DB57-C86C-FAE8CBEBD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9CA0F150-3711-A634-30D9-38C0B89C7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3278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spcBef>
                <a:spcPct val="50000"/>
              </a:spcBef>
              <a:defRPr/>
            </a:pPr>
            <a:r>
              <a:rPr lang="en-US" altLang="ko-KR" dirty="0"/>
              <a:t>Process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생산 실현 프로세스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제품 생산 과정 검토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제품 요구 항목 추출</a:t>
            </a:r>
            <a:r>
              <a:rPr lang="en-US" altLang="ko-KR" dirty="0"/>
              <a:t>, Requirements/ CSR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제품 생산 조건 추출</a:t>
            </a:r>
            <a:r>
              <a:rPr lang="en-US" altLang="ko-KR" dirty="0"/>
              <a:t>, Conditions/ CSR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생산 계획서 수립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생산 설비 수립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생산 공정서 작성 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제품 보증 방안 수립  </a:t>
            </a:r>
          </a:p>
        </p:txBody>
      </p:sp>
    </p:spTree>
  </p:cSld>
  <p:clrMapOvr>
    <a:masterClrMapping/>
  </p:clrMapOvr>
  <p:transition>
    <p:zoom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DB92DB0-D20B-3A43-38E0-EA1ED03B3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4596DD-0962-FB6D-E113-A480121C6F52}"/>
              </a:ext>
            </a:extLst>
          </p:cNvPr>
          <p:cNvSpPr/>
          <p:nvPr/>
        </p:nvSpPr>
        <p:spPr>
          <a:xfrm>
            <a:off x="7938" y="0"/>
            <a:ext cx="4492625" cy="4540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요구 내용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42D57F12-8DB9-10BC-3BBD-CA6E07A99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15454BB2-A76D-0C8B-C189-A85387409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8B280FD9-1B2D-1716-2923-F85FCFDAF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25BCB8A-4FF8-A7E6-1BFB-92A0CD031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962025"/>
            <a:ext cx="8128000" cy="57705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defRPr/>
            </a:pPr>
            <a:r>
              <a:rPr lang="en-US" altLang="ko-KR" dirty="0"/>
              <a:t>8.5 </a:t>
            </a:r>
            <a:r>
              <a:rPr lang="ko-KR" altLang="en-US" dirty="0"/>
              <a:t>생산 조건 프로세스</a:t>
            </a:r>
            <a:r>
              <a:rPr lang="en-US" altLang="ko-KR" dirty="0"/>
              <a:t>, (Condition)</a:t>
            </a:r>
          </a:p>
          <a:p>
            <a:pPr marL="0" indent="0">
              <a:defRPr/>
            </a:pPr>
            <a:r>
              <a:rPr lang="ko-KR" altLang="en-US" dirty="0"/>
              <a:t>목적</a:t>
            </a:r>
            <a:r>
              <a:rPr lang="en-US" altLang="ko-KR" dirty="0"/>
              <a:t>; </a:t>
            </a:r>
            <a:r>
              <a:rPr lang="ko-KR" altLang="en-US" dirty="0"/>
              <a:t>공정 수행에 필요한 환경 혹은 부수 업무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a. </a:t>
            </a:r>
            <a:r>
              <a:rPr lang="ko-KR" altLang="en-US" dirty="0"/>
              <a:t>자료 이용성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b/c. </a:t>
            </a:r>
            <a:r>
              <a:rPr lang="ko-KR" altLang="en-US" dirty="0"/>
              <a:t>모니터링 및 측정 바탕</a:t>
            </a:r>
            <a:r>
              <a:rPr lang="en-US" altLang="ko-KR" dirty="0"/>
              <a:t> ( </a:t>
            </a:r>
            <a:r>
              <a:rPr lang="ko-KR" altLang="en-US" dirty="0"/>
              <a:t>자원</a:t>
            </a:r>
            <a:r>
              <a:rPr lang="en-US" altLang="ko-KR" dirty="0"/>
              <a:t>, </a:t>
            </a:r>
            <a:r>
              <a:rPr lang="ko-KR" altLang="en-US" dirty="0"/>
              <a:t>기준</a:t>
            </a:r>
            <a:r>
              <a:rPr lang="en-US" altLang="ko-KR" dirty="0"/>
              <a:t>, </a:t>
            </a:r>
            <a:r>
              <a:rPr lang="ko-KR" altLang="en-US" dirty="0"/>
              <a:t>범위</a:t>
            </a:r>
            <a:r>
              <a:rPr lang="en-US" altLang="ko-KR" dirty="0"/>
              <a:t>, </a:t>
            </a:r>
            <a:r>
              <a:rPr lang="ko-KR" altLang="en-US" dirty="0" err="1"/>
              <a:t>싯점</a:t>
            </a:r>
            <a:r>
              <a:rPr lang="en-US" altLang="ko-KR" dirty="0"/>
              <a:t>,) 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d. </a:t>
            </a:r>
            <a:r>
              <a:rPr lang="ko-KR" altLang="en-US" dirty="0"/>
              <a:t>프로세스  운영 바탕 및 환경  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e. </a:t>
            </a:r>
            <a:r>
              <a:rPr lang="ko-KR" altLang="en-US" dirty="0"/>
              <a:t>작업자 자격 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f. </a:t>
            </a:r>
            <a:r>
              <a:rPr lang="ko-KR" altLang="en-US" dirty="0"/>
              <a:t>특수 공정 검증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g. </a:t>
            </a:r>
            <a:r>
              <a:rPr lang="ko-KR" altLang="en-US" dirty="0"/>
              <a:t>작업자 실수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h. </a:t>
            </a:r>
            <a:r>
              <a:rPr lang="ko-KR" altLang="en-US" dirty="0"/>
              <a:t>합격</a:t>
            </a:r>
            <a:r>
              <a:rPr lang="en-US" altLang="ko-KR" dirty="0"/>
              <a:t>, </a:t>
            </a:r>
            <a:r>
              <a:rPr lang="ko-KR" altLang="en-US" dirty="0"/>
              <a:t>납품 및 </a:t>
            </a:r>
            <a:r>
              <a:rPr lang="ko-KR" altLang="en-US" dirty="0" err="1"/>
              <a:t>에프터</a:t>
            </a:r>
            <a:r>
              <a:rPr lang="ko-KR" altLang="en-US" dirty="0"/>
              <a:t> 서비스  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 err="1"/>
              <a:t>i</a:t>
            </a:r>
            <a:r>
              <a:rPr lang="en-US" altLang="ko-KR" dirty="0"/>
              <a:t>. </a:t>
            </a:r>
            <a:r>
              <a:rPr lang="ko-KR" altLang="en-US" dirty="0"/>
              <a:t>작업자 역량 설정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j. </a:t>
            </a:r>
            <a:r>
              <a:rPr lang="ko-KR" altLang="en-US" dirty="0"/>
              <a:t>생산 수량 관리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k.  </a:t>
            </a:r>
            <a:r>
              <a:rPr lang="ko-KR" altLang="en-US" dirty="0" err="1"/>
              <a:t>중요품</a:t>
            </a:r>
            <a:r>
              <a:rPr lang="ko-KR" altLang="en-US" dirty="0"/>
              <a:t> 관리 및 모니터링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l. </a:t>
            </a:r>
            <a:r>
              <a:rPr lang="ko-KR" altLang="en-US" dirty="0"/>
              <a:t>변동성 자료  혹은 부위 측정 방법 설정 </a:t>
            </a:r>
            <a:r>
              <a:rPr lang="en-US" altLang="ko-KR" dirty="0"/>
              <a:t> </a:t>
            </a:r>
          </a:p>
          <a:p>
            <a:pPr>
              <a:buFontTx/>
              <a:buAutoNum type="arabicPeriod"/>
              <a:defRPr/>
            </a:pPr>
            <a:endParaRPr lang="en-US" altLang="ko-KR" dirty="0"/>
          </a:p>
        </p:txBody>
      </p:sp>
    </p:spTree>
  </p:cSld>
  <p:clrMapOvr>
    <a:masterClrMapping/>
  </p:clrMapOvr>
  <p:transition>
    <p:zoom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A098D0F-6337-2DD7-B74E-BFCAD62AA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45409D-FD79-6CE3-649D-BB486F822853}"/>
              </a:ext>
            </a:extLst>
          </p:cNvPr>
          <p:cNvSpPr/>
          <p:nvPr/>
        </p:nvSpPr>
        <p:spPr>
          <a:xfrm>
            <a:off x="7938" y="0"/>
            <a:ext cx="5643562" cy="4540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요구 내용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511F3987-B403-1485-A1F0-CB38CDC48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4784323B-7E31-4AA2-58F3-17428C980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B20F33D4-78E3-871A-6E67-3E57B5705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635126B-7FF9-AC99-4560-CEEB36CE7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3278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spcBef>
                <a:spcPct val="50000"/>
              </a:spcBef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defRPr/>
            </a:pPr>
            <a:r>
              <a:rPr lang="en-US" altLang="ko-KR" dirty="0"/>
              <a:t>8.5 </a:t>
            </a:r>
            <a:r>
              <a:rPr lang="ko-KR" altLang="en-US" dirty="0"/>
              <a:t>생산 조건 프로세스</a:t>
            </a:r>
            <a:r>
              <a:rPr lang="en-US" altLang="ko-KR" dirty="0"/>
              <a:t>, (4.4 + 8.1)</a:t>
            </a:r>
          </a:p>
          <a:p>
            <a:pPr marL="0" indent="0">
              <a:defRPr/>
            </a:pPr>
            <a:r>
              <a:rPr lang="ko-KR" altLang="en-US" dirty="0"/>
              <a:t>목적</a:t>
            </a:r>
            <a:r>
              <a:rPr lang="en-US" altLang="ko-KR" dirty="0"/>
              <a:t>; </a:t>
            </a:r>
            <a:r>
              <a:rPr lang="ko-KR" altLang="en-US" dirty="0"/>
              <a:t>공정 수행에 필요한 환경 혹은 부수 업무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m. </a:t>
            </a:r>
            <a:r>
              <a:rPr lang="ko-KR" altLang="en-US" dirty="0"/>
              <a:t>후속 공정 검사 불가시 중간 공정 검사  </a:t>
            </a:r>
            <a:r>
              <a:rPr lang="ko-KR" altLang="en-US" dirty="0" err="1"/>
              <a:t>싯점</a:t>
            </a:r>
            <a:r>
              <a:rPr lang="ko-KR" altLang="en-US" dirty="0"/>
              <a:t> 식별</a:t>
            </a:r>
            <a:r>
              <a:rPr lang="en-US" altLang="ko-KR" dirty="0"/>
              <a:t> </a:t>
            </a:r>
          </a:p>
          <a:p>
            <a:pPr marL="0" indent="0">
              <a:defRPr/>
            </a:pPr>
            <a:r>
              <a:rPr lang="en-US" altLang="ko-KR" dirty="0"/>
              <a:t>n.  </a:t>
            </a:r>
            <a:r>
              <a:rPr lang="ko-KR" altLang="en-US" dirty="0"/>
              <a:t>생산 및 검사 완료 입증 자료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o. FOD</a:t>
            </a:r>
            <a:r>
              <a:rPr lang="ko-KR" altLang="en-US" dirty="0"/>
              <a:t>  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p. </a:t>
            </a:r>
            <a:r>
              <a:rPr lang="ko-KR" altLang="en-US" dirty="0"/>
              <a:t>유틸리티</a:t>
            </a:r>
            <a:endParaRPr lang="en-US" altLang="ko-KR" dirty="0"/>
          </a:p>
          <a:p>
            <a:pPr marL="0" indent="0">
              <a:defRPr/>
            </a:pPr>
            <a:r>
              <a:rPr lang="en-US" altLang="ko-KR" dirty="0"/>
              <a:t>q. </a:t>
            </a:r>
            <a:r>
              <a:rPr lang="ko-KR" altLang="en-US" dirty="0" err="1"/>
              <a:t>선불출</a:t>
            </a:r>
            <a:r>
              <a:rPr lang="ko-KR" altLang="en-US" dirty="0"/>
              <a:t> 행위 </a:t>
            </a:r>
            <a:r>
              <a:rPr lang="en-US" altLang="ko-KR" dirty="0"/>
              <a:t> </a:t>
            </a:r>
          </a:p>
          <a:p>
            <a:pPr>
              <a:buFontTx/>
              <a:buAutoNum type="arabicPeriod"/>
              <a:defRPr/>
            </a:pPr>
            <a:endParaRPr lang="en-US" altLang="ko-KR" dirty="0"/>
          </a:p>
        </p:txBody>
      </p:sp>
    </p:spTree>
  </p:cSld>
  <p:clrMapOvr>
    <a:masterClrMapping/>
  </p:clrMapOvr>
  <p:transition>
    <p:zoom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86FE67E-BE46-FEDA-201E-2F69177B0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42708C-7AF5-DC6D-6F78-A7755275CB32}"/>
              </a:ext>
            </a:extLst>
          </p:cNvPr>
          <p:cNvSpPr/>
          <p:nvPr/>
        </p:nvSpPr>
        <p:spPr>
          <a:xfrm>
            <a:off x="7938" y="0"/>
            <a:ext cx="5643562" cy="5080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3F8D5A19-61A1-285B-C7A2-4EA851840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F7813544-0F2E-8B27-288C-2420C301A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2D460023-6407-DEBF-BE4C-AF9BFB7B3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0FC4CDB-4872-E9CA-A972-B47E25A50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3694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spcBef>
                <a:spcPct val="50000"/>
              </a:spcBef>
              <a:defRPr/>
            </a:pPr>
            <a:r>
              <a:rPr lang="en-US" altLang="ko-KR" dirty="0"/>
              <a:t>Process </a:t>
            </a:r>
            <a:r>
              <a:rPr lang="ko-KR" altLang="en-US" dirty="0"/>
              <a:t>결정</a:t>
            </a:r>
            <a:r>
              <a:rPr lang="en-US" altLang="ko-KR" dirty="0"/>
              <a:t>, </a:t>
            </a:r>
            <a:r>
              <a:rPr lang="ko-KR" altLang="en-US" dirty="0"/>
              <a:t>생산 조건 프로세스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제품 생산 조건 검토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프로세스 수행 조건 선정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생산 요구 항목 추출</a:t>
            </a:r>
            <a:r>
              <a:rPr lang="en-US" altLang="ko-KR" dirty="0"/>
              <a:t>, Requirements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생산 수행 조건 추출</a:t>
            </a:r>
            <a:r>
              <a:rPr lang="en-US" altLang="ko-KR" dirty="0"/>
              <a:t>, Conditions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프로세스 관리 방안 수립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프로세스 실행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프로세스 관리</a:t>
            </a:r>
            <a:r>
              <a:rPr lang="en-US" altLang="ko-KR" dirty="0"/>
              <a:t>, Control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ko-KR" altLang="en-US" dirty="0"/>
              <a:t>프로세스 개선   </a:t>
            </a:r>
          </a:p>
        </p:txBody>
      </p:sp>
    </p:spTree>
  </p:cSld>
  <p:clrMapOvr>
    <a:masterClrMapping/>
  </p:clrMapOvr>
  <p:transition>
    <p:zoom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B0BBA82-B8E7-86F0-5B5F-87DA324AA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87E028-3272-C627-FB05-BBBFEFB9DF67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55300" name="TextBox 4">
            <a:extLst>
              <a:ext uri="{FF2B5EF4-FFF2-40B4-BE49-F238E27FC236}">
                <a16:creationId xmlns:a16="http://schemas.microsoft.com/office/drawing/2014/main" id="{C05711B9-3FAF-9923-E1FE-3A7B7F635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4. </a:t>
            </a:r>
            <a:r>
              <a:rPr lang="ko-KR" altLang="en-US"/>
              <a:t>조직 상황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4.1 </a:t>
            </a:r>
            <a:r>
              <a:rPr lang="ko-KR" altLang="en-US"/>
              <a:t>조직과 그 상황의 이해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내부 역량 강화 및 외부 대처 및 기회 포착 프로세스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정보 선정</a:t>
            </a:r>
            <a:r>
              <a:rPr lang="en-US" altLang="ko-KR"/>
              <a:t>, </a:t>
            </a:r>
            <a:r>
              <a:rPr lang="ko-KR" altLang="en-US"/>
              <a:t>획득</a:t>
            </a:r>
            <a:r>
              <a:rPr lang="en-US" altLang="ko-KR"/>
              <a:t>, </a:t>
            </a:r>
            <a:r>
              <a:rPr lang="ko-KR" altLang="en-US"/>
              <a:t>분석</a:t>
            </a:r>
            <a:r>
              <a:rPr lang="en-US" altLang="ko-KR"/>
              <a:t>, </a:t>
            </a:r>
            <a:r>
              <a:rPr lang="ko-KR" altLang="en-US"/>
              <a:t>평가</a:t>
            </a:r>
            <a:r>
              <a:rPr lang="en-US" altLang="ko-KR"/>
              <a:t>, </a:t>
            </a:r>
            <a:r>
              <a:rPr lang="ko-KR" altLang="en-US"/>
              <a:t>기회 혹은 위험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선정된 대상을 리스크 관리 이관 및 양식에 표시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관련 프로세스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4.2 </a:t>
            </a:r>
            <a:r>
              <a:rPr lang="ko-KR" altLang="en-US"/>
              <a:t>이해관계자의 니즈와 기대 이해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적용 여부 점검</a:t>
            </a:r>
            <a:r>
              <a:rPr lang="en-US" altLang="ko-KR"/>
              <a:t>, </a:t>
            </a:r>
            <a:r>
              <a:rPr lang="ko-KR" altLang="en-US"/>
              <a:t>방안 수립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경영 검토 상정</a:t>
            </a:r>
            <a:r>
              <a:rPr lang="en-US" altLang="ko-KR"/>
              <a:t>, </a:t>
            </a:r>
            <a:r>
              <a:rPr lang="ko-KR" altLang="en-US"/>
              <a:t>조치 및 모니터링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관련 프로세스</a:t>
            </a:r>
            <a:r>
              <a:rPr lang="en-US" altLang="ko-KR"/>
              <a:t>, QMM</a:t>
            </a:r>
            <a:r>
              <a:rPr lang="ko-KR" altLang="en-US"/>
              <a:t>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4.3 QMS </a:t>
            </a:r>
            <a:r>
              <a:rPr lang="ko-KR" altLang="en-US"/>
              <a:t>적용 범위 결정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4.4 QMS </a:t>
            </a:r>
            <a:r>
              <a:rPr lang="ko-KR" altLang="en-US"/>
              <a:t>및 프로세스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필요 프로세스 결정 및</a:t>
            </a:r>
            <a:r>
              <a:rPr lang="en-US" altLang="ko-KR"/>
              <a:t> </a:t>
            </a:r>
            <a:r>
              <a:rPr lang="ko-KR" altLang="en-US"/>
              <a:t>수립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주로 </a:t>
            </a:r>
            <a:r>
              <a:rPr lang="en-US" altLang="ko-KR"/>
              <a:t>QMS </a:t>
            </a:r>
            <a:r>
              <a:rPr lang="ko-KR" altLang="en-US"/>
              <a:t>용 프로세스</a:t>
            </a:r>
            <a:r>
              <a:rPr lang="en-US" altLang="ko-KR"/>
              <a:t>, 4.4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문서 제개정 절차서</a:t>
            </a:r>
            <a:endParaRPr lang="en-US" altLang="ko-KR"/>
          </a:p>
        </p:txBody>
      </p:sp>
      <p:sp>
        <p:nvSpPr>
          <p:cNvPr id="55301" name="Rectangle 3">
            <a:extLst>
              <a:ext uri="{FF2B5EF4-FFF2-40B4-BE49-F238E27FC236}">
                <a16:creationId xmlns:a16="http://schemas.microsoft.com/office/drawing/2014/main" id="{40A3CDBC-6518-2397-5F93-ECB981553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309863A0-FCA6-6549-6E0B-F6B6BD901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4FD20803-6092-8334-BD00-910ED1657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275193-6561-D9EB-7915-157F05D7C121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56324" name="TextBox 4">
            <a:extLst>
              <a:ext uri="{FF2B5EF4-FFF2-40B4-BE49-F238E27FC236}">
                <a16:creationId xmlns:a16="http://schemas.microsoft.com/office/drawing/2014/main" id="{30B62FD0-962B-615F-D5F3-B1CD702F5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5. </a:t>
            </a:r>
            <a:r>
              <a:rPr lang="ko-KR" altLang="en-US"/>
              <a:t>리더쉽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5.1 </a:t>
            </a:r>
            <a:r>
              <a:rPr lang="ko-KR" altLang="en-US"/>
              <a:t>리더쉽과 의지 표명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품질 방침 및 목표</a:t>
            </a:r>
            <a:r>
              <a:rPr lang="en-US" altLang="ko-KR"/>
              <a:t>, </a:t>
            </a:r>
            <a:r>
              <a:rPr lang="ko-KR" altLang="en-US"/>
              <a:t>프로세스</a:t>
            </a:r>
            <a:r>
              <a:rPr lang="en-US" altLang="ko-KR"/>
              <a:t>, </a:t>
            </a:r>
            <a:r>
              <a:rPr lang="ko-KR" altLang="en-US"/>
              <a:t>자원</a:t>
            </a:r>
            <a:r>
              <a:rPr lang="en-US" altLang="ko-KR"/>
              <a:t>, </a:t>
            </a:r>
            <a:r>
              <a:rPr lang="ko-KR" altLang="en-US"/>
              <a:t>교육</a:t>
            </a:r>
            <a:r>
              <a:rPr lang="en-US" altLang="ko-KR"/>
              <a:t>, </a:t>
            </a:r>
            <a:r>
              <a:rPr lang="ko-KR" altLang="en-US"/>
              <a:t>소통</a:t>
            </a:r>
            <a:r>
              <a:rPr lang="en-US" altLang="ko-KR"/>
              <a:t>, </a:t>
            </a:r>
            <a:r>
              <a:rPr lang="ko-KR" altLang="en-US"/>
              <a:t>개선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고객 우선 주의</a:t>
            </a:r>
            <a:br>
              <a:rPr lang="en-US" altLang="ko-KR"/>
            </a:br>
            <a:r>
              <a:rPr lang="en-US" altLang="ko-KR"/>
              <a:t>: QMS </a:t>
            </a:r>
            <a:r>
              <a:rPr lang="ko-KR" altLang="en-US"/>
              <a:t>수립 및 운영</a:t>
            </a:r>
            <a:r>
              <a:rPr lang="en-US" altLang="ko-KR"/>
              <a:t>, </a:t>
            </a:r>
            <a:r>
              <a:rPr lang="ko-KR" altLang="en-US"/>
              <a:t>고객 만족</a:t>
            </a:r>
            <a:r>
              <a:rPr lang="en-US" altLang="ko-KR"/>
              <a:t>, </a:t>
            </a:r>
            <a:r>
              <a:rPr lang="ko-KR" altLang="en-US"/>
              <a:t>지속 경영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경영 검토등 의지 노출</a:t>
            </a:r>
            <a:r>
              <a:rPr lang="en-US" altLang="ko-KR"/>
              <a:t> </a:t>
            </a:r>
          </a:p>
          <a:p>
            <a:pPr>
              <a:spcBef>
                <a:spcPct val="50000"/>
              </a:spcBef>
            </a:pPr>
            <a:r>
              <a:rPr lang="en-US" altLang="ko-KR"/>
              <a:t>5.2 </a:t>
            </a:r>
            <a:r>
              <a:rPr lang="ko-KR" altLang="en-US"/>
              <a:t>정책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품질 방침 및 목표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소통 방식</a:t>
            </a:r>
            <a:r>
              <a:rPr lang="en-US" altLang="ko-KR">
                <a:solidFill>
                  <a:srgbClr val="0348F3"/>
                </a:solidFill>
              </a:rPr>
              <a:t>/ </a:t>
            </a:r>
            <a:r>
              <a:rPr lang="ko-KR" altLang="en-US">
                <a:solidFill>
                  <a:srgbClr val="0348F3"/>
                </a:solidFill>
              </a:rPr>
              <a:t>인식 공유 </a:t>
            </a:r>
            <a:r>
              <a:rPr lang="en-US" altLang="ko-KR">
                <a:solidFill>
                  <a:srgbClr val="0348F3"/>
                </a:solidFill>
              </a:rPr>
              <a:t>(</a:t>
            </a:r>
            <a:r>
              <a:rPr lang="ko-KR" altLang="en-US">
                <a:solidFill>
                  <a:srgbClr val="0348F3"/>
                </a:solidFill>
              </a:rPr>
              <a:t>조회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게시판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이메일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매뉴얼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등등</a:t>
            </a:r>
            <a:r>
              <a:rPr lang="en-US" altLang="ko-KR">
                <a:solidFill>
                  <a:srgbClr val="0348F3"/>
                </a:solidFill>
              </a:rPr>
              <a:t> )</a:t>
            </a:r>
            <a:br>
              <a:rPr lang="en-US" altLang="ko-KR"/>
            </a:br>
            <a:r>
              <a:rPr lang="en-US" altLang="ko-KR"/>
              <a:t>- QMM</a:t>
            </a:r>
            <a:r>
              <a:rPr lang="ko-KR" altLang="en-US"/>
              <a:t>에 반영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정책 달성 여부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5.3 </a:t>
            </a:r>
            <a:r>
              <a:rPr lang="ko-KR" altLang="en-US"/>
              <a:t>조직내 역할</a:t>
            </a:r>
            <a:r>
              <a:rPr lang="en-US" altLang="ko-KR"/>
              <a:t>, </a:t>
            </a:r>
            <a:r>
              <a:rPr lang="ko-KR" altLang="en-US"/>
              <a:t>책임 및 권한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: </a:t>
            </a:r>
            <a:r>
              <a:rPr lang="ko-KR" altLang="en-US"/>
              <a:t>경영대리인</a:t>
            </a:r>
            <a:r>
              <a:rPr lang="en-US" altLang="ko-KR"/>
              <a:t>, </a:t>
            </a:r>
            <a:r>
              <a:rPr lang="ko-KR" altLang="en-US"/>
              <a:t>책임 및 권한</a:t>
            </a:r>
            <a:endParaRPr lang="en-US" altLang="ko-KR"/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1FCC183C-C8D1-042D-3859-F7440ABF8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064CC042-E2BC-EB8C-EE7B-C8AA1A6D7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64E9EDAC-402E-BCDF-2712-041454226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3E4BCAA-1176-7BC0-5D82-BC2E8C47C6C6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57348" name="TextBox 4">
            <a:extLst>
              <a:ext uri="{FF2B5EF4-FFF2-40B4-BE49-F238E27FC236}">
                <a16:creationId xmlns:a16="http://schemas.microsoft.com/office/drawing/2014/main" id="{5EC51328-10B3-0E45-5EBB-9BE732906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977900"/>
            <a:ext cx="8128000" cy="466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6. </a:t>
            </a:r>
            <a:r>
              <a:rPr lang="ko-KR" altLang="en-US"/>
              <a:t>기획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>
                <a:solidFill>
                  <a:srgbClr val="0348F3"/>
                </a:solidFill>
              </a:rPr>
              <a:t>6.1 </a:t>
            </a:r>
            <a:r>
              <a:rPr lang="ko-KR" altLang="en-US">
                <a:solidFill>
                  <a:srgbClr val="0348F3"/>
                </a:solidFill>
              </a:rPr>
              <a:t>위험과 기회를 다루기 위한 조치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위험과 기회 획득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위험과 기회 평가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위험과 기회 감소</a:t>
            </a:r>
            <a:r>
              <a:rPr lang="en-US" altLang="ko-KR">
                <a:solidFill>
                  <a:srgbClr val="0348F3"/>
                </a:solidFill>
              </a:rPr>
              <a:t>/ </a:t>
            </a:r>
            <a:r>
              <a:rPr lang="ko-KR" altLang="en-US">
                <a:solidFill>
                  <a:srgbClr val="0348F3"/>
                </a:solidFill>
              </a:rPr>
              <a:t>증강 계획 및 조치</a:t>
            </a:r>
            <a:br>
              <a:rPr lang="en-US" altLang="ko-KR">
                <a:solidFill>
                  <a:srgbClr val="0348F3"/>
                </a:solidFill>
              </a:rPr>
            </a:br>
            <a:r>
              <a:rPr lang="en-US" altLang="ko-KR"/>
              <a:t>: </a:t>
            </a:r>
            <a:r>
              <a:rPr lang="ko-KR" altLang="en-US"/>
              <a:t>위험 관리 지침서</a:t>
            </a:r>
            <a:r>
              <a:rPr lang="en-US" altLang="ko-KR"/>
              <a:t> </a:t>
            </a:r>
          </a:p>
          <a:p>
            <a:pPr>
              <a:spcBef>
                <a:spcPct val="50000"/>
              </a:spcBef>
            </a:pPr>
            <a:r>
              <a:rPr lang="en-US" altLang="ko-KR">
                <a:solidFill>
                  <a:srgbClr val="0348F3"/>
                </a:solidFill>
              </a:rPr>
              <a:t>6.2 </a:t>
            </a:r>
            <a:r>
              <a:rPr lang="ko-KR" altLang="en-US">
                <a:solidFill>
                  <a:srgbClr val="0348F3"/>
                </a:solidFill>
              </a:rPr>
              <a:t>품질 목표</a:t>
            </a:r>
            <a:r>
              <a:rPr lang="en-US" altLang="ko-KR">
                <a:solidFill>
                  <a:srgbClr val="0348F3"/>
                </a:solidFill>
              </a:rPr>
              <a:t>/ KPI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품질 목표 대상 선정</a:t>
            </a:r>
            <a:r>
              <a:rPr lang="en-US" altLang="ko-KR"/>
              <a:t> </a:t>
            </a:r>
            <a:r>
              <a:rPr lang="ko-KR" altLang="en-US"/>
              <a:t>및 목표</a:t>
            </a:r>
            <a:r>
              <a:rPr lang="en-US" altLang="ko-KR"/>
              <a:t> </a:t>
            </a:r>
            <a:r>
              <a:rPr lang="ko-KR" altLang="en-US"/>
              <a:t>수립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품질 목표 모니터링</a:t>
            </a:r>
            <a:r>
              <a:rPr lang="en-US" altLang="ko-KR"/>
              <a:t>, </a:t>
            </a:r>
            <a:r>
              <a:rPr lang="ko-KR" altLang="en-US"/>
              <a:t>분석 및 달성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품질 목표 개선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품질 목표 관리 지침서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6.3 </a:t>
            </a:r>
            <a:r>
              <a:rPr lang="ko-KR" altLang="en-US"/>
              <a:t>변경의 기획</a:t>
            </a:r>
            <a:br>
              <a:rPr lang="en-US" altLang="ko-KR"/>
            </a:br>
            <a:r>
              <a:rPr lang="en-US" altLang="ko-KR"/>
              <a:t>- QMS </a:t>
            </a:r>
            <a:r>
              <a:rPr lang="ko-KR" altLang="en-US"/>
              <a:t>변경 필요 </a:t>
            </a:r>
            <a:br>
              <a:rPr lang="en-US" altLang="ko-KR"/>
            </a:br>
            <a:r>
              <a:rPr lang="en-US" altLang="ko-KR"/>
              <a:t>- QMS </a:t>
            </a:r>
            <a:r>
              <a:rPr lang="ko-KR" altLang="en-US"/>
              <a:t>변경 계획</a:t>
            </a:r>
            <a:br>
              <a:rPr lang="en-US" altLang="ko-KR"/>
            </a:br>
            <a:r>
              <a:rPr lang="en-US" altLang="ko-KR"/>
              <a:t>: QMS </a:t>
            </a:r>
            <a:r>
              <a:rPr lang="ko-KR" altLang="en-US"/>
              <a:t>변경 관리 지침서</a:t>
            </a:r>
            <a:endParaRPr lang="en-US" altLang="ko-KR"/>
          </a:p>
        </p:txBody>
      </p:sp>
      <p:sp>
        <p:nvSpPr>
          <p:cNvPr id="57349" name="Rectangle 3">
            <a:extLst>
              <a:ext uri="{FF2B5EF4-FFF2-40B4-BE49-F238E27FC236}">
                <a16:creationId xmlns:a16="http://schemas.microsoft.com/office/drawing/2014/main" id="{FBF95CCE-56A2-362C-6956-8F64151F1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071B11B7-61A7-E6E1-476B-56619F782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CA5C341-C7A1-A79E-FBFF-07916C7A7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05C319-B60F-B98B-1EA8-52C7527A4312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9F51E20-04CE-49F8-1491-ED58E8DE7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8373" name="Rectangle 6">
            <a:extLst>
              <a:ext uri="{FF2B5EF4-FFF2-40B4-BE49-F238E27FC236}">
                <a16:creationId xmlns:a16="http://schemas.microsoft.com/office/drawing/2014/main" id="{8AA0FEB1-A638-C332-5BB2-3DE579079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58374" name="TextBox 4">
            <a:extLst>
              <a:ext uri="{FF2B5EF4-FFF2-40B4-BE49-F238E27FC236}">
                <a16:creationId xmlns:a16="http://schemas.microsoft.com/office/drawing/2014/main" id="{2C1DF8A9-5819-1678-A3AF-BE28C4CA8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494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7. </a:t>
            </a:r>
            <a:r>
              <a:rPr lang="ko-KR" altLang="en-US"/>
              <a:t>지원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7.1 </a:t>
            </a:r>
            <a:r>
              <a:rPr lang="ko-KR" altLang="en-US"/>
              <a:t>자원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7.1.1 </a:t>
            </a:r>
            <a:r>
              <a:rPr lang="ko-KR" altLang="en-US"/>
              <a:t>일반</a:t>
            </a:r>
            <a:br>
              <a:rPr lang="en-US" altLang="ko-KR"/>
            </a:br>
            <a:r>
              <a:rPr lang="en-US" altLang="ko-KR"/>
              <a:t>- QMS </a:t>
            </a:r>
            <a:r>
              <a:rPr lang="ko-KR" altLang="en-US"/>
              <a:t>수립</a:t>
            </a:r>
            <a:r>
              <a:rPr lang="en-US" altLang="ko-KR"/>
              <a:t>, </a:t>
            </a:r>
            <a:r>
              <a:rPr lang="ko-KR" altLang="en-US"/>
              <a:t>실행</a:t>
            </a:r>
            <a:r>
              <a:rPr lang="en-US" altLang="ko-KR"/>
              <a:t>, </a:t>
            </a:r>
            <a:r>
              <a:rPr lang="ko-KR" altLang="en-US"/>
              <a:t>유지 및 향상 필요 자원 결정 및 제공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경영 검토 상정</a:t>
            </a:r>
            <a:r>
              <a:rPr lang="en-US" altLang="ko-KR"/>
              <a:t> </a:t>
            </a:r>
          </a:p>
          <a:p>
            <a:pPr>
              <a:spcBef>
                <a:spcPct val="50000"/>
              </a:spcBef>
            </a:pPr>
            <a:r>
              <a:rPr lang="en-US" altLang="ko-KR"/>
              <a:t>7.1.2 </a:t>
            </a:r>
            <a:r>
              <a:rPr lang="ko-KR" altLang="en-US"/>
              <a:t>인력</a:t>
            </a:r>
            <a:r>
              <a:rPr lang="en-US" altLang="ko-KR"/>
              <a:t>, (</a:t>
            </a:r>
            <a:r>
              <a:rPr lang="ko-KR" altLang="en-US"/>
              <a:t>인력 수급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QMS </a:t>
            </a:r>
            <a:r>
              <a:rPr lang="ko-KR" altLang="en-US"/>
              <a:t>수립</a:t>
            </a:r>
            <a:r>
              <a:rPr lang="en-US" altLang="ko-KR"/>
              <a:t>, </a:t>
            </a:r>
            <a:r>
              <a:rPr lang="ko-KR" altLang="en-US"/>
              <a:t>실행</a:t>
            </a:r>
            <a:r>
              <a:rPr lang="en-US" altLang="ko-KR"/>
              <a:t>, </a:t>
            </a:r>
            <a:r>
              <a:rPr lang="ko-KR" altLang="en-US"/>
              <a:t>유지 및 향상 필요 인력 결정 및 제공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7.1.3 </a:t>
            </a:r>
            <a:r>
              <a:rPr lang="ko-KR" altLang="en-US"/>
              <a:t>기반 구조</a:t>
            </a:r>
            <a:r>
              <a:rPr lang="en-US" altLang="ko-KR"/>
              <a:t>, (</a:t>
            </a:r>
            <a:r>
              <a:rPr lang="ko-KR" altLang="en-US"/>
              <a:t>기반 구조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기반 구조 결정</a:t>
            </a:r>
            <a:r>
              <a:rPr lang="en-US" altLang="ko-KR"/>
              <a:t>, </a:t>
            </a:r>
            <a:r>
              <a:rPr lang="ko-KR" altLang="en-US"/>
              <a:t>설치</a:t>
            </a:r>
            <a:r>
              <a:rPr lang="en-US" altLang="ko-KR"/>
              <a:t>, </a:t>
            </a:r>
            <a:r>
              <a:rPr lang="ko-KR" altLang="en-US"/>
              <a:t>유지 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건물</a:t>
            </a:r>
            <a:r>
              <a:rPr lang="en-US" altLang="ko-KR"/>
              <a:t>, </a:t>
            </a:r>
            <a:r>
              <a:rPr lang="ko-KR" altLang="en-US"/>
              <a:t>유티리티</a:t>
            </a:r>
            <a:r>
              <a:rPr lang="en-US" altLang="ko-KR"/>
              <a:t>, </a:t>
            </a:r>
            <a:r>
              <a:rPr lang="ko-KR" altLang="en-US"/>
              <a:t>장비</a:t>
            </a:r>
            <a:r>
              <a:rPr lang="en-US" altLang="ko-KR"/>
              <a:t>, </a:t>
            </a:r>
            <a:r>
              <a:rPr lang="ko-KR" altLang="en-US"/>
              <a:t>설비</a:t>
            </a:r>
            <a:r>
              <a:rPr lang="en-US" altLang="ko-KR"/>
              <a:t>, </a:t>
            </a:r>
            <a:r>
              <a:rPr lang="ko-KR" altLang="en-US"/>
              <a:t>소프트웨어</a:t>
            </a:r>
            <a:r>
              <a:rPr lang="en-US" altLang="ko-KR"/>
              <a:t>, </a:t>
            </a:r>
            <a:r>
              <a:rPr lang="ko-KR" altLang="en-US"/>
              <a:t>운송 및 정보</a:t>
            </a:r>
            <a:r>
              <a:rPr lang="en-US" altLang="ko-KR"/>
              <a:t>), 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장비 적합품 생산 보증 </a:t>
            </a:r>
            <a:r>
              <a:rPr lang="en-US" altLang="ko-KR">
                <a:solidFill>
                  <a:srgbClr val="0348F3"/>
                </a:solidFill>
              </a:rPr>
              <a:t>(</a:t>
            </a:r>
            <a:r>
              <a:rPr lang="ko-KR" altLang="en-US">
                <a:solidFill>
                  <a:srgbClr val="0348F3"/>
                </a:solidFill>
              </a:rPr>
              <a:t>주기 점검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일일점검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수리기록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정밀도 보존</a:t>
            </a:r>
            <a:r>
              <a:rPr lang="en-US" altLang="ko-KR">
                <a:solidFill>
                  <a:srgbClr val="0348F3"/>
                </a:solidFill>
              </a:rPr>
              <a:t>)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생산 설비 관리 지침서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7.1.4 </a:t>
            </a:r>
            <a:r>
              <a:rPr lang="ko-KR" altLang="en-US"/>
              <a:t>작업장 환경</a:t>
            </a:r>
            <a:r>
              <a:rPr lang="en-US" altLang="ko-KR"/>
              <a:t>,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사회적</a:t>
            </a:r>
            <a:r>
              <a:rPr lang="en-US" altLang="ko-KR"/>
              <a:t>, </a:t>
            </a:r>
            <a:r>
              <a:rPr lang="ko-KR" altLang="en-US"/>
              <a:t>심리적</a:t>
            </a:r>
            <a:r>
              <a:rPr lang="en-US" altLang="ko-KR"/>
              <a:t> </a:t>
            </a:r>
            <a:r>
              <a:rPr lang="ko-KR" altLang="en-US"/>
              <a:t>및 물리적 관리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작업장 관리 지침서</a:t>
            </a:r>
            <a:endParaRPr lang="en-US" altLang="ko-KR"/>
          </a:p>
        </p:txBody>
      </p:sp>
    </p:spTree>
  </p:cSld>
  <p:clrMapOvr>
    <a:masterClrMapping/>
  </p:clrMapOvr>
  <p:transition>
    <p:zoom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03B2178-E335-BAC7-A4D3-13ABBBADD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C0C926-452E-CE04-22A8-07D041DC5A70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BDC467CD-1CC2-4C23-8A97-A46E41867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9397" name="Rectangle 6">
            <a:extLst>
              <a:ext uri="{FF2B5EF4-FFF2-40B4-BE49-F238E27FC236}">
                <a16:creationId xmlns:a16="http://schemas.microsoft.com/office/drawing/2014/main" id="{2D873641-2064-9899-CA2B-77F6439EC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59398" name="TextBox 4">
            <a:extLst>
              <a:ext uri="{FF2B5EF4-FFF2-40B4-BE49-F238E27FC236}">
                <a16:creationId xmlns:a16="http://schemas.microsoft.com/office/drawing/2014/main" id="{0DA71058-242F-4A37-0608-DE34F0E77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7. </a:t>
            </a:r>
            <a:r>
              <a:rPr lang="ko-KR" altLang="en-US"/>
              <a:t>지원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7.1 </a:t>
            </a:r>
            <a:r>
              <a:rPr lang="ko-KR" altLang="en-US"/>
              <a:t>자원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7.1.5 </a:t>
            </a:r>
            <a:r>
              <a:rPr lang="ko-KR" altLang="en-US"/>
              <a:t>모니터링 및 측정 자원 </a:t>
            </a:r>
            <a:r>
              <a:rPr lang="en-US" altLang="ko-KR"/>
              <a:t>(</a:t>
            </a:r>
            <a:r>
              <a:rPr lang="ko-KR" altLang="en-US"/>
              <a:t>측정기 관리 프로세스</a:t>
            </a:r>
            <a:r>
              <a:rPr lang="en-US" altLang="ko-KR"/>
              <a:t>, </a:t>
            </a:r>
            <a:r>
              <a:rPr lang="ko-KR" altLang="en-US"/>
              <a:t>측정기 유지 관리 프로세스</a:t>
            </a:r>
            <a:r>
              <a:rPr lang="en-US" altLang="ko-KR"/>
              <a:t>)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필요 측정 자원 식별</a:t>
            </a:r>
            <a:r>
              <a:rPr lang="en-US" altLang="ko-KR"/>
              <a:t>, </a:t>
            </a:r>
            <a:r>
              <a:rPr lang="ko-KR" altLang="en-US"/>
              <a:t>결정</a:t>
            </a:r>
            <a:r>
              <a:rPr lang="en-US" altLang="ko-KR"/>
              <a:t>,  </a:t>
            </a:r>
            <a:r>
              <a:rPr lang="ko-KR" altLang="en-US"/>
              <a:t>획득</a:t>
            </a:r>
            <a:r>
              <a:rPr lang="en-US" altLang="ko-KR"/>
              <a:t> </a:t>
            </a:r>
            <a:r>
              <a:rPr lang="ko-KR" altLang="en-US"/>
              <a:t>및 유지  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Recall system </a:t>
            </a:r>
            <a:r>
              <a:rPr lang="ko-KR" altLang="en-US">
                <a:solidFill>
                  <a:srgbClr val="0348F3"/>
                </a:solidFill>
              </a:rPr>
              <a:t>유지</a:t>
            </a:r>
            <a:br>
              <a:rPr lang="en-US" altLang="ko-KR">
                <a:solidFill>
                  <a:srgbClr val="0348F3"/>
                </a:solidFill>
              </a:rPr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측정구 관리 대장에 기록 항목 </a:t>
            </a:r>
            <a:r>
              <a:rPr lang="en-US" altLang="ko-KR">
                <a:solidFill>
                  <a:srgbClr val="0348F3"/>
                </a:solidFill>
              </a:rPr>
              <a:t>(Acceptance Criteria)</a:t>
            </a:r>
            <a:br>
              <a:rPr lang="en-US" altLang="ko-KR">
                <a:solidFill>
                  <a:srgbClr val="0348F3"/>
                </a:solidFill>
              </a:rPr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문제점</a:t>
            </a:r>
            <a:r>
              <a:rPr lang="en-US" altLang="ko-KR">
                <a:solidFill>
                  <a:srgbClr val="0348F3"/>
                </a:solidFill>
              </a:rPr>
              <a:t>: </a:t>
            </a:r>
            <a:r>
              <a:rPr lang="ko-KR" altLang="en-US">
                <a:solidFill>
                  <a:srgbClr val="0348F3"/>
                </a:solidFill>
              </a:rPr>
              <a:t>조사 및 후속조치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측정구 관리 지침서</a:t>
            </a:r>
            <a:endParaRPr lang="en-US" altLang="ko-KR"/>
          </a:p>
        </p:txBody>
      </p:sp>
    </p:spTree>
  </p:cSld>
  <p:clrMapOvr>
    <a:masterClrMapping/>
  </p:clrMapOvr>
  <p:transition>
    <p:zoom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7E3CE1AE-C19E-B1EB-46E5-03EFB777F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41923E-7346-BAA3-28C4-C6355F7D9F7B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60420" name="TextBox 4">
            <a:extLst>
              <a:ext uri="{FF2B5EF4-FFF2-40B4-BE49-F238E27FC236}">
                <a16:creationId xmlns:a16="http://schemas.microsoft.com/office/drawing/2014/main" id="{B6DC6785-97E7-7F18-E047-FF264AB61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7. </a:t>
            </a:r>
            <a:r>
              <a:rPr lang="ko-KR" altLang="en-US"/>
              <a:t>지원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7.2 </a:t>
            </a:r>
            <a:r>
              <a:rPr lang="ko-KR" altLang="en-US"/>
              <a:t>자격</a:t>
            </a:r>
            <a:r>
              <a:rPr lang="en-US" altLang="ko-KR"/>
              <a:t>, (</a:t>
            </a:r>
            <a:r>
              <a:rPr lang="ko-KR" altLang="en-US"/>
              <a:t>자격 관리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필요 자격 식별</a:t>
            </a:r>
            <a:r>
              <a:rPr lang="en-US" altLang="ko-KR"/>
              <a:t>, </a:t>
            </a:r>
            <a:r>
              <a:rPr lang="ko-KR" altLang="en-US"/>
              <a:t>기준 및 조건등 수립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자격 유지 조건 수립</a:t>
            </a:r>
            <a:r>
              <a:rPr lang="en-US" altLang="ko-KR"/>
              <a:t>, 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자격 부여 근거 및 기록 유지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자격 관리 절차서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>
                <a:solidFill>
                  <a:srgbClr val="0348F3"/>
                </a:solidFill>
              </a:rPr>
              <a:t>7.3 </a:t>
            </a:r>
            <a:r>
              <a:rPr lang="ko-KR" altLang="en-US">
                <a:solidFill>
                  <a:srgbClr val="0348F3"/>
                </a:solidFill>
              </a:rPr>
              <a:t>인식</a:t>
            </a:r>
            <a:r>
              <a:rPr lang="en-US" altLang="ko-KR">
                <a:solidFill>
                  <a:srgbClr val="0348F3"/>
                </a:solidFill>
              </a:rPr>
              <a:t>, (</a:t>
            </a:r>
            <a:r>
              <a:rPr lang="ko-KR" altLang="en-US">
                <a:solidFill>
                  <a:srgbClr val="0348F3"/>
                </a:solidFill>
              </a:rPr>
              <a:t>인식 및 소통 프로세스</a:t>
            </a:r>
            <a:r>
              <a:rPr lang="en-US" altLang="ko-KR">
                <a:solidFill>
                  <a:srgbClr val="0348F3"/>
                </a:solidFill>
              </a:rPr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공유 대상 선정 및 공유 방안 수립</a:t>
            </a:r>
            <a:r>
              <a:rPr lang="en-US" altLang="ko-KR"/>
              <a:t>,</a:t>
            </a:r>
            <a:br>
              <a:rPr lang="en-US" altLang="ko-KR"/>
            </a:br>
            <a:r>
              <a:rPr lang="en-US" altLang="ko-KR"/>
              <a:t> - </a:t>
            </a:r>
            <a:r>
              <a:rPr lang="ko-KR" altLang="en-US"/>
              <a:t>공유 수행 및 실행 결과 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소통 방식</a:t>
            </a:r>
            <a:r>
              <a:rPr lang="en-US" altLang="ko-KR">
                <a:solidFill>
                  <a:srgbClr val="0348F3"/>
                </a:solidFill>
              </a:rPr>
              <a:t>/ </a:t>
            </a:r>
            <a:r>
              <a:rPr lang="ko-KR" altLang="en-US">
                <a:solidFill>
                  <a:srgbClr val="0348F3"/>
                </a:solidFill>
              </a:rPr>
              <a:t>인식 공유 </a:t>
            </a:r>
            <a:r>
              <a:rPr lang="en-US" altLang="ko-KR">
                <a:solidFill>
                  <a:srgbClr val="0348F3"/>
                </a:solidFill>
              </a:rPr>
              <a:t>(</a:t>
            </a:r>
            <a:r>
              <a:rPr lang="ko-KR" altLang="en-US">
                <a:solidFill>
                  <a:srgbClr val="0348F3"/>
                </a:solidFill>
              </a:rPr>
              <a:t>조회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게시판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이메일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매뉴얼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등등</a:t>
            </a:r>
            <a:r>
              <a:rPr lang="en-US" altLang="ko-KR">
                <a:solidFill>
                  <a:srgbClr val="0348F3"/>
                </a:solidFill>
              </a:rPr>
              <a:t> )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인식 관리 지침서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7.4 </a:t>
            </a:r>
            <a:r>
              <a:rPr lang="ko-KR" altLang="en-US"/>
              <a:t>소통</a:t>
            </a:r>
            <a:r>
              <a:rPr lang="en-US" altLang="ko-KR"/>
              <a:t>, (</a:t>
            </a:r>
            <a:r>
              <a:rPr lang="ko-KR" altLang="en-US"/>
              <a:t>인식 및 소통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소통 대상 선정 및 소통 방안 수립</a:t>
            </a:r>
            <a:r>
              <a:rPr lang="en-US" altLang="ko-KR"/>
              <a:t>, - </a:t>
            </a:r>
            <a:r>
              <a:rPr lang="ko-KR" altLang="en-US"/>
              <a:t>소통 수행 및 실행 결과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소통 관리 지침서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7.5 </a:t>
            </a:r>
            <a:r>
              <a:rPr lang="ko-KR" altLang="en-US"/>
              <a:t>문서화된 정보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문서화된 절차서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문서화된 기록서</a:t>
            </a:r>
            <a:r>
              <a:rPr lang="en-US" altLang="ko-KR"/>
              <a:t>, </a:t>
            </a:r>
            <a:r>
              <a:rPr lang="ko-KR" altLang="en-US">
                <a:solidFill>
                  <a:srgbClr val="0348F3"/>
                </a:solidFill>
              </a:rPr>
              <a:t>관리 대장에 변경 상태 표시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문서 관리 절차서</a:t>
            </a:r>
            <a:endParaRPr lang="en-US" altLang="ko-KR"/>
          </a:p>
        </p:txBody>
      </p:sp>
      <p:sp>
        <p:nvSpPr>
          <p:cNvPr id="60421" name="Rectangle 3">
            <a:extLst>
              <a:ext uri="{FF2B5EF4-FFF2-40B4-BE49-F238E27FC236}">
                <a16:creationId xmlns:a16="http://schemas.microsoft.com/office/drawing/2014/main" id="{3B799950-0E0B-2F6D-7C10-548DB8271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52BD7048-BF5D-7FBD-6248-2EA9CD7F0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97E57C2-1CC2-A100-5A4C-06B0FD848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FB700B-550F-E765-5B8E-2A7CA65A0900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08DBB427-3834-CBAA-8DC3-5AB1DDD44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1445" name="Rectangle 6">
            <a:extLst>
              <a:ext uri="{FF2B5EF4-FFF2-40B4-BE49-F238E27FC236}">
                <a16:creationId xmlns:a16="http://schemas.microsoft.com/office/drawing/2014/main" id="{CAE8C350-AF2F-EFFD-D62C-46919CE3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61446" name="TextBox 4">
            <a:extLst>
              <a:ext uri="{FF2B5EF4-FFF2-40B4-BE49-F238E27FC236}">
                <a16:creationId xmlns:a16="http://schemas.microsoft.com/office/drawing/2014/main" id="{6983D558-A730-F4BD-9ADC-83E513894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590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8. </a:t>
            </a:r>
            <a:r>
              <a:rPr lang="ko-KR" altLang="en-US"/>
              <a:t>운영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>
                <a:solidFill>
                  <a:srgbClr val="0348F3"/>
                </a:solidFill>
              </a:rPr>
              <a:t>8.1 </a:t>
            </a:r>
            <a:r>
              <a:rPr lang="ko-KR" altLang="en-US">
                <a:solidFill>
                  <a:srgbClr val="0348F3"/>
                </a:solidFill>
              </a:rPr>
              <a:t>운영 계획 및 관리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제품 요구 및 생산 실현 조건 </a:t>
            </a:r>
            <a:r>
              <a:rPr lang="en-US" altLang="ko-KR"/>
              <a:t>(10</a:t>
            </a:r>
            <a:r>
              <a:rPr lang="ko-KR" altLang="en-US"/>
              <a:t>건</a:t>
            </a:r>
            <a:r>
              <a:rPr lang="en-US" altLang="ko-KR"/>
              <a:t>) </a:t>
            </a:r>
            <a:r>
              <a:rPr lang="ko-KR" altLang="en-US"/>
              <a:t>결정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생산 실현 요구 조건 절차화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생산 실현 결과 기록화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생산 실현 프로세스 </a:t>
            </a:r>
            <a:r>
              <a:rPr lang="en-US" altLang="ko-KR"/>
              <a:t>+ </a:t>
            </a:r>
            <a:r>
              <a:rPr lang="ko-KR" altLang="en-US"/>
              <a:t>제품 요구 조건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제품 실현 절차서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8.1.1 </a:t>
            </a:r>
            <a:r>
              <a:rPr lang="ko-KR" altLang="en-US"/>
              <a:t>운영 위험 관리</a:t>
            </a:r>
            <a:r>
              <a:rPr lang="en-US" altLang="ko-KR"/>
              <a:t>, (</a:t>
            </a:r>
            <a:r>
              <a:rPr lang="ko-KR" altLang="en-US"/>
              <a:t>리스크관리 프로세스</a:t>
            </a:r>
            <a:r>
              <a:rPr lang="en-US" altLang="ko-KR"/>
              <a:t>)/ P-FMEA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생산 실현 위험 식별 방안 도출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공유</a:t>
            </a:r>
            <a:r>
              <a:rPr lang="en-US" altLang="ko-KR"/>
              <a:t>, </a:t>
            </a:r>
            <a:r>
              <a:rPr lang="ko-KR" altLang="en-US"/>
              <a:t>조치 방안 수립 및 실행   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리스크 관리 대장  유지 </a:t>
            </a:r>
            <a:r>
              <a:rPr lang="en-US" altLang="ko-KR">
                <a:solidFill>
                  <a:srgbClr val="0348F3"/>
                </a:solidFill>
              </a:rPr>
              <a:t>(</a:t>
            </a:r>
            <a:r>
              <a:rPr lang="ko-KR" altLang="en-US">
                <a:solidFill>
                  <a:srgbClr val="0348F3"/>
                </a:solidFill>
              </a:rPr>
              <a:t>정보 포함</a:t>
            </a:r>
            <a:r>
              <a:rPr lang="en-US" altLang="ko-KR">
                <a:solidFill>
                  <a:srgbClr val="0348F3"/>
                </a:solidFill>
              </a:rPr>
              <a:t>)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공정 리스크 관리 지침서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>
                <a:solidFill>
                  <a:srgbClr val="0348F3"/>
                </a:solidFill>
              </a:rPr>
              <a:t>8.1.2 Configuration Management, (</a:t>
            </a:r>
            <a:r>
              <a:rPr lang="ko-KR" altLang="en-US">
                <a:solidFill>
                  <a:srgbClr val="0348F3"/>
                </a:solidFill>
              </a:rPr>
              <a:t>형상 관리 프로세스</a:t>
            </a:r>
            <a:r>
              <a:rPr lang="en-US" altLang="ko-KR">
                <a:solidFill>
                  <a:srgbClr val="0348F3"/>
                </a:solidFill>
              </a:rPr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제품 형상 식별 및 추적성 표시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형상 변경 조치 방안 수립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변경 검토 및 조치 계획 기록서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 형상 변경 조치 기록서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형상 관리 절차서 </a:t>
            </a:r>
            <a:endParaRPr lang="en-US" altLang="ko-KR"/>
          </a:p>
          <a:p>
            <a:pPr>
              <a:spcBef>
                <a:spcPct val="50000"/>
              </a:spcBef>
            </a:pPr>
            <a:endParaRPr lang="en-US" altLang="ko-KR"/>
          </a:p>
        </p:txBody>
      </p:sp>
    </p:spTree>
  </p:cSld>
  <p:clrMapOvr>
    <a:masterClrMapping/>
  </p:clrMapOvr>
  <p:transition>
    <p:zoom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44726319-D06D-98A0-6442-18D0E47F0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40E8CC-1EDD-35DC-9A54-6D7F8A7C448A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4AE1B8B1-75FC-AA67-3F68-E8298F47D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2469" name="Rectangle 6">
            <a:extLst>
              <a:ext uri="{FF2B5EF4-FFF2-40B4-BE49-F238E27FC236}">
                <a16:creationId xmlns:a16="http://schemas.microsoft.com/office/drawing/2014/main" id="{71107695-6D4C-8164-0C02-6B424E3DE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62470" name="TextBox 4">
            <a:extLst>
              <a:ext uri="{FF2B5EF4-FFF2-40B4-BE49-F238E27FC236}">
                <a16:creationId xmlns:a16="http://schemas.microsoft.com/office/drawing/2014/main" id="{269003AC-3915-EE2F-A90B-B72FFF67C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8. </a:t>
            </a:r>
            <a:r>
              <a:rPr lang="ko-KR" altLang="en-US"/>
              <a:t>운영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8.1 </a:t>
            </a:r>
            <a:r>
              <a:rPr lang="ko-KR" altLang="en-US"/>
              <a:t>운영 계획 및 관리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>
                <a:solidFill>
                  <a:srgbClr val="0348F3"/>
                </a:solidFill>
              </a:rPr>
              <a:t>8.1.3 </a:t>
            </a:r>
            <a:r>
              <a:rPr lang="ko-KR" altLang="en-US">
                <a:solidFill>
                  <a:srgbClr val="0348F3"/>
                </a:solidFill>
              </a:rPr>
              <a:t>제품 안전</a:t>
            </a:r>
            <a:r>
              <a:rPr lang="en-US" altLang="ko-KR">
                <a:solidFill>
                  <a:srgbClr val="0348F3"/>
                </a:solidFill>
              </a:rPr>
              <a:t>, (</a:t>
            </a:r>
            <a:r>
              <a:rPr lang="ko-KR" altLang="en-US">
                <a:solidFill>
                  <a:srgbClr val="0348F3"/>
                </a:solidFill>
              </a:rPr>
              <a:t>제품 안전 프로세스</a:t>
            </a:r>
            <a:r>
              <a:rPr lang="en-US" altLang="ko-KR">
                <a:solidFill>
                  <a:srgbClr val="0348F3"/>
                </a:solidFill>
              </a:rPr>
              <a:t>)</a:t>
            </a:r>
            <a:r>
              <a:rPr lang="ko-KR" altLang="en-US">
                <a:solidFill>
                  <a:srgbClr val="0348F3"/>
                </a:solidFill>
              </a:rPr>
              <a:t>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제품 안전 요인 식별 및 공유 방안 도출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개별 평가 및 조치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방지책 수립 및 유지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사례 기록</a:t>
            </a:r>
            <a:r>
              <a:rPr lang="en-US" altLang="ko-KR"/>
              <a:t>, </a:t>
            </a:r>
            <a:r>
              <a:rPr lang="ko-KR" altLang="en-US"/>
              <a:t>공유 및 유지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제품 안전 지침서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>
                <a:solidFill>
                  <a:srgbClr val="0348F3"/>
                </a:solidFill>
              </a:rPr>
              <a:t>8.1.4 </a:t>
            </a:r>
            <a:r>
              <a:rPr lang="ko-KR" altLang="en-US">
                <a:solidFill>
                  <a:srgbClr val="0348F3"/>
                </a:solidFill>
              </a:rPr>
              <a:t>위조품 방지</a:t>
            </a:r>
            <a:r>
              <a:rPr lang="en-US" altLang="ko-KR">
                <a:solidFill>
                  <a:srgbClr val="0348F3"/>
                </a:solidFill>
              </a:rPr>
              <a:t>, (</a:t>
            </a:r>
            <a:r>
              <a:rPr lang="ko-KR" altLang="en-US">
                <a:solidFill>
                  <a:srgbClr val="0348F3"/>
                </a:solidFill>
              </a:rPr>
              <a:t>위조품 방지 프로세스</a:t>
            </a:r>
            <a:r>
              <a:rPr lang="en-US" altLang="ko-KR">
                <a:solidFill>
                  <a:srgbClr val="0348F3"/>
                </a:solidFill>
              </a:rPr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구매 위조품 식별</a:t>
            </a:r>
            <a:r>
              <a:rPr lang="en-US" altLang="ko-KR"/>
              <a:t> </a:t>
            </a:r>
            <a:r>
              <a:rPr lang="ko-KR" altLang="en-US"/>
              <a:t>및 공유 방안 도출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내부 위조품 식별 및 공유 방안 도출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위조품 사용 및 공정 재 투입 방지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개별 리포트 및 기술 조치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: </a:t>
            </a:r>
            <a:r>
              <a:rPr lang="ko-KR" altLang="en-US">
                <a:solidFill>
                  <a:srgbClr val="0348F3"/>
                </a:solidFill>
              </a:rPr>
              <a:t>교육 및 사례 기록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공유 및 유지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위조품 방지 지침서</a:t>
            </a:r>
            <a:endParaRPr lang="en-US" altLang="ko-KR"/>
          </a:p>
          <a:p>
            <a:pPr>
              <a:spcBef>
                <a:spcPct val="50000"/>
              </a:spcBef>
            </a:pPr>
            <a:endParaRPr lang="en-US" altLang="ko-KR"/>
          </a:p>
        </p:txBody>
      </p:sp>
    </p:spTree>
  </p:cSld>
  <p:clrMapOvr>
    <a:masterClrMapping/>
  </p:clrMapOvr>
  <p:transition>
    <p:zoom dir="in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C3B334CE-0270-BF88-1A0F-F67B0B9F7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F66AA0-EBF9-DC51-0DC0-E3C123A1A35C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84BBBF44-911A-72C3-AE88-1BC6AF6DC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3493" name="Rectangle 6">
            <a:extLst>
              <a:ext uri="{FF2B5EF4-FFF2-40B4-BE49-F238E27FC236}">
                <a16:creationId xmlns:a16="http://schemas.microsoft.com/office/drawing/2014/main" id="{1AB36E0F-8938-263F-CBD3-3D00CE560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63494" name="TextBox 4">
            <a:extLst>
              <a:ext uri="{FF2B5EF4-FFF2-40B4-BE49-F238E27FC236}">
                <a16:creationId xmlns:a16="http://schemas.microsoft.com/office/drawing/2014/main" id="{865707A9-B0B1-3206-EB4E-9E17CB39F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577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8. </a:t>
            </a:r>
            <a:r>
              <a:rPr lang="ko-KR" altLang="en-US"/>
              <a:t>운영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8.2 </a:t>
            </a:r>
            <a:r>
              <a:rPr lang="ko-KR" altLang="en-US"/>
              <a:t>제품 및 서비스 요구조건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계약 검토 관리절차서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8.2.1 </a:t>
            </a:r>
            <a:r>
              <a:rPr lang="ko-KR" altLang="en-US"/>
              <a:t>고객 의사 소통</a:t>
            </a:r>
            <a:r>
              <a:rPr lang="en-US" altLang="ko-KR"/>
              <a:t>, (</a:t>
            </a:r>
            <a:r>
              <a:rPr lang="ko-KR" altLang="en-US"/>
              <a:t>소통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소통 대상 선별</a:t>
            </a:r>
            <a:r>
              <a:rPr lang="en-US" altLang="ko-KR"/>
              <a:t>, - </a:t>
            </a:r>
            <a:r>
              <a:rPr lang="ko-KR" altLang="en-US"/>
              <a:t>대상별 소통 방안 수립 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소통 대상</a:t>
            </a:r>
            <a:r>
              <a:rPr lang="en-US" altLang="ko-KR"/>
              <a:t>, </a:t>
            </a:r>
            <a:r>
              <a:rPr lang="ko-KR" altLang="en-US"/>
              <a:t>방안 및 관리 정보 목록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8.2.2 </a:t>
            </a:r>
            <a:r>
              <a:rPr lang="ko-KR" altLang="en-US"/>
              <a:t>제품 요구 조건 결정</a:t>
            </a:r>
            <a:r>
              <a:rPr lang="en-US" altLang="ko-KR"/>
              <a:t>,  (</a:t>
            </a:r>
            <a:r>
              <a:rPr lang="ko-KR" altLang="en-US"/>
              <a:t>고객 요구 조건 수립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제품 요구 조건 식별 프로세스 수립</a:t>
            </a:r>
            <a:br>
              <a:rPr lang="en-US" altLang="ko-KR"/>
            </a:br>
            <a:r>
              <a:rPr lang="en-US" altLang="ko-KR"/>
              <a:t>:</a:t>
            </a:r>
            <a:r>
              <a:rPr lang="ko-KR" altLang="en-US"/>
              <a:t> 요구 조건 </a:t>
            </a:r>
            <a:r>
              <a:rPr lang="en-US" altLang="ko-KR"/>
              <a:t>100% </a:t>
            </a:r>
            <a:r>
              <a:rPr lang="ko-KR" altLang="en-US"/>
              <a:t>보증 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8.2.3 </a:t>
            </a:r>
            <a:r>
              <a:rPr lang="ko-KR" altLang="en-US"/>
              <a:t>제품 요건 조건 검토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결정된 요구 조건 검토 프로세스 수립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결정된 요구 조건 생산 가능 여부 검토 프로세스 수립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계약서</a:t>
            </a:r>
            <a:r>
              <a:rPr lang="en-US" altLang="ko-KR">
                <a:solidFill>
                  <a:srgbClr val="0348F3"/>
                </a:solidFill>
              </a:rPr>
              <a:t>, CSR,</a:t>
            </a:r>
            <a:r>
              <a:rPr lang="ko-KR" altLang="en-US">
                <a:solidFill>
                  <a:srgbClr val="0348F3"/>
                </a:solidFill>
              </a:rPr>
              <a:t> </a:t>
            </a:r>
            <a:r>
              <a:rPr lang="en-US" altLang="ko-KR">
                <a:solidFill>
                  <a:srgbClr val="0348F3"/>
                </a:solidFill>
              </a:rPr>
              <a:t>SQAR</a:t>
            </a:r>
            <a:r>
              <a:rPr lang="ko-KR" altLang="en-US">
                <a:solidFill>
                  <a:srgbClr val="0348F3"/>
                </a:solidFill>
              </a:rPr>
              <a:t> 검토 결과 기록서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각 기능별 검토 내용</a:t>
            </a:r>
            <a:r>
              <a:rPr lang="en-US" altLang="ko-KR">
                <a:solidFill>
                  <a:srgbClr val="0348F3"/>
                </a:solidFill>
              </a:rPr>
              <a:t>/ </a:t>
            </a:r>
            <a:r>
              <a:rPr lang="ko-KR" altLang="en-US">
                <a:solidFill>
                  <a:srgbClr val="0348F3"/>
                </a:solidFill>
              </a:rPr>
              <a:t>조치 방안 </a:t>
            </a:r>
            <a:r>
              <a:rPr lang="en-US" altLang="ko-KR">
                <a:solidFill>
                  <a:srgbClr val="0348F3"/>
                </a:solidFill>
              </a:rPr>
              <a:t>/ SIGN</a:t>
            </a:r>
            <a:r>
              <a:rPr lang="ko-KR" altLang="en-US">
                <a:solidFill>
                  <a:srgbClr val="0348F3"/>
                </a:solidFill>
              </a:rPr>
              <a:t> 기록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요구 조건 </a:t>
            </a:r>
            <a:r>
              <a:rPr lang="en-US" altLang="ko-KR"/>
              <a:t>100% </a:t>
            </a:r>
            <a:r>
              <a:rPr lang="ko-KR" altLang="en-US"/>
              <a:t>보증 기록서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8.2.4 </a:t>
            </a:r>
            <a:r>
              <a:rPr lang="ko-KR" altLang="en-US"/>
              <a:t>제품 요구 조건 변경</a:t>
            </a:r>
            <a:r>
              <a:rPr lang="en-US" altLang="ko-KR"/>
              <a:t>, (</a:t>
            </a:r>
            <a:r>
              <a:rPr lang="ko-KR" altLang="en-US"/>
              <a:t>형상 관리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요구 조건 변경 식별 및 조치</a:t>
            </a:r>
            <a:r>
              <a:rPr lang="en-US" altLang="ko-KR"/>
              <a:t>, - </a:t>
            </a:r>
            <a:r>
              <a:rPr lang="ko-KR" altLang="en-US"/>
              <a:t>변경된 조건 공유 및 적용 프로세스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형상 관리 절차서   </a:t>
            </a:r>
            <a:endParaRPr lang="en-US" altLang="ko-KR"/>
          </a:p>
        </p:txBody>
      </p:sp>
    </p:spTree>
  </p:cSld>
  <p:clrMapOvr>
    <a:masterClrMapping/>
  </p:clrMapOvr>
  <p:transition>
    <p:zoom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7553A3B-DACD-9CAB-428F-4AB49FCA1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458D32-09CB-9461-96B9-82760B459C38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64516" name="TextBox 4">
            <a:extLst>
              <a:ext uri="{FF2B5EF4-FFF2-40B4-BE49-F238E27FC236}">
                <a16:creationId xmlns:a16="http://schemas.microsoft.com/office/drawing/2014/main" id="{19FCB5E2-F570-E8ED-B82C-F41A340D6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8. </a:t>
            </a:r>
            <a:r>
              <a:rPr lang="ko-KR" altLang="en-US"/>
              <a:t>운영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8.3 </a:t>
            </a:r>
            <a:r>
              <a:rPr lang="ko-KR" altLang="en-US"/>
              <a:t>제품 설계 및 개발 , </a:t>
            </a:r>
            <a:r>
              <a:rPr lang="en-US" altLang="ko-KR"/>
              <a:t>(</a:t>
            </a:r>
            <a:r>
              <a:rPr lang="ko-KR" altLang="en-US"/>
              <a:t>설계 개발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설계 개발 관리 절차서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8.3.1 </a:t>
            </a:r>
            <a:r>
              <a:rPr lang="ko-KR" altLang="en-US"/>
              <a:t>일반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8.3.2 </a:t>
            </a:r>
            <a:r>
              <a:rPr lang="ko-KR" altLang="en-US"/>
              <a:t>제품 설계 및 개발</a:t>
            </a:r>
            <a:r>
              <a:rPr lang="en-US" altLang="ko-KR"/>
              <a:t> </a:t>
            </a:r>
            <a:r>
              <a:rPr lang="ko-KR" altLang="en-US"/>
              <a:t>계획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설계 및 개발 요구 사항 결정 및 과정 수립 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8.3.3 </a:t>
            </a:r>
            <a:r>
              <a:rPr lang="ko-KR" altLang="en-US"/>
              <a:t>제품 설계 및 개발 입력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개발 입력 사항 결정</a:t>
            </a:r>
            <a:r>
              <a:rPr lang="en-US" altLang="ko-KR"/>
              <a:t> </a:t>
            </a:r>
          </a:p>
          <a:p>
            <a:pPr>
              <a:spcBef>
                <a:spcPct val="50000"/>
              </a:spcBef>
            </a:pPr>
            <a:r>
              <a:rPr lang="en-US" altLang="ko-KR"/>
              <a:t>8.3.4 </a:t>
            </a:r>
            <a:r>
              <a:rPr lang="ko-KR" altLang="en-US"/>
              <a:t>제품 설계 및 개발 관리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제품 설계 및 개발 관리 항목 설정</a:t>
            </a:r>
            <a:r>
              <a:rPr lang="en-US" altLang="ko-KR"/>
              <a:t>,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개발품 실험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8.3.5 </a:t>
            </a:r>
            <a:r>
              <a:rPr lang="ko-KR" altLang="en-US"/>
              <a:t>설계 및 개발 출력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제품 설계 및 개발 결과물 검토 및 승인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8.3.6 </a:t>
            </a:r>
            <a:r>
              <a:rPr lang="ko-KR" altLang="en-US"/>
              <a:t>설계 및 개발 변경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 변경 관리 </a:t>
            </a:r>
            <a:r>
              <a:rPr lang="en-US" altLang="ko-KR"/>
              <a:t>(</a:t>
            </a:r>
            <a:r>
              <a:rPr lang="ko-KR" altLang="en-US"/>
              <a:t>변경</a:t>
            </a:r>
            <a:r>
              <a:rPr lang="en-US" altLang="ko-KR"/>
              <a:t>, </a:t>
            </a:r>
            <a:r>
              <a:rPr lang="ko-KR" altLang="en-US"/>
              <a:t>검토</a:t>
            </a:r>
            <a:r>
              <a:rPr lang="en-US" altLang="ko-KR"/>
              <a:t>, </a:t>
            </a:r>
            <a:r>
              <a:rPr lang="ko-KR" altLang="en-US"/>
              <a:t>승인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en-US" altLang="ko-KR"/>
          </a:p>
        </p:txBody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AC5278E2-E66C-6C70-0DD7-D48FCF24B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82373558-16F3-6B2A-FC26-769D21AEE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B8A6C1E-1C80-75BC-7175-C81635948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F8CCC4-3DEB-77A5-401D-5CF3E052604C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65540" name="TextBox 4">
            <a:extLst>
              <a:ext uri="{FF2B5EF4-FFF2-40B4-BE49-F238E27FC236}">
                <a16:creationId xmlns:a16="http://schemas.microsoft.com/office/drawing/2014/main" id="{D357D80E-B13F-3902-3481-9F84AD99B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8. </a:t>
            </a:r>
            <a:r>
              <a:rPr lang="ko-KR" altLang="en-US"/>
              <a:t>운영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8.4 </a:t>
            </a:r>
            <a:r>
              <a:rPr lang="ko-KR" altLang="en-US"/>
              <a:t>외주품 관리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구매 절차서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8.4.1 </a:t>
            </a:r>
            <a:r>
              <a:rPr lang="ko-KR" altLang="en-US"/>
              <a:t>일반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구매품 선정 및 품목별 요구 조건 표식</a:t>
            </a:r>
            <a:r>
              <a:rPr lang="en-US" altLang="ko-KR"/>
              <a:t>|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고객 지정 공급 업체 구매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회사 지정 업체</a:t>
            </a:r>
            <a:br>
              <a:rPr lang="en-US" altLang="ko-KR">
                <a:solidFill>
                  <a:srgbClr val="0348F3"/>
                </a:solidFill>
              </a:rPr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공급 업체 관리 대장 </a:t>
            </a:r>
            <a:r>
              <a:rPr lang="en-US" altLang="ko-KR">
                <a:solidFill>
                  <a:srgbClr val="0348F3"/>
                </a:solidFill>
              </a:rPr>
              <a:t>(</a:t>
            </a:r>
            <a:r>
              <a:rPr lang="ko-KR" altLang="en-US">
                <a:solidFill>
                  <a:srgbClr val="0348F3"/>
                </a:solidFill>
              </a:rPr>
              <a:t>승인범위 </a:t>
            </a:r>
            <a:r>
              <a:rPr lang="en-US" altLang="ko-KR">
                <a:solidFill>
                  <a:srgbClr val="0348F3"/>
                </a:solidFill>
              </a:rPr>
              <a:t>/ </a:t>
            </a:r>
            <a:r>
              <a:rPr lang="ko-KR" altLang="en-US">
                <a:solidFill>
                  <a:srgbClr val="0348F3"/>
                </a:solidFill>
              </a:rPr>
              <a:t>승인 등급</a:t>
            </a:r>
            <a:r>
              <a:rPr lang="en-US" altLang="ko-KR">
                <a:solidFill>
                  <a:srgbClr val="0348F3"/>
                </a:solidFill>
              </a:rPr>
              <a:t>(</a:t>
            </a:r>
            <a:r>
              <a:rPr lang="ko-KR" altLang="en-US">
                <a:solidFill>
                  <a:srgbClr val="0348F3"/>
                </a:solidFill>
              </a:rPr>
              <a:t>승인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조건부승인</a:t>
            </a:r>
            <a:r>
              <a:rPr lang="en-US" altLang="ko-KR">
                <a:solidFill>
                  <a:srgbClr val="0348F3"/>
                </a:solidFill>
              </a:rPr>
              <a:t>, </a:t>
            </a:r>
            <a:r>
              <a:rPr lang="ko-KR" altLang="en-US">
                <a:solidFill>
                  <a:srgbClr val="0348F3"/>
                </a:solidFill>
              </a:rPr>
              <a:t>승인취소</a:t>
            </a:r>
            <a:r>
              <a:rPr lang="en-US" altLang="ko-KR">
                <a:solidFill>
                  <a:srgbClr val="0348F3"/>
                </a:solidFill>
              </a:rPr>
              <a:t>) </a:t>
            </a:r>
            <a:r>
              <a:rPr lang="ko-KR" altLang="en-US">
                <a:solidFill>
                  <a:srgbClr val="0348F3"/>
                </a:solidFill>
              </a:rPr>
              <a:t>기록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공급 업체 선별</a:t>
            </a:r>
            <a:r>
              <a:rPr lang="en-US" altLang="ko-KR"/>
              <a:t>, - </a:t>
            </a:r>
            <a:r>
              <a:rPr lang="ko-KR" altLang="en-US"/>
              <a:t>공급사 평가</a:t>
            </a:r>
            <a:r>
              <a:rPr lang="en-US" altLang="ko-KR"/>
              <a:t>, </a:t>
            </a:r>
            <a:r>
              <a:rPr lang="ko-KR" altLang="en-US"/>
              <a:t>등록 및 유지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공급사 평가 및 등록 프로세스 및 정기 평가 프로세스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협력사 관리 지침서</a:t>
            </a:r>
            <a:r>
              <a:rPr lang="en-US" altLang="ko-KR"/>
              <a:t>, </a:t>
            </a:r>
            <a:r>
              <a:rPr lang="ko-KR" altLang="en-US"/>
              <a:t>수령 검사 지침서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8.4.2 </a:t>
            </a:r>
            <a:r>
              <a:rPr lang="ko-KR" altLang="en-US"/>
              <a:t>관리 형태 및 범위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공급사 적용 범위 및 제품 적용 범위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검사 지침서에 검사 항목 </a:t>
            </a:r>
            <a:r>
              <a:rPr lang="en-US" altLang="ko-KR">
                <a:solidFill>
                  <a:srgbClr val="0348F3"/>
                </a:solidFill>
              </a:rPr>
              <a:t>(</a:t>
            </a:r>
            <a:r>
              <a:rPr lang="ko-KR" altLang="en-US">
                <a:solidFill>
                  <a:srgbClr val="0348F3"/>
                </a:solidFill>
              </a:rPr>
              <a:t>위조품 내용 포함</a:t>
            </a:r>
            <a:r>
              <a:rPr lang="en-US" altLang="ko-KR">
                <a:solidFill>
                  <a:srgbClr val="0348F3"/>
                </a:solidFill>
              </a:rPr>
              <a:t>)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공급사 제품 적합성 입증 프로세스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8.4.3 </a:t>
            </a:r>
            <a:r>
              <a:rPr lang="ko-KR" altLang="en-US"/>
              <a:t>외부 공급자 교류 정보</a:t>
            </a:r>
            <a:r>
              <a:rPr lang="en-US" altLang="ko-KR"/>
              <a:t>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제품 생산 전</a:t>
            </a:r>
            <a:r>
              <a:rPr lang="en-US" altLang="ko-KR"/>
              <a:t>, </a:t>
            </a:r>
            <a:r>
              <a:rPr lang="ko-KR" altLang="en-US"/>
              <a:t>중 및 후 필요 항목 공유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고객 요구 조건 및 </a:t>
            </a:r>
            <a:r>
              <a:rPr lang="en-US" altLang="ko-KR">
                <a:solidFill>
                  <a:srgbClr val="0348F3"/>
                </a:solidFill>
              </a:rPr>
              <a:t>QMS </a:t>
            </a:r>
            <a:r>
              <a:rPr lang="ko-KR" altLang="en-US">
                <a:solidFill>
                  <a:srgbClr val="0348F3"/>
                </a:solidFill>
              </a:rPr>
              <a:t>요구 조건 </a:t>
            </a:r>
            <a:r>
              <a:rPr lang="en-US" altLang="ko-KR">
                <a:solidFill>
                  <a:srgbClr val="0348F3"/>
                </a:solidFill>
              </a:rPr>
              <a:t>(</a:t>
            </a:r>
            <a:r>
              <a:rPr lang="ko-KR" altLang="en-US">
                <a:solidFill>
                  <a:srgbClr val="0348F3"/>
                </a:solidFill>
              </a:rPr>
              <a:t>협력사에 </a:t>
            </a:r>
            <a:r>
              <a:rPr lang="en-US" altLang="ko-KR">
                <a:solidFill>
                  <a:srgbClr val="0348F3"/>
                </a:solidFill>
              </a:rPr>
              <a:t>SQAR </a:t>
            </a:r>
            <a:r>
              <a:rPr lang="ko-KR" altLang="en-US">
                <a:solidFill>
                  <a:srgbClr val="0348F3"/>
                </a:solidFill>
              </a:rPr>
              <a:t>통보</a:t>
            </a:r>
            <a:r>
              <a:rPr lang="en-US" altLang="ko-KR">
                <a:solidFill>
                  <a:srgbClr val="0348F3"/>
                </a:solidFill>
              </a:rPr>
              <a:t>)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 공급사 관리 프로세스 </a:t>
            </a:r>
            <a:endParaRPr lang="en-US" altLang="ko-KR"/>
          </a:p>
        </p:txBody>
      </p:sp>
      <p:sp>
        <p:nvSpPr>
          <p:cNvPr id="65541" name="Rectangle 3">
            <a:extLst>
              <a:ext uri="{FF2B5EF4-FFF2-40B4-BE49-F238E27FC236}">
                <a16:creationId xmlns:a16="http://schemas.microsoft.com/office/drawing/2014/main" id="{4B3AA484-91B4-AB1C-290D-429C8B3CC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90170F5E-2817-66F9-FE4B-855A05BCF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A44E90F4-CF0F-E180-B2C0-50E98F605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0C44C0-5D04-4878-7D53-23A47FC6EEF5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F8833A7E-068E-7717-A012-66BBE45E0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6565" name="Rectangle 6">
            <a:extLst>
              <a:ext uri="{FF2B5EF4-FFF2-40B4-BE49-F238E27FC236}">
                <a16:creationId xmlns:a16="http://schemas.microsoft.com/office/drawing/2014/main" id="{24303C07-AE76-3B23-6307-7E66574EF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66566" name="TextBox 4">
            <a:extLst>
              <a:ext uri="{FF2B5EF4-FFF2-40B4-BE49-F238E27FC236}">
                <a16:creationId xmlns:a16="http://schemas.microsoft.com/office/drawing/2014/main" id="{69B63CF9-C0A0-E898-E455-B334526BF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8. </a:t>
            </a:r>
            <a:r>
              <a:rPr lang="ko-KR" altLang="en-US"/>
              <a:t>운영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8.5 </a:t>
            </a:r>
            <a:r>
              <a:rPr lang="ko-KR" altLang="en-US"/>
              <a:t>제품 및 서비스 제공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8.5.1 </a:t>
            </a:r>
            <a:r>
              <a:rPr lang="ko-KR" altLang="en-US"/>
              <a:t>제품 및 서비스 제공의 관리</a:t>
            </a:r>
            <a:r>
              <a:rPr lang="en-US" altLang="ko-KR"/>
              <a:t>, (</a:t>
            </a:r>
            <a:r>
              <a:rPr lang="ko-KR" altLang="en-US"/>
              <a:t>관련 조건 수립</a:t>
            </a:r>
            <a:r>
              <a:rPr lang="en-US" altLang="ko-KR"/>
              <a:t>/ </a:t>
            </a:r>
            <a:r>
              <a:rPr lang="ko-KR" altLang="en-US"/>
              <a:t>유지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>
                <a:solidFill>
                  <a:srgbClr val="0348F3"/>
                </a:solidFill>
              </a:rPr>
              <a:t>제품 생산 조건 </a:t>
            </a:r>
            <a:r>
              <a:rPr lang="en-US" altLang="ko-KR">
                <a:solidFill>
                  <a:srgbClr val="0348F3"/>
                </a:solidFill>
              </a:rPr>
              <a:t>(17) </a:t>
            </a:r>
            <a:r>
              <a:rPr lang="ko-KR" altLang="en-US">
                <a:solidFill>
                  <a:srgbClr val="0348F3"/>
                </a:solidFill>
              </a:rPr>
              <a:t>선정 및 수립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수립 생산 조건 유지 및 관리</a:t>
            </a:r>
            <a:r>
              <a:rPr lang="en-US" altLang="ko-KR"/>
              <a:t>, - </a:t>
            </a:r>
            <a:r>
              <a:rPr lang="ko-KR" altLang="en-US"/>
              <a:t>모니터링 및 측정대상 선정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제품 실현 기획 절차서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8.5.1.1 </a:t>
            </a:r>
            <a:r>
              <a:rPr lang="ko-KR" altLang="en-US"/>
              <a:t>장비</a:t>
            </a:r>
            <a:r>
              <a:rPr lang="en-US" altLang="ko-KR"/>
              <a:t>, </a:t>
            </a:r>
            <a:r>
              <a:rPr lang="ko-KR" altLang="en-US"/>
              <a:t>치공구 및 프로그램 관리</a:t>
            </a:r>
            <a:r>
              <a:rPr lang="en-US" altLang="ko-KR"/>
              <a:t>, (</a:t>
            </a:r>
            <a:r>
              <a:rPr lang="ko-KR" altLang="en-US"/>
              <a:t>관련 프로세스</a:t>
            </a:r>
            <a:r>
              <a:rPr lang="en-US" altLang="ko-KR"/>
              <a:t>)</a:t>
            </a:r>
            <a:r>
              <a:rPr lang="ko-KR" altLang="en-US"/>
              <a:t>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생산용 장비</a:t>
            </a:r>
            <a:r>
              <a:rPr lang="en-US" altLang="ko-KR"/>
              <a:t>, </a:t>
            </a:r>
            <a:r>
              <a:rPr lang="ko-KR" altLang="en-US"/>
              <a:t>치공구 및 소프트웨어 선정 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사용전 혹은 변경시 검증</a:t>
            </a:r>
            <a:r>
              <a:rPr lang="en-US" altLang="ko-KR">
                <a:solidFill>
                  <a:srgbClr val="0348F3"/>
                </a:solidFill>
              </a:rPr>
              <a:t>,  (</a:t>
            </a:r>
            <a:r>
              <a:rPr lang="ko-KR" altLang="en-US">
                <a:solidFill>
                  <a:srgbClr val="0348F3"/>
                </a:solidFill>
              </a:rPr>
              <a:t>초도 검사 수행</a:t>
            </a:r>
            <a:r>
              <a:rPr lang="en-US" altLang="ko-KR">
                <a:solidFill>
                  <a:srgbClr val="0348F3"/>
                </a:solidFill>
              </a:rPr>
              <a:t>)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장비</a:t>
            </a:r>
            <a:r>
              <a:rPr lang="en-US" altLang="ko-KR"/>
              <a:t>, </a:t>
            </a:r>
            <a:r>
              <a:rPr lang="ko-KR" altLang="en-US"/>
              <a:t>치공구 및 소프트웨어 관리 지침서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8.5.1.2 </a:t>
            </a:r>
            <a:r>
              <a:rPr lang="ko-KR" altLang="en-US"/>
              <a:t>특수 공정</a:t>
            </a:r>
            <a:r>
              <a:rPr lang="en-US" altLang="ko-KR"/>
              <a:t>, (</a:t>
            </a:r>
            <a:r>
              <a:rPr lang="ko-KR" altLang="en-US"/>
              <a:t>특수 공정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점검 대상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특수 공정 관리 지침서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8.5.1.3 </a:t>
            </a:r>
            <a:r>
              <a:rPr lang="ko-KR" altLang="en-US"/>
              <a:t>초도 검사</a:t>
            </a:r>
            <a:r>
              <a:rPr lang="en-US" altLang="ko-KR"/>
              <a:t>, (</a:t>
            </a:r>
            <a:r>
              <a:rPr lang="ko-KR" altLang="en-US"/>
              <a:t>초도 검사 프로세스</a:t>
            </a:r>
            <a:r>
              <a:rPr lang="en-US" altLang="ko-KR"/>
              <a:t>)</a:t>
            </a:r>
            <a:r>
              <a:rPr lang="ko-KR" altLang="en-US"/>
              <a:t>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초도 검사 대상 선정 및 수행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Form 1,2,3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초도품 관리 절차서    </a:t>
            </a:r>
            <a:endParaRPr lang="en-US" altLang="ko-KR"/>
          </a:p>
        </p:txBody>
      </p:sp>
    </p:spTree>
  </p:cSld>
  <p:clrMapOvr>
    <a:masterClrMapping/>
  </p:clrMapOvr>
  <p:transition>
    <p:zoom dir="in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28E8493-566A-F024-FB98-43178CC36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C6FA62-516C-D976-89E9-FA369375D0C5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789EDFD3-1643-9306-0118-00FFC419B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7589" name="Rectangle 6">
            <a:extLst>
              <a:ext uri="{FF2B5EF4-FFF2-40B4-BE49-F238E27FC236}">
                <a16:creationId xmlns:a16="http://schemas.microsoft.com/office/drawing/2014/main" id="{93566304-235E-B977-5855-B9B1701D0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67590" name="TextBox 4">
            <a:extLst>
              <a:ext uri="{FF2B5EF4-FFF2-40B4-BE49-F238E27FC236}">
                <a16:creationId xmlns:a16="http://schemas.microsoft.com/office/drawing/2014/main" id="{C8A3E327-ED26-30F0-29D2-C39E0A142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8. </a:t>
            </a:r>
            <a:r>
              <a:rPr lang="ko-KR" altLang="en-US"/>
              <a:t>운영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8.5.2 </a:t>
            </a:r>
            <a:r>
              <a:rPr lang="ko-KR" altLang="en-US"/>
              <a:t>식별 및 추적성</a:t>
            </a:r>
            <a:r>
              <a:rPr lang="en-US" altLang="ko-KR"/>
              <a:t>, (</a:t>
            </a:r>
            <a:r>
              <a:rPr lang="ko-KR" altLang="en-US"/>
              <a:t>식별 및 추적성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제품 형상 식별 및 추적성 방법 수립</a:t>
            </a:r>
            <a:r>
              <a:rPr lang="en-US" altLang="ko-KR"/>
              <a:t>, 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원자재</a:t>
            </a:r>
            <a:r>
              <a:rPr lang="en-US" altLang="ko-KR">
                <a:solidFill>
                  <a:srgbClr val="0348F3"/>
                </a:solidFill>
              </a:rPr>
              <a:t>/</a:t>
            </a:r>
            <a:r>
              <a:rPr lang="ko-KR" altLang="en-US">
                <a:solidFill>
                  <a:srgbClr val="0348F3"/>
                </a:solidFill>
              </a:rPr>
              <a:t>부품</a:t>
            </a:r>
            <a:r>
              <a:rPr lang="en-US" altLang="ko-KR">
                <a:solidFill>
                  <a:srgbClr val="0348F3"/>
                </a:solidFill>
              </a:rPr>
              <a:t>-</a:t>
            </a:r>
            <a:r>
              <a:rPr lang="ko-KR" altLang="en-US">
                <a:solidFill>
                  <a:srgbClr val="0348F3"/>
                </a:solidFill>
              </a:rPr>
              <a:t>공정서상</a:t>
            </a:r>
            <a:r>
              <a:rPr lang="en-US" altLang="ko-KR">
                <a:solidFill>
                  <a:srgbClr val="0348F3"/>
                </a:solidFill>
              </a:rPr>
              <a:t>-</a:t>
            </a:r>
            <a:r>
              <a:rPr lang="ko-KR" altLang="en-US">
                <a:solidFill>
                  <a:srgbClr val="0348F3"/>
                </a:solidFill>
              </a:rPr>
              <a:t>완제품 </a:t>
            </a:r>
            <a:r>
              <a:rPr lang="en-US" altLang="ko-KR">
                <a:solidFill>
                  <a:srgbClr val="0348F3"/>
                </a:solidFill>
              </a:rPr>
              <a:t>-</a:t>
            </a:r>
            <a:r>
              <a:rPr lang="ko-KR" altLang="en-US">
                <a:solidFill>
                  <a:srgbClr val="0348F3"/>
                </a:solidFill>
              </a:rPr>
              <a:t>식별표식 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제품 식별 및 추적 관리 지침서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8.5.3 </a:t>
            </a:r>
            <a:r>
              <a:rPr lang="ko-KR" altLang="en-US"/>
              <a:t>고객 및 외부 공급자의 자산</a:t>
            </a:r>
            <a:r>
              <a:rPr lang="en-US" altLang="ko-KR"/>
              <a:t>, (</a:t>
            </a:r>
            <a:r>
              <a:rPr lang="ko-KR" altLang="en-US"/>
              <a:t>고객 자산 관리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자산 관리 대상 선정</a:t>
            </a:r>
            <a:r>
              <a:rPr lang="en-US" altLang="ko-KR"/>
              <a:t>, </a:t>
            </a:r>
            <a:r>
              <a:rPr lang="ko-KR" altLang="en-US"/>
              <a:t>식별</a:t>
            </a:r>
            <a:r>
              <a:rPr lang="en-US" altLang="ko-KR"/>
              <a:t>, </a:t>
            </a:r>
            <a:r>
              <a:rPr lang="ko-KR" altLang="en-US"/>
              <a:t> 보존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고객 자산 관리 지침서 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8.5.4 </a:t>
            </a:r>
            <a:r>
              <a:rPr lang="ko-KR" altLang="en-US"/>
              <a:t>보존</a:t>
            </a:r>
            <a:r>
              <a:rPr lang="en-US" altLang="ko-KR"/>
              <a:t>, (</a:t>
            </a:r>
            <a:r>
              <a:rPr lang="ko-KR" altLang="en-US"/>
              <a:t>관련 프로세스 수립</a:t>
            </a:r>
            <a:r>
              <a:rPr lang="en-US" altLang="ko-KR"/>
              <a:t>)_</a:t>
            </a:r>
            <a:r>
              <a:rPr lang="ko-KR" altLang="en-US"/>
              <a:t>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제품 보존 관리 지침서</a:t>
            </a:r>
            <a:r>
              <a:rPr lang="en-US" altLang="ko-KR"/>
              <a:t>, (</a:t>
            </a:r>
            <a:r>
              <a:rPr lang="ko-KR" altLang="en-US"/>
              <a:t>생산중</a:t>
            </a:r>
            <a:r>
              <a:rPr lang="en-US" altLang="ko-KR"/>
              <a:t>, </a:t>
            </a:r>
            <a:r>
              <a:rPr lang="ko-KR" altLang="en-US"/>
              <a:t>납품시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8.5.5 </a:t>
            </a:r>
            <a:r>
              <a:rPr lang="ko-KR" altLang="en-US"/>
              <a:t>인도 후 활동</a:t>
            </a:r>
            <a:r>
              <a:rPr lang="en-US" altLang="ko-KR"/>
              <a:t>, (AS </a:t>
            </a:r>
            <a:r>
              <a:rPr lang="ko-KR" altLang="en-US"/>
              <a:t>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법적</a:t>
            </a:r>
            <a:r>
              <a:rPr lang="en-US" altLang="ko-KR"/>
              <a:t>, </a:t>
            </a:r>
            <a:r>
              <a:rPr lang="ko-KR" altLang="en-US"/>
              <a:t>고객</a:t>
            </a:r>
            <a:r>
              <a:rPr lang="en-US" altLang="ko-KR"/>
              <a:t> </a:t>
            </a:r>
            <a:r>
              <a:rPr lang="ko-KR" altLang="en-US"/>
              <a:t>및 </a:t>
            </a:r>
            <a:r>
              <a:rPr lang="en-US" altLang="ko-KR"/>
              <a:t>QMS </a:t>
            </a:r>
            <a:r>
              <a:rPr lang="ko-KR" altLang="en-US"/>
              <a:t>검토 및 범위 설정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인도 후 발생 가능 문제에 대한 후속 조치 방안 및 연계 절차서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제품 인도 후 관리 지침서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8.5.6 </a:t>
            </a:r>
            <a:r>
              <a:rPr lang="ko-KR" altLang="en-US"/>
              <a:t>변경 관리</a:t>
            </a:r>
            <a:r>
              <a:rPr lang="en-US" altLang="ko-KR"/>
              <a:t>, (Configuration Management </a:t>
            </a:r>
            <a:r>
              <a:rPr lang="ko-KR" altLang="en-US"/>
              <a:t>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변경 적용 과정 수립</a:t>
            </a:r>
            <a:r>
              <a:rPr lang="en-US" altLang="ko-KR"/>
              <a:t>,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변경 적용 대상 선정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: </a:t>
            </a:r>
            <a:r>
              <a:rPr lang="ko-KR" altLang="en-US">
                <a:solidFill>
                  <a:srgbClr val="0348F3"/>
                </a:solidFill>
              </a:rPr>
              <a:t>초도 적용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제품 실현 조건 변경 관리 지침서    </a:t>
            </a:r>
            <a:endParaRPr lang="en-US" altLang="ko-KR"/>
          </a:p>
        </p:txBody>
      </p:sp>
    </p:spTree>
  </p:cSld>
  <p:clrMapOvr>
    <a:masterClrMapping/>
  </p:clrMapOvr>
  <p:transition>
    <p:zoom dir="in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986DDAA6-C06A-198C-5D02-9D390614A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0E8310-ADE4-D492-2735-FCB8C343B4D0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E718B1C6-3ADB-D6A1-7BC7-41DF85D26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8613" name="Rectangle 6">
            <a:extLst>
              <a:ext uri="{FF2B5EF4-FFF2-40B4-BE49-F238E27FC236}">
                <a16:creationId xmlns:a16="http://schemas.microsoft.com/office/drawing/2014/main" id="{E113D357-87F3-574B-24BA-297C02752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68614" name="TextBox 4">
            <a:extLst>
              <a:ext uri="{FF2B5EF4-FFF2-40B4-BE49-F238E27FC236}">
                <a16:creationId xmlns:a16="http://schemas.microsoft.com/office/drawing/2014/main" id="{AF370D2F-9FED-5B8F-D127-2960517EE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8. </a:t>
            </a:r>
            <a:r>
              <a:rPr lang="ko-KR" altLang="en-US"/>
              <a:t>운영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8.6 </a:t>
            </a:r>
            <a:r>
              <a:rPr lang="ko-KR" altLang="en-US"/>
              <a:t>제품 출시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계획 작업 완료 여부 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제품 적합성 검사 및 보증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공정서상 최종검사 </a:t>
            </a:r>
            <a:r>
              <a:rPr lang="en-US" altLang="ko-KR">
                <a:solidFill>
                  <a:srgbClr val="0348F3"/>
                </a:solidFill>
              </a:rPr>
              <a:t>(</a:t>
            </a:r>
            <a:r>
              <a:rPr lang="ko-KR" altLang="en-US">
                <a:solidFill>
                  <a:srgbClr val="0348F3"/>
                </a:solidFill>
              </a:rPr>
              <a:t>납품 허락</a:t>
            </a:r>
            <a:r>
              <a:rPr lang="en-US" altLang="ko-KR">
                <a:solidFill>
                  <a:srgbClr val="0348F3"/>
                </a:solidFill>
              </a:rPr>
              <a:t>) </a:t>
            </a:r>
            <a:r>
              <a:rPr lang="ko-KR" altLang="en-US">
                <a:solidFill>
                  <a:srgbClr val="0348F3"/>
                </a:solidFill>
              </a:rPr>
              <a:t>공정 반영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최종 검사 지침서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8.7 </a:t>
            </a:r>
            <a:r>
              <a:rPr lang="ko-KR" altLang="en-US"/>
              <a:t>부적합품 관리</a:t>
            </a:r>
            <a:r>
              <a:rPr lang="en-US" altLang="ko-KR"/>
              <a:t>, (</a:t>
            </a:r>
            <a:r>
              <a:rPr lang="ko-KR" altLang="en-US"/>
              <a:t>부적합품 관리 프로프세</a:t>
            </a:r>
            <a:r>
              <a:rPr lang="en-US" altLang="ko-KR"/>
              <a:t>)</a:t>
            </a:r>
            <a:r>
              <a:rPr lang="ko-KR" altLang="en-US"/>
              <a:t>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부적합품 식별</a:t>
            </a:r>
            <a:r>
              <a:rPr lang="en-US" altLang="ko-KR"/>
              <a:t>, </a:t>
            </a:r>
            <a:r>
              <a:rPr lang="ko-KR" altLang="en-US"/>
              <a:t>봉쇄</a:t>
            </a:r>
            <a:r>
              <a:rPr lang="en-US" altLang="ko-KR"/>
              <a:t> </a:t>
            </a:r>
            <a:r>
              <a:rPr lang="ko-KR" altLang="en-US"/>
              <a:t>및 관리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부적합품 보관소 유지 </a:t>
            </a:r>
            <a:r>
              <a:rPr lang="en-US" altLang="ko-KR">
                <a:solidFill>
                  <a:srgbClr val="0348F3"/>
                </a:solidFill>
              </a:rPr>
              <a:t>(MBR BOOTH/ QUARARTINE), IN-OUT </a:t>
            </a:r>
            <a:r>
              <a:rPr lang="ko-KR" altLang="en-US">
                <a:solidFill>
                  <a:srgbClr val="0348F3"/>
                </a:solidFill>
              </a:rPr>
              <a:t>목록 유지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부적합품 기술 조치 및 검토자 자격 관리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부적합품 유입 방지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부적합품 관리 지침서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ko-KR" altLang="en-US"/>
              <a:t>   </a:t>
            </a:r>
            <a:endParaRPr lang="en-US" altLang="ko-KR"/>
          </a:p>
        </p:txBody>
      </p:sp>
    </p:spTree>
  </p:cSld>
  <p:clrMapOvr>
    <a:masterClrMapping/>
  </p:clrMapOvr>
  <p:transition>
    <p:zoom dir="in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71DB0B14-BA21-8AAD-083C-179BA4D59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2AFDF2-BB6E-6CF3-F74F-5F1D5425FFEB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D0171FA-899C-65CB-F76B-14F36FB23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9637" name="Rectangle 6">
            <a:extLst>
              <a:ext uri="{FF2B5EF4-FFF2-40B4-BE49-F238E27FC236}">
                <a16:creationId xmlns:a16="http://schemas.microsoft.com/office/drawing/2014/main" id="{66C3DD83-1061-8B53-E532-6206C8BA8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69638" name="TextBox 4">
            <a:extLst>
              <a:ext uri="{FF2B5EF4-FFF2-40B4-BE49-F238E27FC236}">
                <a16:creationId xmlns:a16="http://schemas.microsoft.com/office/drawing/2014/main" id="{F7C4C81A-403A-EB5A-6BF2-773F7E6B5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9. </a:t>
            </a:r>
            <a:r>
              <a:rPr lang="ko-KR" altLang="en-US"/>
              <a:t>성과 평가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9.1 </a:t>
            </a:r>
            <a:r>
              <a:rPr lang="ko-KR" altLang="en-US"/>
              <a:t>모니터링</a:t>
            </a:r>
            <a:r>
              <a:rPr lang="en-US" altLang="ko-KR"/>
              <a:t>, </a:t>
            </a:r>
            <a:r>
              <a:rPr lang="ko-KR" altLang="en-US"/>
              <a:t>측정</a:t>
            </a:r>
            <a:r>
              <a:rPr lang="en-US" altLang="ko-KR"/>
              <a:t>, </a:t>
            </a:r>
            <a:r>
              <a:rPr lang="ko-KR" altLang="en-US"/>
              <a:t>분석 및 평가</a:t>
            </a:r>
            <a:r>
              <a:rPr lang="en-US" altLang="ko-KR"/>
              <a:t>, (</a:t>
            </a:r>
            <a:r>
              <a:rPr lang="ko-KR" altLang="en-US"/>
              <a:t>분석 및 평가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모니터링 및 측정 대상 선정 </a:t>
            </a:r>
            <a:r>
              <a:rPr lang="en-US" altLang="ko-KR"/>
              <a:t>- </a:t>
            </a:r>
            <a:r>
              <a:rPr lang="ko-KR" altLang="en-US"/>
              <a:t>측정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분석 및 평가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현황 </a:t>
            </a:r>
            <a:r>
              <a:rPr lang="en-US" altLang="ko-KR"/>
              <a:t>(</a:t>
            </a:r>
            <a:r>
              <a:rPr lang="ko-KR" altLang="en-US"/>
              <a:t>위험 및 기회</a:t>
            </a:r>
            <a:r>
              <a:rPr lang="en-US" altLang="ko-KR"/>
              <a:t>)</a:t>
            </a:r>
            <a:r>
              <a:rPr lang="ko-KR" altLang="en-US"/>
              <a:t> 파악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품질 분석 기준서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9.2 </a:t>
            </a:r>
            <a:r>
              <a:rPr lang="ko-KR" altLang="en-US"/>
              <a:t>내부 심사</a:t>
            </a:r>
            <a:r>
              <a:rPr lang="en-US" altLang="ko-KR"/>
              <a:t>, (</a:t>
            </a:r>
            <a:r>
              <a:rPr lang="ko-KR" altLang="en-US"/>
              <a:t>내부 심사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내부 심사 계획 수립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심사원 선정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내부 심사 결과에 따른 시정 조치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현황 </a:t>
            </a:r>
            <a:r>
              <a:rPr lang="en-US" altLang="ko-KR"/>
              <a:t>(</a:t>
            </a:r>
            <a:r>
              <a:rPr lang="ko-KR" altLang="en-US"/>
              <a:t>위험 및 기회</a:t>
            </a:r>
            <a:r>
              <a:rPr lang="en-US" altLang="ko-KR"/>
              <a:t>)</a:t>
            </a:r>
            <a:r>
              <a:rPr lang="ko-KR" altLang="en-US"/>
              <a:t> 파악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내부 심사 절차서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9.3 </a:t>
            </a:r>
            <a:r>
              <a:rPr lang="ko-KR" altLang="en-US"/>
              <a:t>경영 검토</a:t>
            </a:r>
            <a:r>
              <a:rPr lang="en-US" altLang="ko-KR"/>
              <a:t>, (</a:t>
            </a:r>
            <a:r>
              <a:rPr lang="ko-KR" altLang="en-US"/>
              <a:t>경영 검토 프로세스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평가 대상 선정</a:t>
            </a:r>
            <a:r>
              <a:rPr lang="en-US" altLang="ko-KR"/>
              <a:t>, </a:t>
            </a:r>
            <a:r>
              <a:rPr lang="ko-KR" altLang="en-US"/>
              <a:t>수집</a:t>
            </a:r>
            <a:r>
              <a:rPr lang="en-US" altLang="ko-KR"/>
              <a:t>, </a:t>
            </a:r>
            <a:r>
              <a:rPr lang="ko-KR" altLang="en-US"/>
              <a:t>분석 및 평가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안건 도출 및 </a:t>
            </a:r>
            <a:r>
              <a:rPr lang="en-US" altLang="ko-KR">
                <a:solidFill>
                  <a:srgbClr val="0348F3"/>
                </a:solidFill>
              </a:rPr>
              <a:t>4</a:t>
            </a:r>
            <a:r>
              <a:rPr lang="ko-KR" altLang="en-US">
                <a:solidFill>
                  <a:srgbClr val="0348F3"/>
                </a:solidFill>
              </a:rPr>
              <a:t>건 포함한 조치 방안 수립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실행 계획 수립 및 실행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경영 검토 기준서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ko-KR" altLang="en-US"/>
              <a:t>   </a:t>
            </a:r>
            <a:endParaRPr lang="en-US" altLang="ko-KR"/>
          </a:p>
        </p:txBody>
      </p:sp>
    </p:spTree>
  </p:cSld>
  <p:clrMapOvr>
    <a:masterClrMapping/>
  </p:clrMapOvr>
  <p:transition>
    <p:zoom dir="in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A75A2905-4F46-5DE3-24C7-3F500388E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98B334-6540-F50F-8564-CB827170B4C1}"/>
              </a:ext>
            </a:extLst>
          </p:cNvPr>
          <p:cNvSpPr/>
          <p:nvPr/>
        </p:nvSpPr>
        <p:spPr>
          <a:xfrm>
            <a:off x="7938" y="0"/>
            <a:ext cx="22574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 관점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5672B250-775B-D0BA-D1E2-9BC03FB6C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70661" name="Rectangle 6">
            <a:extLst>
              <a:ext uri="{FF2B5EF4-FFF2-40B4-BE49-F238E27FC236}">
                <a16:creationId xmlns:a16="http://schemas.microsoft.com/office/drawing/2014/main" id="{84B3222D-0FC6-C396-C8B0-F35D41D80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70662" name="TextBox 4">
            <a:extLst>
              <a:ext uri="{FF2B5EF4-FFF2-40B4-BE49-F238E27FC236}">
                <a16:creationId xmlns:a16="http://schemas.microsoft.com/office/drawing/2014/main" id="{059640C5-24F9-935E-3F99-E75048578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884238"/>
            <a:ext cx="8128000" cy="590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Para 10. </a:t>
            </a:r>
            <a:r>
              <a:rPr lang="ko-KR" altLang="en-US"/>
              <a:t>혁신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10.1 </a:t>
            </a:r>
            <a:r>
              <a:rPr lang="ko-KR" altLang="en-US"/>
              <a:t>일반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제품 혁신 기회</a:t>
            </a:r>
            <a:r>
              <a:rPr lang="en-US" altLang="ko-KR"/>
              <a:t>,  - QMS </a:t>
            </a:r>
            <a:r>
              <a:rPr lang="ko-KR" altLang="en-US"/>
              <a:t>혁신 기회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제품 적합성 및 고객 만족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모니터링</a:t>
            </a:r>
            <a:r>
              <a:rPr lang="en-US" altLang="ko-KR"/>
              <a:t>, </a:t>
            </a:r>
            <a:r>
              <a:rPr lang="ko-KR" altLang="en-US"/>
              <a:t>측정</a:t>
            </a:r>
            <a:r>
              <a:rPr lang="en-US" altLang="ko-KR"/>
              <a:t>, </a:t>
            </a:r>
            <a:r>
              <a:rPr lang="ko-KR" altLang="en-US"/>
              <a:t>분석 및 평가 자료 바탕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제품 예방 기준서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10.2 </a:t>
            </a:r>
            <a:r>
              <a:rPr lang="ko-KR" altLang="en-US"/>
              <a:t>시정조치</a:t>
            </a:r>
            <a:r>
              <a:rPr lang="en-US" altLang="ko-KR"/>
              <a:t>, (</a:t>
            </a:r>
            <a:r>
              <a:rPr lang="ko-KR" altLang="en-US"/>
              <a:t>시정 조치 프로세스</a:t>
            </a:r>
            <a:r>
              <a:rPr lang="en-US" altLang="ko-KR"/>
              <a:t>)</a:t>
            </a:r>
            <a:r>
              <a:rPr lang="ko-KR" altLang="en-US"/>
              <a:t> 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시정조치 대상 선정 </a:t>
            </a:r>
            <a:r>
              <a:rPr lang="en-US" altLang="ko-KR"/>
              <a:t>(</a:t>
            </a:r>
            <a:r>
              <a:rPr lang="ko-KR" altLang="en-US"/>
              <a:t>제품</a:t>
            </a:r>
            <a:r>
              <a:rPr lang="en-US" altLang="ko-KR"/>
              <a:t>, </a:t>
            </a:r>
            <a:r>
              <a:rPr lang="ko-KR" altLang="en-US"/>
              <a:t>고객불만족</a:t>
            </a:r>
            <a:r>
              <a:rPr lang="en-US" altLang="ko-KR"/>
              <a:t>, </a:t>
            </a:r>
            <a:r>
              <a:rPr lang="ko-KR" altLang="en-US"/>
              <a:t>심사부적합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부적합 즉시 조치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부적합 원인 조사</a:t>
            </a:r>
            <a:br>
              <a:rPr lang="en-US" altLang="ko-KR"/>
            </a:br>
            <a:r>
              <a:rPr lang="en-US" altLang="ko-KR">
                <a:solidFill>
                  <a:srgbClr val="0348F3"/>
                </a:solidFill>
              </a:rPr>
              <a:t>- </a:t>
            </a:r>
            <a:r>
              <a:rPr lang="ko-KR" altLang="en-US">
                <a:solidFill>
                  <a:srgbClr val="0348F3"/>
                </a:solidFill>
              </a:rPr>
              <a:t>부적합 시정조치 기록 유지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제품 시정 조치 기준서 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en-US" altLang="ko-KR"/>
              <a:t>10.3 </a:t>
            </a:r>
            <a:r>
              <a:rPr lang="ko-KR" altLang="en-US"/>
              <a:t>지속 혁신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모니터링</a:t>
            </a:r>
            <a:r>
              <a:rPr lang="en-US" altLang="ko-KR"/>
              <a:t>, </a:t>
            </a:r>
            <a:r>
              <a:rPr lang="ko-KR" altLang="en-US"/>
              <a:t>측정</a:t>
            </a:r>
            <a:r>
              <a:rPr lang="en-US" altLang="ko-KR"/>
              <a:t>, </a:t>
            </a:r>
            <a:r>
              <a:rPr lang="ko-KR" altLang="en-US"/>
              <a:t>분석 및 평가 도출</a:t>
            </a:r>
            <a:br>
              <a:rPr lang="en-US" altLang="ko-KR"/>
            </a:br>
            <a:r>
              <a:rPr lang="en-US" altLang="ko-KR"/>
              <a:t>-  </a:t>
            </a:r>
            <a:r>
              <a:rPr lang="ko-KR" altLang="en-US"/>
              <a:t>개선 방안 도출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동향 파악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적절성</a:t>
            </a:r>
            <a:r>
              <a:rPr lang="en-US" altLang="ko-KR"/>
              <a:t>, </a:t>
            </a:r>
            <a:r>
              <a:rPr lang="ko-KR" altLang="en-US"/>
              <a:t>정확성 및 효율성 향상</a:t>
            </a:r>
            <a:r>
              <a:rPr lang="en-US" altLang="ko-KR"/>
              <a:t>, </a:t>
            </a:r>
            <a:br>
              <a:rPr lang="en-US" altLang="ko-KR"/>
            </a:br>
            <a:r>
              <a:rPr lang="en-US" altLang="ko-KR"/>
              <a:t>: </a:t>
            </a:r>
            <a:r>
              <a:rPr lang="ko-KR" altLang="en-US"/>
              <a:t>지속적 혁신 기준서</a:t>
            </a:r>
            <a:endParaRPr lang="en-US" altLang="ko-KR"/>
          </a:p>
          <a:p>
            <a:pPr>
              <a:spcBef>
                <a:spcPct val="50000"/>
              </a:spcBef>
            </a:pPr>
            <a:r>
              <a:rPr lang="ko-KR" altLang="en-US"/>
              <a:t>   </a:t>
            </a:r>
            <a:endParaRPr lang="en-US" altLang="ko-KR"/>
          </a:p>
        </p:txBody>
      </p:sp>
    </p:spTree>
  </p:cSld>
  <p:clrMapOvr>
    <a:masterClrMapping/>
  </p:clrMapOvr>
  <p:transition>
    <p:zoom dir="in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328C3C8-B66E-C2E2-94B2-84D01CFAB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71683" name="TextBox 1">
            <a:extLst>
              <a:ext uri="{FF2B5EF4-FFF2-40B4-BE49-F238E27FC236}">
                <a16:creationId xmlns:a16="http://schemas.microsoft.com/office/drawing/2014/main" id="{3063C62C-8624-F06A-9ECA-A86B33873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557338"/>
            <a:ext cx="4176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ko-KR" altLang="en-US" sz="4000"/>
              <a:t>질문 </a:t>
            </a:r>
            <a:r>
              <a:rPr lang="en-US" altLang="ko-KR" sz="4000"/>
              <a:t>?</a:t>
            </a:r>
            <a:endParaRPr lang="ko-KR" altLang="en-US" sz="4000"/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D0F25B4B-942A-E26F-8DF3-8F5916A2B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71685" name="Rectangle 6">
            <a:extLst>
              <a:ext uri="{FF2B5EF4-FFF2-40B4-BE49-F238E27FC236}">
                <a16:creationId xmlns:a16="http://schemas.microsoft.com/office/drawing/2014/main" id="{D0DC45AF-6291-37C8-F150-2F4913D37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1653172B-7AF6-6186-A578-CC60C5C18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72707" name="TextBox 1">
            <a:extLst>
              <a:ext uri="{FF2B5EF4-FFF2-40B4-BE49-F238E27FC236}">
                <a16:creationId xmlns:a16="http://schemas.microsoft.com/office/drawing/2014/main" id="{260B223A-D775-C31F-442F-CF0A39F00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557338"/>
            <a:ext cx="4176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ko-KR" altLang="en-US" sz="4000"/>
              <a:t>감사합니다</a:t>
            </a: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E84EFA1B-6DFD-BD4A-855C-6625F6B58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3963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72709" name="Rectangle 6">
            <a:extLst>
              <a:ext uri="{FF2B5EF4-FFF2-40B4-BE49-F238E27FC236}">
                <a16:creationId xmlns:a16="http://schemas.microsoft.com/office/drawing/2014/main" id="{D57A0C0B-6D00-F2F4-79FC-A899D2E41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6410325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Blank Presentation">
      <a:majorFont>
        <a:latin typeface="Nokia Sans SemiBold"/>
        <a:ea typeface=""/>
        <a:cs typeface=""/>
      </a:majorFont>
      <a:minorFont>
        <a:latin typeface="Rotis Sans Serif for Nok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52729</TotalTime>
  <Words>3216</Words>
  <Application>Microsoft Office PowerPoint</Application>
  <PresentationFormat>화면 슬라이드 쇼(4:3)</PresentationFormat>
  <Paragraphs>347</Paragraphs>
  <Slides>39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39</vt:i4>
      </vt:variant>
    </vt:vector>
  </HeadingPairs>
  <TitlesOfParts>
    <vt:vector size="50" baseType="lpstr">
      <vt:lpstr>Microsoft Sans Serif</vt:lpstr>
      <vt:lpstr>굴림</vt:lpstr>
      <vt:lpstr>Arial</vt:lpstr>
      <vt:lpstr>Nokia Sans SemiBold</vt:lpstr>
      <vt:lpstr>Rotis Sans Serif for Nokia</vt:lpstr>
      <vt:lpstr>Times New Roman</vt:lpstr>
      <vt:lpstr>맑은 고딕</vt:lpstr>
      <vt:lpstr>Blank Presentation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GA4</dc:creator>
  <cp:lastModifiedBy>임재홍</cp:lastModifiedBy>
  <cp:revision>916</cp:revision>
  <dcterms:created xsi:type="dcterms:W3CDTF">2010-07-07T06:05:20Z</dcterms:created>
  <dcterms:modified xsi:type="dcterms:W3CDTF">2026-04-18T06:56:18Z</dcterms:modified>
</cp:coreProperties>
</file>