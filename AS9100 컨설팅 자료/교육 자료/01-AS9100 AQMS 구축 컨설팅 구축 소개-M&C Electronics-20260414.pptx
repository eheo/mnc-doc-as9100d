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20"/>
  </p:notesMasterIdLst>
  <p:sldIdLst>
    <p:sldId id="278" r:id="rId3"/>
    <p:sldId id="281" r:id="rId4"/>
    <p:sldId id="364" r:id="rId5"/>
    <p:sldId id="365" r:id="rId6"/>
    <p:sldId id="390" r:id="rId7"/>
    <p:sldId id="389" r:id="rId8"/>
    <p:sldId id="391" r:id="rId9"/>
    <p:sldId id="392" r:id="rId10"/>
    <p:sldId id="394" r:id="rId11"/>
    <p:sldId id="393" r:id="rId12"/>
    <p:sldId id="378" r:id="rId13"/>
    <p:sldId id="382" r:id="rId14"/>
    <p:sldId id="385" r:id="rId15"/>
    <p:sldId id="387" r:id="rId16"/>
    <p:sldId id="366" r:id="rId17"/>
    <p:sldId id="362" r:id="rId18"/>
    <p:sldId id="363" r:id="rId19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8F3"/>
    <a:srgbClr val="316BFD"/>
    <a:srgbClr val="000066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9" autoAdjust="0"/>
    <p:restoredTop sz="94660"/>
  </p:normalViewPr>
  <p:slideViewPr>
    <p:cSldViewPr showGuides="1">
      <p:cViewPr varScale="1">
        <p:scale>
          <a:sx n="93" d="100"/>
          <a:sy n="93" d="100"/>
        </p:scale>
        <p:origin x="1584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180E3BF-5B8C-E8AC-D6B4-5BB5010D52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8FB1C1-20D4-BF56-1FAA-73D28AF281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fld id="{7063B8C9-96F5-4DDB-84C5-E1135E22881D}" type="datetimeFigureOut">
              <a:rPr lang="ko-KR" altLang="en-US"/>
              <a:pPr>
                <a:defRPr/>
              </a:pPr>
              <a:t>2026-04-18</a:t>
            </a:fld>
            <a:endParaRPr lang="ko-KR" altLang="en-US" dirty="0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5D7DEE7C-40A5-01DC-3796-E979ABAA2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DC5E6B9-4C9A-2927-4965-F8A442F77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38E351-AD47-1D7D-4CE9-8C252342DE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779432-B234-B3DE-2401-05ECF0C0A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fld id="{D56857E8-CFB8-4483-93B7-B9B36BCEABE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24537354"/>
      </p:ext>
    </p:extLst>
  </p:cSld>
  <p:clrMapOvr>
    <a:masterClrMapping/>
  </p:clrMapOvr>
  <p:transition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60515782"/>
      </p:ext>
    </p:extLst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63623209"/>
      </p:ext>
    </p:extLst>
  </p:cSld>
  <p:clrMapOvr>
    <a:masterClrMapping/>
  </p:clrMapOvr>
  <p:transition>
    <p:zoom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5938" y="1155700"/>
            <a:ext cx="4108450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76788" y="1155700"/>
            <a:ext cx="4110037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91003996"/>
      </p:ext>
    </p:extLst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60330438"/>
      </p:ext>
    </p:extLst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8355083"/>
      </p:ext>
    </p:extLst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51639"/>
      </p:ext>
    </p:extLst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63963509"/>
      </p:ext>
    </p:extLst>
  </p:cSld>
  <p:clrMapOvr>
    <a:masterClrMapping/>
  </p:clrMapOvr>
  <p:transition>
    <p:zoom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47149342"/>
      </p:ext>
    </p:extLst>
  </p:cSld>
  <p:clrMapOvr>
    <a:masterClrMapping/>
  </p:clrMapOvr>
  <p:transition>
    <p:zoom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34409175"/>
      </p:ext>
    </p:extLst>
  </p:cSld>
  <p:clrMapOvr>
    <a:masterClrMapping/>
  </p:clrMapOvr>
  <p:transition>
    <p:zoom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94500" y="304800"/>
            <a:ext cx="2092325" cy="56769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5938" y="304800"/>
            <a:ext cx="6126162" cy="56769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2934022"/>
      </p:ext>
    </p:extLst>
  </p:cSld>
  <p:clrMapOvr>
    <a:masterClrMapping/>
  </p:clrMapOvr>
  <p:transition>
    <p:zoom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757946-3CE0-5B8E-C73B-61880F82C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B0B522-F3CF-9FE3-F526-643B2F9BC6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1C93E6-685D-F021-4F55-B5A48331DF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5D86F-9784-4F6D-B70D-57D7ACD208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797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A53E7D-D5E2-2FAE-001F-76BDB3F830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A67C8-110E-83F0-DFFE-E445C90EF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7981D5-FFEC-AA38-B9BE-24EF47FFBD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93E08-F313-4F5D-AF5A-C68D0DA77A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1485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E5C951-A6AB-0A7F-2319-865568E14E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D92CA7-1C3F-59F3-D9FB-8E77BDF6B0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2DA809-AA0F-00FD-2325-3685ED00B0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9393D-57B5-4FB1-BC6E-8C5F900C01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1773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A4479-0E80-D499-66C6-2A963B5C16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AB28D-9040-289F-8F1E-503B5A96C7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166C7-2601-F00A-AB7C-915A0CCD5B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B71B1A-85C4-4574-B158-9626A6B0CC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2961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E21F78-ED16-6563-C453-E505B44C94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8B397CB-2D25-D285-9C38-1CCCDFE833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5FA2F2B-1134-E0CA-B6B3-0076AE290A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FC3F0-E497-4E40-B55D-61AF25400A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156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FA069B6-2F7A-308C-D585-FF38B01079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E78255-704F-0EA9-5E3E-2639C8A8B4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E53C2DC-9568-D985-5AC0-37A5E2D98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42A5F-57D3-4CB3-9BE5-290713F57C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8024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351D14-6ADF-4F0F-8E96-FFEE9B7E34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9AB59D1-2CD7-A9C7-0D19-1B4BF64AC3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85978EE-C367-D30F-AAA9-EF59E215FD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52B8F-61F1-4BDB-B779-F344DFBD57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6782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6EDBE-F937-65D8-BC43-D8366025BA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D1335A-DD79-5EFD-6C0C-87E9D1BF9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90582A-6934-12F1-86FF-02B3646689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36A93-7934-4839-AE5F-25B86F669D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8693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39301-1B1F-43BB-FF97-CF543FF07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8E102B-FC10-F4E8-4AF4-A36F2D3AC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ADB556-4496-520C-90EF-72B43CC9D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24079-7FEE-4B0A-8C4C-50C6456DE3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67956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C4E7EC-0F90-DD7A-28A5-D8D000BC14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AB5A76-F470-80AA-7E9C-F9F5DEA31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154C80-67E6-9E87-B4AC-329E434451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35DE-8F02-4A4F-9E21-62511168D6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2421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F20AEB-43CC-F9C5-C748-491610BE2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333164-0E03-5FBB-73CB-9CF52CBBC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CA6796-D69A-A874-F935-F252B30084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95680-76CD-45E0-8B4A-B0863044FD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847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4697363-62DB-EF92-3AD9-045564948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304800"/>
            <a:ext cx="80391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Title: 32 pt Arial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717842-375A-E504-CD43-DDB211638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5938" y="1155700"/>
            <a:ext cx="8370887" cy="48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Nokia PowerPoint 97Template - December 13,1997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zoom dir="in"/>
  </p:transition>
  <p:txStyles>
    <p:titleStyle>
      <a:lvl1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2pPr>
      <a:lvl3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3pPr>
      <a:lvl4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4pPr>
      <a:lvl5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5pPr>
      <a:lvl6pPr marL="4572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6pPr>
      <a:lvl7pPr marL="9144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7pPr>
      <a:lvl8pPr marL="13716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8pPr>
      <a:lvl9pPr marL="18288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9pPr>
    </p:titleStyle>
    <p:bodyStyle>
      <a:lvl1pPr marL="280988" indent="-280988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66750" indent="-195263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>
          <a:solidFill>
            <a:schemeClr val="tx1"/>
          </a:solidFill>
          <a:latin typeface="Arial" charset="0"/>
        </a:defRPr>
      </a:lvl2pPr>
      <a:lvl3pPr marL="1336675" indent="-384175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marL="1804988" indent="-277813" algn="l" defTabSz="7620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2860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7432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2004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6576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1148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CEC32B9-326D-9F02-A8CD-800A91EF3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DE95E52-3D95-40E5-106B-475606013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72B1635E-2DB1-054C-F716-12967FB426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B1ED7527-B615-258D-EDF3-A7D35ACECC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98AA6ABA-2479-77FF-4E70-E286403394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 smtClean="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6D5F9142-C34F-47B0-B3FF-F6AAFAF1D1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2275DD1-34EC-0A7E-B50B-F08EA8F67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00E8E22-0A6F-A680-EADC-F5625EC8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5C32B879-5648-4856-127A-23B639EE2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101" name="TextBox 12">
            <a:extLst>
              <a:ext uri="{FF2B5EF4-FFF2-40B4-BE49-F238E27FC236}">
                <a16:creationId xmlns:a16="http://schemas.microsoft.com/office/drawing/2014/main" id="{6891A706-0A63-3E72-F164-A036D9424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3322638"/>
            <a:ext cx="7315200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3200">
                <a:latin typeface="Microsoft Sans Serif" panose="020B0604020202020204" pitchFamily="34" charset="0"/>
              </a:rPr>
              <a:t>2026.04.14</a:t>
            </a:r>
          </a:p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3200">
                <a:latin typeface="Microsoft Sans Serif" panose="020B0604020202020204" pitchFamily="34" charset="0"/>
              </a:rPr>
              <a:t>기업명</a:t>
            </a:r>
            <a:r>
              <a:rPr lang="en-US" altLang="ko-KR" sz="3200">
                <a:latin typeface="Microsoft Sans Serif" panose="020B0604020202020204" pitchFamily="34" charset="0"/>
              </a:rPr>
              <a:t>: M&amp;C Electronics </a:t>
            </a:r>
          </a:p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3200">
                <a:latin typeface="Microsoft Sans Serif" panose="020B0604020202020204" pitchFamily="34" charset="0"/>
              </a:rPr>
              <a:t>경품인 컨설팅</a:t>
            </a:r>
            <a:r>
              <a:rPr lang="en-US" altLang="ko-KR" sz="3200">
                <a:latin typeface="Microsoft Sans Serif" panose="020B0604020202020204" pitchFamily="34" charset="0"/>
              </a:rPr>
              <a:t>, </a:t>
            </a:r>
          </a:p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3200">
                <a:latin typeface="Microsoft Sans Serif" panose="020B0604020202020204" pitchFamily="34" charset="0"/>
              </a:rPr>
              <a:t>컨설턴트</a:t>
            </a:r>
            <a:r>
              <a:rPr lang="en-US" altLang="ko-KR" sz="3200">
                <a:latin typeface="Microsoft Sans Serif" panose="020B0604020202020204" pitchFamily="34" charset="0"/>
              </a:rPr>
              <a:t>: </a:t>
            </a:r>
            <a:r>
              <a:rPr lang="ko-KR" altLang="en-US" sz="3200">
                <a:latin typeface="Microsoft Sans Serif" panose="020B0604020202020204" pitchFamily="34" charset="0"/>
              </a:rPr>
              <a:t>강장호 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71EDC61B-7200-A12A-C394-D95D875FC16E}"/>
              </a:ext>
            </a:extLst>
          </p:cNvPr>
          <p:cNvSpPr txBox="1">
            <a:spLocks/>
          </p:cNvSpPr>
          <p:nvPr/>
        </p:nvSpPr>
        <p:spPr>
          <a:xfrm>
            <a:off x="1104900" y="1830388"/>
            <a:ext cx="7315200" cy="98425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270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666750" indent="-195263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6675" indent="-384175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04988" indent="-277813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280988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AS9100 AQMS </a:t>
            </a: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구축 소개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ACF4191-2D45-FDC6-0AF3-79F484429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354B44C4-A528-3AB1-FEFD-F4B074A04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4108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컨설팅 개요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컨설턴트 소개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en-US" altLang="ko-KR" dirty="0"/>
              <a:t>IA9100 </a:t>
            </a:r>
            <a:r>
              <a:rPr lang="ko-KR" altLang="en-US" dirty="0"/>
              <a:t>소개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표준간 차이</a:t>
            </a:r>
            <a:r>
              <a:rPr lang="en-US" altLang="ko-KR" dirty="0"/>
              <a:t> </a:t>
            </a:r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컨설팅 수행 과정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컨설팅 수행 목표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컨설팅 수행 단계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컨설팅 세부 일정</a:t>
            </a:r>
            <a:endParaRPr lang="en-US" altLang="ko-KR" dirty="0"/>
          </a:p>
          <a:p>
            <a:pPr>
              <a:spcBef>
                <a:spcPct val="50000"/>
              </a:spcBef>
              <a:buFontTx/>
              <a:buAutoNum type="arabicPeriod"/>
              <a:defRPr/>
            </a:pPr>
            <a:r>
              <a:rPr lang="ko-KR" altLang="en-US" dirty="0"/>
              <a:t>기대 효과</a:t>
            </a:r>
            <a:endParaRPr lang="en-US" altLang="ko-KR" dirty="0"/>
          </a:p>
          <a:p>
            <a:pPr marL="0" indent="0">
              <a:spcBef>
                <a:spcPct val="50000"/>
              </a:spcBef>
              <a:defRPr/>
            </a:pPr>
            <a:r>
              <a:rPr lang="en-US" altLang="ko-KR" dirty="0"/>
              <a:t>10. 3</a:t>
            </a:r>
            <a:r>
              <a:rPr lang="ko-KR" altLang="en-US" dirty="0"/>
              <a:t>자 심사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4165BF-3851-DBE7-5B36-9889A800F6AE}"/>
              </a:ext>
            </a:extLst>
          </p:cNvPr>
          <p:cNvSpPr/>
          <p:nvPr/>
        </p:nvSpPr>
        <p:spPr>
          <a:xfrm>
            <a:off x="0" y="-33338"/>
            <a:ext cx="958850" cy="5080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D1BB5766-1F32-F794-7875-78B2B95A2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6055F555-FC64-1A5B-B332-AFE5E8EFC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4EC3A39-1973-D3BF-AC26-FD4478C6C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728D99-E94C-D8C5-3169-A3C435BDD305}"/>
              </a:ext>
            </a:extLst>
          </p:cNvPr>
          <p:cNvSpPr/>
          <p:nvPr/>
        </p:nvSpPr>
        <p:spPr>
          <a:xfrm>
            <a:off x="0" y="-33338"/>
            <a:ext cx="1384300" cy="5080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컨설턴트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1D8BDF9-CB58-2062-A9F9-2318380FE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149" name="Rectangle 6">
            <a:extLst>
              <a:ext uri="{FF2B5EF4-FFF2-40B4-BE49-F238E27FC236}">
                <a16:creationId xmlns:a16="http://schemas.microsoft.com/office/drawing/2014/main" id="{E672B18F-F321-4C29-E357-0497E9A06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4509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" name="사각형: 둥근 모서리 7">
            <a:extLst>
              <a:ext uri="{FF2B5EF4-FFF2-40B4-BE49-F238E27FC236}">
                <a16:creationId xmlns:a16="http://schemas.microsoft.com/office/drawing/2014/main" id="{3186EB9F-7FD7-07D3-30A5-0F2B849AEF81}"/>
              </a:ext>
            </a:extLst>
          </p:cNvPr>
          <p:cNvSpPr/>
          <p:nvPr/>
        </p:nvSpPr>
        <p:spPr>
          <a:xfrm>
            <a:off x="468313" y="935038"/>
            <a:ext cx="1943100" cy="449262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en-US" altLang="ko-KR" kern="0" dirty="0">
                <a:solidFill>
                  <a:srgbClr val="000000"/>
                </a:solidFill>
                <a:latin typeface="HCI Poppy"/>
                <a:ea typeface="휴먼명조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1. 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컨설팅 개요</a:t>
            </a:r>
            <a:endParaRPr lang="ko-KR" altLang="en-US" dirty="0">
              <a:latin typeface="KoddiUD 온고딕 Bold"/>
              <a:ea typeface="KoddiUD 온고딕 Bold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55EA455-DF71-79DD-4448-12E194DC1415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481138"/>
          <a:ext cx="7997825" cy="1681162"/>
        </p:xfrm>
        <a:graphic>
          <a:graphicData uri="http://schemas.openxmlformats.org/drawingml/2006/table">
            <a:tbl>
              <a:tblPr firstRow="1" bandRow="1"/>
              <a:tblGrid>
                <a:gridCol w="799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1397">
                <a:tc>
                  <a:txBody>
                    <a:bodyPr/>
                    <a:lstStyle/>
                    <a:p>
                      <a:pPr marL="285750" marR="0" lvl="0" indent="-2857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  <a:defRPr/>
                      </a:pP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컨설팅 분야 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KSQ-9100: 2016 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항공우주 품질경영시스템 </a:t>
                      </a:r>
                      <a:endParaRPr lang="ko-KR" altLang="en-US" sz="1400" b="1" kern="0" spc="0" dirty="0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4776" marR="64776" marT="17913" marB="17913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397"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v"/>
                        <a:defRPr/>
                      </a:pP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컨설팅 </a:t>
                      </a:r>
                      <a:r>
                        <a:rPr lang="ko-KR" altLang="en-US" sz="1400" b="1" kern="0" spc="0" dirty="0" err="1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: M&amp;C</a:t>
                      </a:r>
                      <a:r>
                        <a:rPr lang="en-US" altLang="ko-KR" sz="1400" b="1" kern="0" spc="0" baseline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 Electronics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항공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우주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방산 품질경영</a:t>
                      </a:r>
                      <a:r>
                        <a:rPr lang="ko-KR" altLang="en-US" sz="1400" b="1" dirty="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</a:rPr>
                        <a:t>시스템 구축 및 품질인증 컨설팅</a:t>
                      </a:r>
                      <a:endParaRPr lang="ko-KR" altLang="en-US" sz="1400" b="1" dirty="0">
                        <a:solidFill>
                          <a:schemeClr val="dk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76" marR="64776" marT="17913" marB="17913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368"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v"/>
                        <a:defRPr/>
                      </a:pP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컨설팅 추진방향 </a:t>
                      </a:r>
                      <a:r>
                        <a:rPr lang="en-US" altLang="ko-KR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ko-KR" altLang="en-US" sz="1400" b="1" kern="0" spc="0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</a:rPr>
                        <a:t>항공우주 </a:t>
                      </a:r>
                      <a:r>
                        <a:rPr lang="ko-KR" altLang="en-US" sz="1400" b="1" dirty="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</a:rPr>
                        <a:t>품질경영 시스템</a:t>
                      </a:r>
                      <a:r>
                        <a:rPr lang="en-US" altLang="ko-KR" sz="1400" b="1" dirty="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</a:rPr>
                        <a:t>(AS 9100) </a:t>
                      </a:r>
                      <a:r>
                        <a:rPr lang="ko-KR" altLang="en-US" sz="1400" b="1" dirty="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</a:rPr>
                        <a:t>인증을 획득하여 우주항공 시장에 진입</a:t>
                      </a:r>
                    </a:p>
                    <a:p>
                      <a:pPr marL="0" lvl="0" indent="0" algn="l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Font typeface="Wingdings"/>
                        <a:buNone/>
                        <a:defRPr/>
                      </a:pPr>
                      <a:r>
                        <a:rPr lang="ko-KR" altLang="en-US" sz="1400" b="1" dirty="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</a:rPr>
                        <a:t>                             및 경쟁력을 강화할 수 있도록 지원</a:t>
                      </a:r>
                      <a:endParaRPr lang="ko-KR" altLang="en-US" sz="1400" b="1" dirty="0">
                        <a:solidFill>
                          <a:schemeClr val="dk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76" marR="64776" marT="17913" marB="17913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사각형: 둥근 모서리 4">
            <a:extLst>
              <a:ext uri="{FF2B5EF4-FFF2-40B4-BE49-F238E27FC236}">
                <a16:creationId xmlns:a16="http://schemas.microsoft.com/office/drawing/2014/main" id="{24027E07-193F-B78F-2425-3393F8CC8180}"/>
              </a:ext>
            </a:extLst>
          </p:cNvPr>
          <p:cNvSpPr/>
          <p:nvPr/>
        </p:nvSpPr>
        <p:spPr>
          <a:xfrm>
            <a:off x="468313" y="3284538"/>
            <a:ext cx="2159000" cy="449262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 2. 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수행 컨설턴트</a:t>
            </a:r>
            <a:endParaRPr lang="ko-KR" altLang="en-US" dirty="0">
              <a:latin typeface="KoddiUD 온고딕 Bold"/>
              <a:ea typeface="KoddiUD 온고딕 Bold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F40AC6E-5918-BC46-EA89-4BF647E1F625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3822700"/>
          <a:ext cx="7993062" cy="2486025"/>
        </p:xfrm>
        <a:graphic>
          <a:graphicData uri="http://schemas.openxmlformats.org/drawingml/2006/table">
            <a:tbl>
              <a:tblPr/>
              <a:tblGrid>
                <a:gridCol w="95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63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b="1">
                          <a:solidFill>
                            <a:schemeClr val="tx1"/>
                          </a:solidFill>
                          <a:latin typeface="Rotis Sans Serif for Noki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4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맑은 고딕" panose="020B0503020000020004" pitchFamily="50" charset="-127"/>
                        </a:rPr>
                        <a:t>성  명</a:t>
                      </a:r>
                    </a:p>
                  </a:txBody>
                  <a:tcPr marL="64771" marR="64771" marT="17898" marB="17898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b="1">
                          <a:solidFill>
                            <a:schemeClr val="tx1"/>
                          </a:solidFill>
                          <a:latin typeface="Rotis Sans Serif for Noki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4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맑은 고딕" panose="020B0503020000020004" pitchFamily="50" charset="-127"/>
                        </a:rPr>
                        <a:t>전문 분야</a:t>
                      </a:r>
                    </a:p>
                  </a:txBody>
                  <a:tcPr marL="64771" marR="64771" marT="17898" marB="17898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b="1">
                          <a:solidFill>
                            <a:schemeClr val="tx1"/>
                          </a:solidFill>
                          <a:latin typeface="Rotis Sans Serif for Noki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4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맑은 고딕" panose="020B0503020000020004" pitchFamily="50" charset="-127"/>
                        </a:rPr>
                        <a:t>주요 경력</a:t>
                      </a:r>
                      <a:r>
                        <a:rPr kumimoji="0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kumimoji="0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맑은 고딕" panose="020B0503020000020004" pitchFamily="50" charset="-127"/>
                        </a:rPr>
                        <a:t>자격</a:t>
                      </a:r>
                    </a:p>
                  </a:txBody>
                  <a:tcPr marL="64771" marR="64771" marT="17898" marB="17898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38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b="1">
                          <a:solidFill>
                            <a:schemeClr val="tx1"/>
                          </a:solidFill>
                          <a:latin typeface="Rotis Sans Serif for Noki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4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 장 호</a:t>
                      </a:r>
                    </a:p>
                  </a:txBody>
                  <a:tcPr marL="64771" marR="64771" marT="17898" marB="17898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b="1">
                          <a:solidFill>
                            <a:schemeClr val="tx1"/>
                          </a:solidFill>
                          <a:latin typeface="Rotis Sans Serif for Noki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4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 9100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항공우주방산</a:t>
                      </a:r>
                      <a:endParaRPr kumimoji="0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ISO 9001:2015</a:t>
                      </a:r>
                    </a:p>
                  </a:txBody>
                  <a:tcPr marL="64771" marR="64771" marT="17898" marB="17898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92075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b="1">
                          <a:solidFill>
                            <a:schemeClr val="tx1"/>
                          </a:solidFill>
                          <a:latin typeface="Rotis Sans Serif for Nokia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chemeClr val="hlink"/>
                        </a:buClr>
                        <a:buSzPct val="125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ct val="4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92075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￭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경력사항</a:t>
                      </a:r>
                    </a:p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1977 – 2014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㈜ 대한항공 항공우주사업본부 </a:t>
                      </a:r>
                    </a:p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 – 2016 NDT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엔지니어링</a:t>
                      </a:r>
                    </a:p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￭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자격사항</a:t>
                      </a:r>
                    </a:p>
                    <a:p>
                      <a:pPr marL="92075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AS 9100,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 심사원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(Lead Auditor) </a:t>
                      </a:r>
                    </a:p>
                    <a:p>
                      <a:pPr marL="92075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ISO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9001,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심사원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64771" marR="64771" marT="17898" marB="17898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F7697B9-8756-0895-3AA6-D7BC2E8B3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1417AD-1D1C-05CD-8F9E-98FE228EE705}"/>
              </a:ext>
            </a:extLst>
          </p:cNvPr>
          <p:cNvSpPr/>
          <p:nvPr/>
        </p:nvSpPr>
        <p:spPr>
          <a:xfrm>
            <a:off x="7938" y="0"/>
            <a:ext cx="1466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ASD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2641EF1-DFEF-E3BE-2924-FBCAFA96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29FA5DE0-B09B-93FC-B8AF-43AEDABB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99CB1F-B4A1-B414-A73C-8E52619C2223}"/>
              </a:ext>
            </a:extLst>
          </p:cNvPr>
          <p:cNvSpPr/>
          <p:nvPr/>
        </p:nvSpPr>
        <p:spPr>
          <a:xfrm>
            <a:off x="323850" y="1627188"/>
            <a:ext cx="8280400" cy="4330700"/>
          </a:xfrm>
          <a:prstGeom prst="rect">
            <a:avLst/>
          </a:prstGeom>
        </p:spPr>
        <p:txBody>
          <a:bodyPr>
            <a:spAutoFit/>
          </a:bodyPr>
          <a:lstStyle>
            <a:lvl1pPr marL="762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>
              <a:defRPr/>
            </a:pP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1)</a:t>
            </a:r>
            <a:r>
              <a:rPr lang="ko-KR" altLang="en-US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고 위험 제품 </a:t>
            </a: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(High risk products)</a:t>
            </a:r>
            <a:r>
              <a:rPr lang="ko-KR" altLang="en-US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  <a:defRPr/>
            </a:pPr>
            <a:r>
              <a:rPr lang="ko-KR" altLang="en-US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/>
              </a:rPr>
              <a:t> </a:t>
            </a:r>
            <a:endParaRPr lang="en-US" altLang="ko-KR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휴먼명조"/>
            </a:endParaRPr>
          </a:p>
          <a:p>
            <a:pPr algn="just">
              <a:lnSpc>
                <a:spcPct val="13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/>
              </a:rPr>
              <a:t>2) </a:t>
            </a:r>
            <a:r>
              <a:rPr lang="ko-KR" altLang="en-US" dirty="0">
                <a:solidFill>
                  <a:srgbClr val="000000"/>
                </a:solidFill>
                <a:latin typeface="KoddiUD 온고딕 Bold"/>
                <a:ea typeface="맑은 고딕" panose="020B0503020000020004" pitchFamily="50" charset="-127"/>
                <a:cs typeface="휴먼명조"/>
              </a:rPr>
              <a:t>고 비용 제품 </a:t>
            </a: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맑은 고딕" panose="020B0503020000020004" pitchFamily="50" charset="-127"/>
                <a:cs typeface="휴먼명조"/>
              </a:rPr>
              <a:t>(High cost products)</a:t>
            </a:r>
            <a:endParaRPr lang="en-US" altLang="ko-KR" dirty="0">
              <a:solidFill>
                <a:srgbClr val="000000"/>
              </a:solidFill>
              <a:latin typeface="KoddiUD 온고딕 Bold"/>
              <a:ea typeface="KoddiUD 온고딕 Bold"/>
              <a:cs typeface="휴먼명조"/>
            </a:endParaRPr>
          </a:p>
          <a:p>
            <a:pPr algn="just">
              <a:lnSpc>
                <a:spcPct val="130000"/>
              </a:lnSpc>
              <a:buFontTx/>
              <a:buChar char="-"/>
              <a:defRPr/>
            </a:pPr>
            <a:endParaRPr lang="en-US" altLang="ko-KR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3)</a:t>
            </a:r>
            <a:r>
              <a:rPr lang="ko-KR" altLang="en-US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엄격 통제되는 산업 요구 사항 </a:t>
            </a: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(Tightly controlled industry requirement)</a:t>
            </a:r>
          </a:p>
          <a:p>
            <a:pPr marL="361950" indent="-285750" algn="just">
              <a:lnSpc>
                <a:spcPct val="130000"/>
              </a:lnSpc>
              <a:buFontTx/>
              <a:buChar char="-"/>
              <a:defRPr/>
            </a:pPr>
            <a:r>
              <a:rPr lang="en-US" altLang="ko-KR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Statutory, Regulatory, Customer(CSR)</a:t>
            </a:r>
            <a:endParaRPr lang="ko-KR" altLang="en-US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4) </a:t>
            </a:r>
            <a:r>
              <a:rPr lang="ko-KR" altLang="en-US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안전 필수 </a:t>
            </a:r>
            <a:r>
              <a:rPr lang="en-US" altLang="ko-KR" dirty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(Safety is a must)</a:t>
            </a:r>
          </a:p>
          <a:p>
            <a:pPr algn="just">
              <a:lnSpc>
                <a:spcPct val="130000"/>
              </a:lnSpc>
              <a:buFontTx/>
              <a:buChar char="-"/>
              <a:defRPr/>
            </a:pPr>
            <a:endParaRPr lang="en-US" altLang="ko-KR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강화된 품질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(Quality is required)</a:t>
            </a:r>
          </a:p>
          <a:p>
            <a:pPr algn="just">
              <a:lnSpc>
                <a:spcPct val="130000"/>
              </a:lnSpc>
              <a:buFontTx/>
              <a:buChar char="-"/>
              <a:defRPr/>
            </a:pPr>
            <a:endParaRPr lang="en-US" altLang="ko-KR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실패는 </a:t>
            </a:r>
            <a:r>
              <a:rPr lang="ko-KR" altLang="en-US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비선택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(Failure is not option)</a:t>
            </a:r>
          </a:p>
          <a:p>
            <a:pPr algn="just">
              <a:lnSpc>
                <a:spcPct val="130000"/>
              </a:lnSpc>
              <a:defRPr/>
            </a:pPr>
            <a:endParaRPr lang="en-US" altLang="ko-KR" dirty="0">
              <a:solidFill>
                <a:srgbClr val="000000"/>
              </a:solidFill>
              <a:latin typeface="KoddiUD 온고딕 Bold"/>
              <a:ea typeface="KoddiUD 온고딕 Bold"/>
              <a:cs typeface="KoddiUD 온고딕 Bol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03AB2D-B6D7-980F-599B-023EB3EE75CB}"/>
              </a:ext>
            </a:extLst>
          </p:cNvPr>
          <p:cNvSpPr/>
          <p:nvPr/>
        </p:nvSpPr>
        <p:spPr>
          <a:xfrm>
            <a:off x="468313" y="981075"/>
            <a:ext cx="5507037" cy="923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3-1.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왜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?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항공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우주 및 방산 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(Aviation, Space and Defense)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 dirty="0">
              <a:solidFill>
                <a:srgbClr val="000000"/>
              </a:solidFill>
              <a:latin typeface="KoddiUD 온고딕 Bold"/>
              <a:ea typeface="KoddiUD 온고딕 Bold"/>
            </a:endParaRPr>
          </a:p>
        </p:txBody>
      </p:sp>
      <p:sp>
        <p:nvSpPr>
          <p:cNvPr id="7176" name="Rectangle 6">
            <a:extLst>
              <a:ext uri="{FF2B5EF4-FFF2-40B4-BE49-F238E27FC236}">
                <a16:creationId xmlns:a16="http://schemas.microsoft.com/office/drawing/2014/main" id="{EC486504-BC5B-C210-C0A9-871C669FE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59525"/>
            <a:ext cx="893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100" b="0">
                <a:latin typeface="Microsoft Sans Serif" panose="020B0604020202020204" pitchFamily="34" charset="0"/>
              </a:rPr>
              <a:t>출처</a:t>
            </a:r>
            <a:r>
              <a:rPr lang="en-US" altLang="ko-KR" sz="1100" b="0">
                <a:latin typeface="Microsoft Sans Serif" panose="020B0604020202020204" pitchFamily="34" charset="0"/>
              </a:rPr>
              <a:t>: IAQG</a:t>
            </a:r>
          </a:p>
        </p:txBody>
      </p:sp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315C37B-56F6-C48A-BE45-C0BAB1D8C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83DC91B-599F-3660-DB4F-5F79671C4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EEED7067-E311-31F5-9CC4-6C4CD3E8B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35F8EF-2C65-8FC9-59A1-4CE088E8E024}"/>
              </a:ext>
            </a:extLst>
          </p:cNvPr>
          <p:cNvSpPr/>
          <p:nvPr/>
        </p:nvSpPr>
        <p:spPr>
          <a:xfrm>
            <a:off x="468313" y="981075"/>
            <a:ext cx="6630987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3-2.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무엇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!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항공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우주 및 방산 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(Aviation, Space and Defense)</a:t>
            </a:r>
            <a:endParaRPr lang="ko-KR" altLang="en-US" kern="0" dirty="0">
              <a:solidFill>
                <a:srgbClr val="000000"/>
              </a:solidFill>
              <a:latin typeface="KoddiUD 온고딕 Bold"/>
              <a:ea typeface="KoddiUD 온고딕 Bold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5BBB9C3-4814-940B-B817-C5FB1BDD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59525"/>
            <a:ext cx="893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100" b="0">
                <a:latin typeface="Microsoft Sans Serif" panose="020B0604020202020204" pitchFamily="34" charset="0"/>
              </a:rPr>
              <a:t>출처</a:t>
            </a:r>
            <a:r>
              <a:rPr lang="en-US" altLang="ko-KR" sz="1100" b="0">
                <a:latin typeface="Microsoft Sans Serif" panose="020B0604020202020204" pitchFamily="34" charset="0"/>
              </a:rPr>
              <a:t>: IAQG</a:t>
            </a:r>
          </a:p>
        </p:txBody>
      </p:sp>
      <p:pic>
        <p:nvPicPr>
          <p:cNvPr id="8199" name="그림 3">
            <a:extLst>
              <a:ext uri="{FF2B5EF4-FFF2-40B4-BE49-F238E27FC236}">
                <a16:creationId xmlns:a16="http://schemas.microsoft.com/office/drawing/2014/main" id="{3D281987-ECCB-ABC1-FB42-A1EACF315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350963"/>
            <a:ext cx="8791575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8CF767-BC0F-DE0C-BE22-FDE8D4DBD6C3}"/>
              </a:ext>
            </a:extLst>
          </p:cNvPr>
          <p:cNvSpPr/>
          <p:nvPr/>
        </p:nvSpPr>
        <p:spPr>
          <a:xfrm>
            <a:off x="7938" y="0"/>
            <a:ext cx="1466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ASD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</p:spTree>
  </p:cSld>
  <p:clrMapOvr>
    <a:masterClrMapping/>
  </p:clrMapOvr>
  <p:transition>
    <p:zoom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599315D-ADD7-CD6A-293B-9CD640068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D055C4F-9602-6745-0950-9A6D8A14C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C460C0EC-6107-1E5F-B628-405CF2733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543F2E-4416-DF02-0ED3-722D550114EF}"/>
              </a:ext>
            </a:extLst>
          </p:cNvPr>
          <p:cNvSpPr/>
          <p:nvPr/>
        </p:nvSpPr>
        <p:spPr>
          <a:xfrm>
            <a:off x="468313" y="981075"/>
            <a:ext cx="25431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3-3. IA9100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집중 분야</a:t>
            </a:r>
          </a:p>
        </p:txBody>
      </p:sp>
      <p:sp>
        <p:nvSpPr>
          <p:cNvPr id="9222" name="직사각형 3">
            <a:extLst>
              <a:ext uri="{FF2B5EF4-FFF2-40B4-BE49-F238E27FC236}">
                <a16:creationId xmlns:a16="http://schemas.microsoft.com/office/drawing/2014/main" id="{E0636957-D744-CFAD-A4F3-2450255F7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84313"/>
            <a:ext cx="8280400" cy="468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/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1)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휴먼명조" pitchFamily="2" charset="-127"/>
              </a:rPr>
              <a:t>제품 안전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휴먼명조" pitchFamily="2" charset="-127"/>
              </a:rPr>
              <a:t>(Product safety), 8.1.3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납품된 제품에서 발생 할 수 있는 위험 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(Risk)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방지 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제품 설계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설계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생산시 위험 방지하기 위한 항목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위조품 방지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(Counterfeit parts prevention), 8.1.4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비인가 업체에서 만들어진 모조품등으로 입고 및 납품시 방지 항목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3)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리스크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(Risk), 6.1/ 8.1.1</a:t>
            </a:r>
          </a:p>
          <a:p>
            <a:pPr algn="just">
              <a:lnSpc>
                <a:spcPct val="130000"/>
              </a:lnSpc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QMS (6.1)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리스크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 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(8.1.1)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리스크  </a:t>
            </a: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4) 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인식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(Awareness), 7.3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종업원 공유가 필요한 내용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작업자 요인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(Human factors)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부적합 방지 고려 요인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형상 관리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(Configuration management), 8.1.2</a:t>
            </a:r>
          </a:p>
          <a:p>
            <a:pPr algn="just">
              <a:lnSpc>
                <a:spcPct val="130000"/>
              </a:lnSpc>
            </a:pPr>
            <a:r>
              <a:rPr lang="en-US" altLang="ko-KR" b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-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도면등 변경 관리</a:t>
            </a:r>
            <a:endParaRPr lang="en-US" altLang="ko-KR">
              <a:solidFill>
                <a:srgbClr val="000000"/>
              </a:solidFill>
              <a:latin typeface="KoddiUD 온고딕 Bold"/>
              <a:ea typeface="KoddiUD 온고딕 Bold"/>
              <a:cs typeface="KoddiUD 온고딕 Bold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EA9A165F-5876-BC86-03A7-D29AACAD0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59525"/>
            <a:ext cx="893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100" b="0">
                <a:latin typeface="Microsoft Sans Serif" panose="020B0604020202020204" pitchFamily="34" charset="0"/>
              </a:rPr>
              <a:t>출처</a:t>
            </a:r>
            <a:r>
              <a:rPr lang="en-US" altLang="ko-KR" sz="1100" b="0">
                <a:latin typeface="Microsoft Sans Serif" panose="020B0604020202020204" pitchFamily="34" charset="0"/>
              </a:rPr>
              <a:t>: IAQG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57F6D6-3AE4-80AF-EA84-8F3580AB39A0}"/>
              </a:ext>
            </a:extLst>
          </p:cNvPr>
          <p:cNvSpPr/>
          <p:nvPr/>
        </p:nvSpPr>
        <p:spPr>
          <a:xfrm>
            <a:off x="7938" y="0"/>
            <a:ext cx="1466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ASD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</p:spTree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7363308-F6F5-1D13-1246-C88C75621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217FCFE-6CB9-D549-2F6A-3BEDD3AD7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0244" name="Rectangle 6">
            <a:extLst>
              <a:ext uri="{FF2B5EF4-FFF2-40B4-BE49-F238E27FC236}">
                <a16:creationId xmlns:a16="http://schemas.microsoft.com/office/drawing/2014/main" id="{512F2730-B09D-C6C2-BEDF-E2DFF5DA3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4FC878-36C3-5D48-3EB3-B734F5A828FF}"/>
              </a:ext>
            </a:extLst>
          </p:cNvPr>
          <p:cNvSpPr/>
          <p:nvPr/>
        </p:nvSpPr>
        <p:spPr>
          <a:xfrm>
            <a:off x="468313" y="981075"/>
            <a:ext cx="25431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3-3. IA9100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집중 항목</a:t>
            </a:r>
          </a:p>
        </p:txBody>
      </p:sp>
      <p:sp>
        <p:nvSpPr>
          <p:cNvPr id="10246" name="직사각형 3">
            <a:extLst>
              <a:ext uri="{FF2B5EF4-FFF2-40B4-BE49-F238E27FC236}">
                <a16:creationId xmlns:a16="http://schemas.microsoft.com/office/drawing/2014/main" id="{2BFA46D7-3835-EBAD-316C-B10A4B899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504950"/>
            <a:ext cx="8280400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/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7)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예방 조치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휴먼명조" pitchFamily="2" charset="-127"/>
              </a:rPr>
              <a:t>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휴먼명조" pitchFamily="2" charset="-127"/>
              </a:rPr>
              <a:t>(Preventive action), 8.1.1, 10.2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리스크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기회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부적합 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실현 및 계획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(Product realization &amp; Planning), 8.1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제품 생산 계획 및 과정 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9)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프로젝트 관리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(Project management), 8.1</a:t>
            </a:r>
          </a:p>
          <a:p>
            <a:pPr algn="just">
              <a:lnSpc>
                <a:spcPct val="130000"/>
              </a:lnSpc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사업</a:t>
            </a: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생산관리 개념  </a:t>
            </a: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10) 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설계 개발 및 외주 관리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(Design development and supplier management), 8.3 &amp; 8.4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매뉴얼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(Quality manual)</a:t>
            </a: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매뉴얼 구성 요건 추가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 대리인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(Management representative), 5.1</a:t>
            </a:r>
          </a:p>
          <a:p>
            <a:pPr algn="just">
              <a:lnSpc>
                <a:spcPct val="130000"/>
              </a:lnSpc>
            </a:pPr>
            <a:r>
              <a:rPr lang="en-US" altLang="ko-KR" b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- </a:t>
            </a:r>
            <a:r>
              <a:rPr lang="ko-KR" altLang="en-US" b="0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경영자 감독 요건 강화</a:t>
            </a:r>
            <a:endParaRPr lang="en-US" altLang="ko-KR">
              <a:solidFill>
                <a:srgbClr val="000000"/>
              </a:solidFill>
              <a:latin typeface="KoddiUD 온고딕 Bold"/>
              <a:ea typeface="KoddiUD 온고딕 Bold"/>
              <a:cs typeface="KoddiUD 온고딕 Bold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3DDB80C8-BA50-A02D-CAE2-8B2B108F3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59525"/>
            <a:ext cx="893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100" b="0">
                <a:latin typeface="Microsoft Sans Serif" panose="020B0604020202020204" pitchFamily="34" charset="0"/>
              </a:rPr>
              <a:t>출처</a:t>
            </a:r>
            <a:r>
              <a:rPr lang="en-US" altLang="ko-KR" sz="1100" b="0">
                <a:latin typeface="Microsoft Sans Serif" panose="020B0604020202020204" pitchFamily="34" charset="0"/>
              </a:rPr>
              <a:t>: IAQG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CD2599-2BCB-EAFE-A03D-2D3E7EFB8179}"/>
              </a:ext>
            </a:extLst>
          </p:cNvPr>
          <p:cNvSpPr/>
          <p:nvPr/>
        </p:nvSpPr>
        <p:spPr>
          <a:xfrm>
            <a:off x="7938" y="0"/>
            <a:ext cx="1466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ASD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</p:spTree>
  </p:cSld>
  <p:clrMapOvr>
    <a:masterClrMapping/>
  </p:clrMapOvr>
  <p:transition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544276B-5603-AAEC-DDF5-430319BD2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C21CF5-052C-B7E2-1E10-6C2B5042C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33EE0742-0393-710F-E2B7-38EA6E09E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8C6555-7946-6652-77D5-FEA1F7D6E847}"/>
              </a:ext>
            </a:extLst>
          </p:cNvPr>
          <p:cNvSpPr/>
          <p:nvPr/>
        </p:nvSpPr>
        <p:spPr>
          <a:xfrm>
            <a:off x="468313" y="981075"/>
            <a:ext cx="1998662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3-4. IA9100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성과</a:t>
            </a:r>
          </a:p>
        </p:txBody>
      </p:sp>
      <p:sp>
        <p:nvSpPr>
          <p:cNvPr id="11270" name="직사각형 3">
            <a:extLst>
              <a:ext uri="{FF2B5EF4-FFF2-40B4-BE49-F238E27FC236}">
                <a16:creationId xmlns:a16="http://schemas.microsoft.com/office/drawing/2014/main" id="{6A330E27-3D4D-4408-1A7F-A1366877C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504950"/>
            <a:ext cx="8280400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/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1)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안전 및 신뢰성 제품 생산 및 개선</a:t>
            </a:r>
            <a:endParaRPr lang="en-US" altLang="ko-KR">
              <a:solidFill>
                <a:srgbClr val="000000"/>
              </a:solidFill>
              <a:latin typeface="KoddiUD 온고딕 Bold"/>
              <a:ea typeface="KoddiUD 온고딕 Bold"/>
              <a:cs typeface="휴먼명조" pitchFamily="2" charset="-127"/>
            </a:endParaRP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만족 달성</a:t>
            </a:r>
            <a:endParaRPr lang="en-US" altLang="ko-KR">
              <a:solidFill>
                <a:srgbClr val="000000"/>
              </a:solidFill>
              <a:latin typeface="KoddiUD 온고딕 Bold"/>
              <a:ea typeface="KoddiUD 온고딕 Bold"/>
              <a:cs typeface="KoddiUD 온고딕 Bold"/>
            </a:endParaRP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3)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 일상 업무의 프로세스화 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(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정의 및 관리</a:t>
            </a: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4) </a:t>
            </a:r>
            <a:r>
              <a:rPr lang="ko-KR" altLang="en-US">
                <a:solidFill>
                  <a:srgbClr val="000000"/>
                </a:solidFill>
                <a:latin typeface="KoddiUD 온고딕 Bold"/>
                <a:ea typeface="KoddiUD 온고딕 Bold"/>
                <a:cs typeface="KoddiUD 온고딕 Bold"/>
              </a:rPr>
              <a:t>수행할 업무 및 취할 조치 사항 문서화</a:t>
            </a:r>
            <a:endParaRPr lang="en-US" altLang="ko-KR">
              <a:solidFill>
                <a:srgbClr val="000000"/>
              </a:solidFill>
              <a:latin typeface="KoddiUD 온고딕 Bold"/>
              <a:ea typeface="KoddiUD 온고딕 Bold"/>
              <a:cs typeface="KoddiUD 온고딕 Bold"/>
            </a:endParaRP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공급망 및 이해관계자에 집중</a:t>
            </a: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  <a:buFontTx/>
              <a:buChar char="-"/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문서 수 감소</a:t>
            </a: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 당국 인정</a:t>
            </a:r>
            <a:endParaRPr lang="en-US" altLang="ko-KR">
              <a:solidFill>
                <a:srgbClr val="000000"/>
              </a:solidFill>
              <a:latin typeface="KoddiUD 온고딕 Bold"/>
              <a:ea typeface="KoddiUD 온고딕 Bold"/>
              <a:cs typeface="KoddiUD 온고딕 Bold"/>
            </a:endParaRPr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A2B85538-0A78-548B-2EC3-7321EC390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59525"/>
            <a:ext cx="893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100" b="0">
                <a:latin typeface="Microsoft Sans Serif" panose="020B0604020202020204" pitchFamily="34" charset="0"/>
              </a:rPr>
              <a:t>출처</a:t>
            </a:r>
            <a:r>
              <a:rPr lang="en-US" altLang="ko-KR" sz="1100" b="0">
                <a:latin typeface="Microsoft Sans Serif" panose="020B0604020202020204" pitchFamily="34" charset="0"/>
              </a:rPr>
              <a:t>: IAQG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EBBE0A-4846-54CE-6BBA-D7AF10AAAB8A}"/>
              </a:ext>
            </a:extLst>
          </p:cNvPr>
          <p:cNvSpPr/>
          <p:nvPr/>
        </p:nvSpPr>
        <p:spPr>
          <a:xfrm>
            <a:off x="7938" y="0"/>
            <a:ext cx="1466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ASD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</p:spTree>
  </p:cSld>
  <p:clrMapOvr>
    <a:masterClrMapping/>
  </p:clrMapOvr>
  <p:transition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2AE76E-9961-3791-FA10-39F55BAA9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F2227E9-3043-260C-12C1-F6BB1B2DA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E9CCC7E6-27E3-CF4A-D029-14689B79A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94748A-19CC-843F-8636-9CC0EE2DFDA7}"/>
              </a:ext>
            </a:extLst>
          </p:cNvPr>
          <p:cNvSpPr/>
          <p:nvPr/>
        </p:nvSpPr>
        <p:spPr>
          <a:xfrm>
            <a:off x="468313" y="981075"/>
            <a:ext cx="32035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차이 </a:t>
            </a:r>
            <a: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/>
              </a:rPr>
              <a:t>IATF 16949 / AS9100)</a:t>
            </a:r>
            <a:endParaRPr lang="ko-KR" altLang="en-US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직사각형 3">
            <a:extLst>
              <a:ext uri="{FF2B5EF4-FFF2-40B4-BE49-F238E27FC236}">
                <a16:creationId xmlns:a16="http://schemas.microsoft.com/office/drawing/2014/main" id="{FD4D96A2-4854-DEC4-33BD-72FB24B68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504950"/>
            <a:ext cx="8280400" cy="411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/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ddiUD 온고딕 Bold"/>
              </a:rPr>
              <a:t>1.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특성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(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대량 생산 체계와 소량 생산 체계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ko-KR" altLang="en-US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-</a:t>
            </a:r>
            <a:r>
              <a:rPr lang="ko-KR" altLang="en-US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 자동차 분야는 대량 생산 중심의 문서 체계</a:t>
            </a:r>
            <a:endParaRPr lang="en-US" altLang="ko-KR" sz="16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휴먼명조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 </a:t>
            </a:r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- 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항공 분야는 소량 생산 중심의 문서 체계 </a:t>
            </a:r>
            <a:endParaRPr lang="en-US" altLang="ko-KR" sz="1600" b="0">
              <a:solidFill>
                <a:srgbClr val="0348F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휴먼명조" pitchFamily="2" charset="-127"/>
            </a:endParaRPr>
          </a:p>
          <a:p>
            <a:pPr algn="just">
              <a:lnSpc>
                <a:spcPct val="130000"/>
              </a:lnSpc>
            </a:pPr>
            <a:endParaRPr lang="en-US" altLang="ko-KR" sz="16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휴먼명조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2.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방향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(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부적합예방 과 무결점 제품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)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세계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3200 </a:t>
            </a:r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)</a:t>
            </a:r>
          </a:p>
          <a:p>
            <a:pPr algn="just">
              <a:lnSpc>
                <a:spcPct val="130000"/>
              </a:lnSpc>
            </a:pPr>
            <a:r>
              <a:rPr lang="en-US" altLang="ko-KR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부적합 예방 시스템 및 샘프링 검사 체제와 사전 부적합 예방 시스템과 전수 검사 </a:t>
            </a:r>
          </a:p>
          <a:p>
            <a:pPr algn="just">
              <a:lnSpc>
                <a:spcPct val="130000"/>
              </a:lnSpc>
            </a:pPr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분야는 추가적인 품질 보증 체계 </a:t>
            </a:r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단계별 검사</a:t>
            </a:r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추적성 관리가 요구</a:t>
            </a:r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/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분야는 위조품 관리</a:t>
            </a:r>
            <a:endParaRPr lang="en-US" altLang="ko-KR" sz="1600" b="0">
              <a:solidFill>
                <a:srgbClr val="0348F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/>
            <a:endParaRPr lang="en-US" altLang="ko-KR" sz="16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/>
            <a:r>
              <a:rPr lang="en-US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주안점 </a:t>
            </a:r>
            <a:r>
              <a:rPr lang="en-US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 효율성 과 제품 안전</a:t>
            </a:r>
            <a:r>
              <a:rPr lang="en-US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자동치분야는 대량 체계에서 공정효율성 및 변동성 축소</a:t>
            </a:r>
          </a:p>
          <a:p>
            <a:pPr algn="just">
              <a:lnSpc>
                <a:spcPct val="130000"/>
              </a:lnSpc>
            </a:pPr>
            <a:r>
              <a:rPr lang="en-US" altLang="ko-KR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b="0">
                <a:solidFill>
                  <a:srgbClr val="0348F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항공분야는 소량체계에서 제품 안전 및 신뢰성 강화 </a:t>
            </a:r>
            <a:endParaRPr lang="en-US" altLang="ko-KR" sz="1600" b="0">
              <a:solidFill>
                <a:srgbClr val="0348F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30000"/>
              </a:lnSpc>
            </a:pPr>
            <a:endParaRPr lang="en-US" altLang="ko-KR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F7D00696-3186-315C-D302-AE9D1F030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59525"/>
            <a:ext cx="8937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100" b="0">
                <a:latin typeface="Microsoft Sans Serif" panose="020B0604020202020204" pitchFamily="34" charset="0"/>
              </a:rPr>
              <a:t>출처</a:t>
            </a:r>
            <a:r>
              <a:rPr lang="en-US" altLang="ko-KR" sz="1100" b="0">
                <a:latin typeface="Microsoft Sans Serif" panose="020B0604020202020204" pitchFamily="34" charset="0"/>
              </a:rPr>
              <a:t>: IAQG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0BB984-166C-4895-8A51-0567F8EDE224}"/>
              </a:ext>
            </a:extLst>
          </p:cNvPr>
          <p:cNvSpPr/>
          <p:nvPr/>
        </p:nvSpPr>
        <p:spPr>
          <a:xfrm>
            <a:off x="7938" y="0"/>
            <a:ext cx="1697037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표준간 차이</a:t>
            </a:r>
          </a:p>
        </p:txBody>
      </p:sp>
    </p:spTree>
  </p:cSld>
  <p:clrMapOvr>
    <a:masterClrMapping/>
  </p:clrMapOvr>
  <p:transition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29E061B-C473-3E6C-16E5-A604EB565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60331E-38FE-F825-F865-7252F7435C64}"/>
              </a:ext>
            </a:extLst>
          </p:cNvPr>
          <p:cNvSpPr/>
          <p:nvPr/>
        </p:nvSpPr>
        <p:spPr>
          <a:xfrm>
            <a:off x="7938" y="0"/>
            <a:ext cx="2763837" cy="5080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컨설팅 수행 과정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6391EB9-7674-D3D8-9CC3-C7102B4FA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3317" name="Rectangle 6">
            <a:extLst>
              <a:ext uri="{FF2B5EF4-FFF2-40B4-BE49-F238E27FC236}">
                <a16:creationId xmlns:a16="http://schemas.microsoft.com/office/drawing/2014/main" id="{FDB851D2-F102-1852-E5C5-752C0C692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A3C0638-93C0-EAAB-59A8-EC3A41EA31B6}"/>
              </a:ext>
            </a:extLst>
          </p:cNvPr>
          <p:cNvGraphicFramePr>
            <a:graphicFrameLocks noGrp="1"/>
          </p:cNvGraphicFramePr>
          <p:nvPr/>
        </p:nvGraphicFramePr>
        <p:xfrm>
          <a:off x="525463" y="947738"/>
          <a:ext cx="8093075" cy="5391150"/>
        </p:xfrm>
        <a:graphic>
          <a:graphicData uri="http://schemas.openxmlformats.org/drawingml/2006/table">
            <a:tbl>
              <a:tblPr firstRow="1" bandRow="1"/>
              <a:tblGrid>
                <a:gridCol w="809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31">
                <a:tc>
                  <a:txBody>
                    <a:bodyPr/>
                    <a:lstStyle/>
                    <a:p>
                      <a:pPr marL="0" marR="0" lvl="0" indent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800" b="1" kern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4773" marR="64773" marT="17906" marB="17906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54">
                <a:tc>
                  <a:txBody>
                    <a:bodyPr/>
                    <a:lstStyle/>
                    <a:p>
                      <a:pPr marL="7620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1)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 </a:t>
                      </a:r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AS9100 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이해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64773" marR="64773" marT="17906" marB="17906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907">
                <a:tc>
                  <a:txBody>
                    <a:bodyPr/>
                    <a:lstStyle/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주요 </a:t>
                      </a: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프로세스별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경영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영업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설계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구매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생산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및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품질</a:t>
                      </a:r>
                      <a:r>
                        <a:rPr lang="en-US" altLang="ko-KR" sz="140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로 주요 항목 이해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  </a:t>
                      </a:r>
                      <a:endParaRPr lang="en-US" altLang="ko-KR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  <a:defRPr/>
                      </a:pP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주요 </a:t>
                      </a:r>
                      <a:r>
                        <a:rPr lang="ko-KR" altLang="en-US"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프로세스별로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주요 항목 정리</a:t>
                      </a:r>
                      <a:endParaRPr lang="en-US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335973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73" marR="64773" marT="17906" marB="17906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54">
                <a:tc>
                  <a:txBody>
                    <a:bodyPr/>
                    <a:lstStyle/>
                    <a:p>
                      <a:pPr marL="16279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2) GAP</a:t>
                      </a:r>
                      <a:r>
                        <a:rPr lang="en-US" altLang="ko-KR" sz="1600" b="1" kern="0" spc="0" baseline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 </a:t>
                      </a:r>
                      <a:r>
                        <a:rPr lang="ko-KR" altLang="en-US" sz="1600" b="1" kern="0" spc="0" baseline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분석</a:t>
                      </a:r>
                      <a:r>
                        <a:rPr lang="en-US" altLang="ko-KR" sz="1600" b="1" kern="0" spc="0" baseline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, 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항목별 비교 및 추가 혹은 수정 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64773" marR="64773" marT="17906" marB="17906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2649">
                <a:tc>
                  <a:txBody>
                    <a:bodyPr/>
                    <a:lstStyle/>
                    <a:p>
                      <a:pPr marL="180975" marR="0" lvl="0" indent="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휴먼명조"/>
                        </a:rPr>
                        <a:t> 항목별 기존 절차와 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휴먼명조"/>
                        </a:rPr>
                        <a:t>IA9100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휴먼명조"/>
                        </a:rPr>
                        <a:t>요구 조건 사이 주요 차이를 정리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   </a:t>
                      </a:r>
                      <a:endParaRPr lang="en-US" altLang="ko-KR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marR="0" lvl="0" indent="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신규 절차를 추가하여 반영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</a:p>
                    <a:p>
                      <a:pPr marL="180975" marR="0" lvl="0" indent="0" algn="just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기존 절차에 항목을 추가하여 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IA9100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요구 조건에 일치</a:t>
                      </a:r>
                    </a:p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기존 절차에 내용을 변경 혹은 추가하여 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IA9100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요구 조건에 일치</a:t>
                      </a:r>
                      <a:endParaRPr lang="en-US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335973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73" marR="64773" marT="17906" marB="17906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54">
                <a:tc>
                  <a:txBody>
                    <a:bodyPr/>
                    <a:lstStyle/>
                    <a:p>
                      <a:pPr marL="153169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3)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내부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심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사</a:t>
                      </a:r>
                      <a:r>
                        <a:rPr lang="ko-KR" altLang="en-US"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로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개선점 취득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64773" marR="64773" marT="17906" marB="17906" anchor="ctr">
                    <a:lnL w="6350" cap="flat" cmpd="sng" algn="ctr">
                      <a:noFill/>
                      <a:prstDash val="sysDot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5293">
                <a:tc>
                  <a:txBody>
                    <a:bodyPr/>
                    <a:lstStyle/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  <a:defRPr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내부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심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사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체계를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구축하여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운영 체제의 일관성을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높인다</a:t>
                      </a:r>
                      <a:endParaRPr lang="en-US" altLang="ko-KR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QMS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에서 발생할 수 있는 불확실성을 사전에 파악 및 관리</a:t>
                      </a:r>
                      <a:endParaRPr lang="en-US" altLang="ko-KR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생산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공정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상의 부적합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에서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발생할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수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있는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불확실성을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사전에</a:t>
                      </a:r>
                      <a:r>
                        <a:rPr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파악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및 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관리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</a:p>
                    <a:p>
                      <a:pPr marL="393700" lvl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4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73" marR="64773" marT="17906" marB="17906" anchor="ctr">
                    <a:lnL w="6350" cap="flat" cmpd="sng" algn="ctr">
                      <a:noFill/>
                      <a:prstDash val="sysDot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654">
                <a:tc>
                  <a:txBody>
                    <a:bodyPr/>
                    <a:lstStyle/>
                    <a:p>
                      <a:pPr marL="162790"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defRPr/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4)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 경영검토로 </a:t>
                      </a:r>
                      <a:r>
                        <a:rPr lang="en-US" altLang="ko-KR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QMS 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체계 강화 </a:t>
                      </a:r>
                      <a:r>
                        <a:rPr lang="en-US" altLang="ko-KR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(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조직 안건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/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문제 개선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)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64773" marR="64773" marT="17906" marB="17906" anchor="ctr">
                    <a:lnL w="6350" cap="flat" cmpd="sng" algn="ctr">
                      <a:noFill/>
                      <a:prstDash val="sysDot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552">
                <a:tc>
                  <a:txBody>
                    <a:bodyPr/>
                    <a:lstStyle/>
                    <a:p>
                      <a:pPr marL="180975" lvl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경영검토에서 선택한 조직의 중대 안건을 </a:t>
                      </a:r>
                      <a:r>
                        <a:rPr lang="en-US" altLang="ko-KR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1</a:t>
                      </a:r>
                      <a:r>
                        <a:rPr lang="ko-KR" alt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년간 적극적 개선</a:t>
                      </a:r>
                      <a:r>
                        <a:rPr sz="14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한다</a:t>
                      </a:r>
                      <a:r>
                        <a:rPr lang="en-US" sz="14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64773" marR="64773" marT="17906" marB="17906" anchor="ctr">
                    <a:lnL w="6350" cap="flat" cmpd="sng" algn="ctr">
                      <a:noFill/>
                      <a:prstDash val="sysDot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BE328B8-82CE-4E65-9EEA-2A2AA0C3B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08C78D-CE5B-AA8A-22E3-ECB65EEF7CD4}"/>
              </a:ext>
            </a:extLst>
          </p:cNvPr>
          <p:cNvSpPr/>
          <p:nvPr/>
        </p:nvSpPr>
        <p:spPr>
          <a:xfrm>
            <a:off x="7938" y="0"/>
            <a:ext cx="2320925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6. 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컨설팅 수행 목표</a:t>
            </a:r>
            <a:endParaRPr lang="ko-KR" altLang="en-US" dirty="0">
              <a:latin typeface="KoddiUD 온고딕 Bold"/>
              <a:ea typeface="KoddiUD 온고딕 Bold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F50C9C9-6B12-1ECF-F56A-EB35FF056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BD43450E-C49B-3062-2603-0E7ED082C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DCF5E1E-B7A5-FDCD-6A5D-46F752BCB6F7}"/>
              </a:ext>
            </a:extLst>
          </p:cNvPr>
          <p:cNvGraphicFramePr>
            <a:graphicFrameLocks noGrp="1"/>
          </p:cNvGraphicFramePr>
          <p:nvPr/>
        </p:nvGraphicFramePr>
        <p:xfrm>
          <a:off x="498475" y="1098550"/>
          <a:ext cx="8147050" cy="5224463"/>
        </p:xfrm>
        <a:graphic>
          <a:graphicData uri="http://schemas.openxmlformats.org/drawingml/2006/table">
            <a:tbl>
              <a:tblPr firstRow="1" bandRow="1"/>
              <a:tblGrid>
                <a:gridCol w="868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416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500" dirty="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목표 </a:t>
                      </a:r>
                      <a:r>
                        <a:rPr lang="en-US" altLang="ko-KR" sz="1500" dirty="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1.</a:t>
                      </a: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AS9100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표준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준수를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위한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품질경영시스템</a:t>
                      </a:r>
                      <a:r>
                        <a:rPr 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(QMS)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구축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및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최적화</a:t>
                      </a:r>
                      <a:endParaRPr sz="1500" b="1" i="0" u="none" strike="noStrike" baseline="0" dirty="0">
                        <a:solidFill>
                          <a:srgbClr val="000000"/>
                        </a:solidFill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287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endParaRPr lang="ko-KR" altLang="en-US" sz="1600">
                        <a:solidFill>
                          <a:schemeClr val="dk1"/>
                        </a:solidFill>
                        <a:latin typeface="KoddiUD 온고딕 Bold"/>
                        <a:ea typeface="KoddiUD 온고딕 Bold"/>
                      </a:endParaRP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현재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운영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중인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ISO/9001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IATF16949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시스템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기반의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프로세스와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절차를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철저히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분석하여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</a:t>
                      </a:r>
                    </a:p>
                    <a:p>
                      <a:pPr marL="76200" lv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표준에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따라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부족한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부분을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파악하고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필요한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개선을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통해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QMS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효과적으로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강화한다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416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목표 </a:t>
                      </a:r>
                      <a:r>
                        <a:rPr lang="en-US" altLang="ko-KR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2.</a:t>
                      </a: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항공산업</a:t>
                      </a:r>
                      <a:r>
                        <a:rPr 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(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고객</a:t>
                      </a:r>
                      <a:r>
                        <a:rPr 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)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요구에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적합한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lang="ko-KR" alt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제품 제조를 위한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품질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프로세스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개발</a:t>
                      </a:r>
                      <a:endParaRPr sz="1500" b="1" i="0" u="none" strike="noStrike" baseline="0" dirty="0">
                        <a:solidFill>
                          <a:srgbClr val="000000"/>
                        </a:solidFill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496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endParaRPr lang="ko-KR" altLang="en-US" sz="1800">
                        <a:solidFill>
                          <a:schemeClr val="dk1"/>
                        </a:solidFill>
                      </a:endParaRP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항공기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내장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부품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을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위해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필수적인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품질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보증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체계를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구축하여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경쟁력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있는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제품개발을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</a:p>
                    <a:p>
                      <a:pPr marL="76200" lv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지원하고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항공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산업의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고품질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고신뢰성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요구에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부응하는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기반을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마련한다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2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r>
                        <a:rPr lang="ko-KR" altLang="en-US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목표 </a:t>
                      </a:r>
                      <a:r>
                        <a:rPr lang="en-US" altLang="ko-KR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3.</a:t>
                      </a:r>
                      <a:endParaRPr lang="ko-KR" altLang="en-US" sz="1500">
                        <a:solidFill>
                          <a:schemeClr val="dk1"/>
                        </a:solidFill>
                        <a:latin typeface="KoddiUD 온고딕 Bold"/>
                        <a:ea typeface="KoddiUD 온고딕 Bold"/>
                      </a:endParaRP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내부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심사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/ </a:t>
                      </a:r>
                      <a:r>
                        <a:rPr lang="ko-KR" altLang="en-US"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경영검토 통한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리스크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관리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체계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구축</a:t>
                      </a:r>
                      <a:endParaRPr lang="ko-KR" altLang="en-US" sz="1500" b="1" i="0" u="none" strike="noStrike" baseline="0" dirty="0">
                        <a:solidFill>
                          <a:srgbClr val="000000"/>
                        </a:solidFill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496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endParaRPr lang="ko-KR" altLang="en-US" sz="1800">
                        <a:solidFill>
                          <a:schemeClr val="dk1"/>
                        </a:solidFill>
                      </a:endParaRP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향후 지속적인 품질 유지와 개선을 위한 자율적 내부 심사 기능과 리스크 관리 체계를 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설계</a:t>
                      </a:r>
                    </a:p>
                    <a:p>
                      <a:pPr marL="76200"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 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하여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AS9100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요구사항을 자율적으로 유지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·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개선할 수 있도록 한다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2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r>
                        <a:rPr lang="ko-KR" altLang="en-US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목표 </a:t>
                      </a:r>
                      <a:r>
                        <a:rPr lang="en-US" altLang="ko-KR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4.</a:t>
                      </a: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고객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신뢰도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확보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및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경쟁력</a:t>
                      </a:r>
                      <a:r>
                        <a:rPr sz="15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5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제고</a:t>
                      </a:r>
                      <a:endParaRPr lang="en-US" altLang="ko-KR" sz="1500" b="1" i="0" u="none" strike="noStrike" baseline="0" dirty="0">
                        <a:solidFill>
                          <a:srgbClr val="000000"/>
                        </a:solidFill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496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endParaRPr lang="ko-KR" altLang="en-US" sz="1500">
                        <a:solidFill>
                          <a:schemeClr val="dk1"/>
                        </a:solidFill>
                        <a:latin typeface="KoddiUD 온고딕 Bold"/>
                        <a:ea typeface="KoddiUD 온고딕 Bold"/>
                      </a:endParaRP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5442" lvl="0" indent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 획득을 통해 국내외 고객에게 신뢰성을 제공하고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국내 항공산업 사업에서</a:t>
                      </a: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경쟁력을 </a:t>
                      </a:r>
                    </a:p>
                    <a:p>
                      <a:pPr marL="95442" lvl="0" indent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강화한다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2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r>
                        <a:rPr lang="ko-KR" altLang="en-US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목표 </a:t>
                      </a:r>
                      <a:r>
                        <a:rPr lang="en-US" altLang="ko-KR" sz="150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5.</a:t>
                      </a: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 baseline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교육과 지속적 성장을 위한 자립 역량 확보</a:t>
                      </a:r>
                      <a:r>
                        <a:rPr lang="en-US" altLang="ko-KR" sz="1500" b="1" i="0" u="none" strike="noStrike" baseline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</a:p>
                  </a:txBody>
                  <a:tcPr marL="91433" marR="91433" marT="45727" marB="45727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1496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defRPr/>
                      </a:pPr>
                      <a:endParaRPr lang="ko-KR" altLang="en-US" sz="1500" dirty="0">
                        <a:solidFill>
                          <a:schemeClr val="dk1"/>
                        </a:solidFill>
                        <a:latin typeface="KoddiUD 온고딕 Bold"/>
                        <a:ea typeface="KoddiUD 온고딕 Bold"/>
                      </a:endParaRP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76200"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 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표준을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기반으로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한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교육과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역량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강화를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통해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품질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경영에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대한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전사적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이해와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76200"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자립적인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품질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개선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역량을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구축하여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기업의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장기적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성장을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도모한다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.</a:t>
                      </a:r>
                    </a:p>
                  </a:txBody>
                  <a:tcPr marL="91433" marR="91433" marT="45727" marB="45727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9EF1CB2-8BD1-5D9B-C7E2-9F5820476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82FF24-70AD-1626-B7DF-11605D7A7E6E}"/>
              </a:ext>
            </a:extLst>
          </p:cNvPr>
          <p:cNvSpPr/>
          <p:nvPr/>
        </p:nvSpPr>
        <p:spPr>
          <a:xfrm>
            <a:off x="7938" y="0"/>
            <a:ext cx="2936875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 7.  </a:t>
            </a:r>
            <a:r>
              <a:rPr lang="ko-KR" altLang="en-US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컨설팅 수행단계</a:t>
            </a:r>
            <a:r>
              <a:rPr lang="en-US" altLang="ko-KR" kern="0" dirty="0">
                <a:solidFill>
                  <a:srgbClr val="000000"/>
                </a:solidFill>
                <a:latin typeface="KoddiUD 온고딕 Bold"/>
                <a:ea typeface="KoddiUD 온고딕 Bold"/>
              </a:rPr>
              <a:t> (1/2)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8DBE8AD-5A8E-D622-9711-AE7EF11D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id="{13AE8278-6CDE-1A24-7148-42975C41C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9149454-9171-AB02-1105-ACB5625C90BF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1004888"/>
          <a:ext cx="9848850" cy="4586287"/>
        </p:xfrm>
        <a:graphic>
          <a:graphicData uri="http://schemas.openxmlformats.org/drawingml/2006/table">
            <a:tbl>
              <a:tblPr firstRow="1" bandRow="1"/>
              <a:tblGrid>
                <a:gridCol w="1070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4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7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759">
                <a:tc gridSpan="3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400" b="1" kern="0" spc="-1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단계별 추진과제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추진과제</a:t>
                      </a: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수행방안</a:t>
                      </a:r>
                      <a:endParaRPr lang="ko-KR" altLang="en-US" sz="1400" b="1" kern="0" spc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수행 결과 </a:t>
                      </a:r>
                      <a:endParaRPr lang="ko-KR" altLang="en-US" sz="1600" b="1" kern="0" spc="-1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2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산출물</a:t>
                      </a:r>
                      <a:r>
                        <a:rPr lang="en-US" altLang="ko-KR" sz="1200" b="1" kern="0" spc="-1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222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(Plan)</a:t>
                      </a:r>
                      <a:endParaRPr lang="ko-KR" altLang="en-US" sz="1400" kern="0" spc="-15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</a:t>
                      </a:r>
                    </a:p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추진계획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수립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60" marR="64760" marT="17901" marB="17901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300" b="1" kern="0" spc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64760" marR="64760" marT="17901" marB="17901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663" lvl="0" indent="0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lang="en-US" altLang="ko-KR" sz="1300" b="1">
                          <a:latin typeface="맑은 고딕"/>
                          <a:ea typeface="맑은 고딕"/>
                        </a:rPr>
                        <a:t>AS 9100 </a:t>
                      </a: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표준 이해</a:t>
                      </a:r>
                    </a:p>
                    <a:p>
                      <a:pPr marL="93663" lvl="0" indent="0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 경영진의 의지 확인</a:t>
                      </a:r>
                    </a:p>
                    <a:p>
                      <a:pPr marL="93663" lvl="0" indent="0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 현재 시스템 분석</a:t>
                      </a:r>
                      <a:r>
                        <a:rPr lang="en-US" altLang="ko-KR" sz="1300" b="1"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</a:t>
                      </a:r>
                      <a:endParaRPr lang="ko-KR" altLang="en-US" sz="1300" b="1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현재 시스템 분석</a:t>
                      </a:r>
                    </a:p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결과</a:t>
                      </a: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개선 문제점</a:t>
                      </a:r>
                    </a:p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포함</a:t>
                      </a: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222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(Implement)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프로세스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문서화</a:t>
                      </a: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작성</a:t>
                      </a:r>
                    </a:p>
                  </a:txBody>
                  <a:tcPr marL="64760" marR="64760" marT="17901" marB="17901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3663" lvl="0" indent="0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 품질 관리 시스템 개선</a:t>
                      </a:r>
                    </a:p>
                    <a:p>
                      <a:pPr marL="93663" lvl="0" indent="0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 프로세스 문서화 제</a:t>
                      </a:r>
                      <a:r>
                        <a:rPr lang="en-US" altLang="ko-KR" sz="1300" b="1"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재정</a:t>
                      </a:r>
                    </a:p>
                    <a:p>
                      <a:pPr marL="93663" lvl="0" indent="0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 시스템 교육 및 훈련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매뉴얼</a:t>
                      </a: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절차서및</a:t>
                      </a:r>
                    </a:p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지침서 </a:t>
                      </a: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</a:t>
                      </a: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개정</a:t>
                      </a: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  <a:endParaRPr lang="ko-KR" altLang="en-US" sz="1300" b="1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470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(Review)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실행 및 </a:t>
                      </a: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개선</a:t>
                      </a:r>
                      <a:endParaRPr lang="ko-KR" altLang="en-US" sz="1300" b="1" i="0" u="none" strike="noStrike" baseline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60" marR="64760" marT="17901" marB="17901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~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64760" marR="64760" marT="17901" marB="17901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시스템 도입 및 실행</a:t>
                      </a:r>
                    </a:p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문서관리 및 기록</a:t>
                      </a:r>
                    </a:p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내부 심사  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내부심사 수행 결과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034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(Review)</a:t>
                      </a:r>
                      <a:endParaRPr lang="ko-KR" altLang="en-US" sz="1400" kern="0" spc="-15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 준비</a:t>
                      </a:r>
                      <a:r>
                        <a:rPr lang="ko-KR" altLang="en-US" sz="13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ko-KR" altLang="en-US" sz="1300" b="1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64760" marR="64760" marT="17901" marB="17901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경영 검토</a:t>
                      </a:r>
                    </a:p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사전 심사</a:t>
                      </a:r>
                    </a:p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심사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경영검토 수행 결과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441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(Certify)</a:t>
                      </a:r>
                    </a:p>
                  </a:txBody>
                  <a:tcPr marL="64760" marR="64760" marT="17901" marB="17901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 신청</a:t>
                      </a:r>
                      <a:endParaRPr lang="en-US" altLang="ko-KR" sz="130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인증 신청</a:t>
                      </a:r>
                      <a:endParaRPr lang="ko-KR" altLang="en-US" sz="1400" b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0" i="0" u="none" strike="noStrike" baseline="0">
                          <a:solidFill>
                            <a:srgbClr val="000000"/>
                          </a:solidFill>
                          <a:latin typeface="휴먼명조"/>
                          <a:ea typeface="휴먼명조"/>
                          <a:cs typeface="휴먼명조"/>
                        </a:rPr>
                        <a:t> 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휴먼명조"/>
                          <a:ea typeface="휴먼명조"/>
                          <a:cs typeface="휴먼명조"/>
                        </a:rPr>
                        <a:t>AS9100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휴먼명조"/>
                          <a:ea typeface="휴먼명조"/>
                          <a:cs typeface="휴먼명조"/>
                        </a:rPr>
                        <a:t>인증신청서</a:t>
                      </a:r>
                      <a:endParaRPr sz="1300" b="1" i="0" u="none" strike="noStrike" baseline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휴먼명조"/>
                      </a:endParaRPr>
                    </a:p>
                  </a:txBody>
                  <a:tcPr marL="64760" marR="64760" marT="17901" marB="179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140">
                <a:tc gridSpan="2">
                  <a:txBody>
                    <a:bodyPr/>
                    <a:lstStyle/>
                    <a:p>
                      <a:pPr marL="0" marR="0" lvl="0" indent="0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              ☆ 인증심사 및 사후관리</a:t>
                      </a:r>
                    </a:p>
                  </a:txBody>
                  <a:tcPr marL="64760" marR="64760" marT="17901" marB="17901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AF3DB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64760" marR="64760" marT="17901" marB="17901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AF3DB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인증 심사 </a:t>
                      </a: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(1&amp;2</a:t>
                      </a:r>
                      <a:r>
                        <a:rPr lang="ko-KR" altLang="en-US" sz="1400" b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  <a:p>
                      <a:pPr marL="285750" lvl="0" indent="-192088">
                        <a:lnSpc>
                          <a:spcPct val="120000"/>
                        </a:lnSpc>
                        <a:buFont typeface="Wingdings"/>
                        <a:buChar char="§"/>
                        <a:defRPr/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시정조치 및 인증서 교보</a:t>
                      </a:r>
                      <a:endParaRPr lang="ko-KR" altLang="en-US" sz="1400" b="1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0" marR="64760" marT="17901" marB="17901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AF3DB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sz="1300" b="1" i="0" u="none" strike="noStrike" baseline="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휴먼명조"/>
                      </a:endParaRPr>
                    </a:p>
                  </a:txBody>
                  <a:tcPr marL="64760" marR="64760" marT="17901" marB="17901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A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5C6838B-36DB-897B-E3E7-9B68705E4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D7DD64-33CC-DDC3-8B95-5F67CE112775}"/>
              </a:ext>
            </a:extLst>
          </p:cNvPr>
          <p:cNvSpPr/>
          <p:nvPr/>
        </p:nvSpPr>
        <p:spPr>
          <a:xfrm>
            <a:off x="7938" y="0"/>
            <a:ext cx="2239962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8.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컨설팅 세부 일정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DC19A4C-8C52-FEFB-DAB7-1C33ED450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6389" name="Rectangle 6">
            <a:extLst>
              <a:ext uri="{FF2B5EF4-FFF2-40B4-BE49-F238E27FC236}">
                <a16:creationId xmlns:a16="http://schemas.microsoft.com/office/drawing/2014/main" id="{7BBB460F-3A41-CC7E-C105-035861CD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0FE46A6-9FCE-7A9B-077B-E2CEF97E339D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117600"/>
          <a:ext cx="8524875" cy="5106988"/>
        </p:xfrm>
        <a:graphic>
          <a:graphicData uri="http://schemas.openxmlformats.org/drawingml/2006/table">
            <a:tbl>
              <a:tblPr firstRow="1" bandRow="1"/>
              <a:tblGrid>
                <a:gridCol w="748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339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50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47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33953">
                <a:tc rowSpan="2" gridSpan="2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0" kern="0" spc="-10" dirty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단계별 추진과제</a:t>
                      </a:r>
                      <a:endParaRPr lang="ko-KR" altLang="en-US" sz="1600" b="0" kern="0" spc="0" dirty="0">
                        <a:solidFill>
                          <a:srgbClr val="000000"/>
                        </a:solidFill>
                        <a:effectLst/>
                        <a:latin typeface="KoddiUD 온고딕 Bold"/>
                        <a:ea typeface="KoddiUD 온고딕 Bold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0" kern="0" spc="0">
                          <a:solidFill>
                            <a:schemeClr val="dk1"/>
                          </a:solidFill>
                          <a:latin typeface="KoddiUD 온고딕 Bold"/>
                          <a:ea typeface="KoddiUD 온고딕 Bold"/>
                        </a:rPr>
                        <a:t>일 정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0">
                          <a:solidFill>
                            <a:srgbClr val="808080"/>
                          </a:solidFill>
                          <a:latin typeface="KoddiUD 온고딕 Bold"/>
                          <a:ea typeface="KoddiUD 온고딕 Bold"/>
                        </a:rPr>
                        <a:t>일수</a:t>
                      </a:r>
                    </a:p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1" kern="0" spc="0">
                          <a:solidFill>
                            <a:srgbClr val="808080"/>
                          </a:solidFill>
                          <a:latin typeface="KoddiUD 온고딕 Bold"/>
                          <a:ea typeface="KoddiUD 온고딕 Bold"/>
                        </a:rPr>
                        <a:t>(MD)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0">
                          <a:solidFill>
                            <a:srgbClr val="808080"/>
                          </a:solidFill>
                          <a:latin typeface="KoddiUD 온고딕 Bold"/>
                          <a:ea typeface="KoddiUD 온고딕 Bold"/>
                        </a:rPr>
                        <a:t>대상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0">
                          <a:solidFill>
                            <a:srgbClr val="808080"/>
                          </a:solidFill>
                          <a:latin typeface="KoddiUD 온고딕 Bold"/>
                          <a:ea typeface="KoddiUD 온고딕 Bold"/>
                        </a:rPr>
                        <a:t>비고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153">
                <a:tc gridSpan="2"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kern="0" spc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M+1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kern="0" spc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M+2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kern="0" spc="0">
                          <a:solidFill>
                            <a:srgbClr val="000000"/>
                          </a:solidFill>
                          <a:effectLst/>
                          <a:latin typeface="KoddiUD 온고딕 Bold"/>
                          <a:ea typeface="KoddiUD 온고딕 Bold"/>
                        </a:rPr>
                        <a:t>M+3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6" marR="64766" marT="17904" marB="17904" anchor="ctr">
                    <a:lnL w="9525" cap="flat" cmpd="sng" algn="ctr">
                      <a:solidFill>
                        <a:srgbClr val="808080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6" marR="64766" marT="17904" marB="17904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64766" marR="64766" marT="17904" marB="17904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713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(Plan)</a:t>
                      </a:r>
                      <a:endParaRPr lang="ko-KR" altLang="en-US" sz="1200" kern="0" spc="-15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</a:p>
                    <a:p>
                      <a:pPr lv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인증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추진계획 수립</a:t>
                      </a:r>
                      <a:endParaRPr lang="ko-KR" altLang="en-US" sz="1100" b="1" i="0" u="none" strike="noStrike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4118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TFT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713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(Implement)</a:t>
                      </a: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프로세스 </a:t>
                      </a:r>
                    </a:p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문서화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작성</a:t>
                      </a: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indent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전부서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713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(Review)</a:t>
                      </a: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실행</a:t>
                      </a:r>
                    </a:p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및 개선</a:t>
                      </a:r>
                      <a:endParaRPr lang="ko-KR" altLang="en-US" sz="1300" b="1" i="0" u="none" strike="noStrike" baseline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indent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전부서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1713"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(Review)</a:t>
                      </a:r>
                      <a:endParaRPr lang="ko-KR" altLang="en-US" sz="1200" kern="0" spc="-15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</a:p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 준비</a:t>
                      </a:r>
                      <a:r>
                        <a:rPr lang="ko-KR" altLang="en-US" sz="1300" b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ko-KR" altLang="en-US" sz="1300" b="1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indent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전부서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355">
                <a:tc>
                  <a:txBody>
                    <a:bodyPr/>
                    <a:lstStyle/>
                    <a:p>
                      <a:pPr marL="0" marR="0" lvl="0" indent="0"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r>
                        <a:rPr lang="ko-KR" altLang="en-US" sz="14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단계</a:t>
                      </a:r>
                    </a:p>
                    <a:p>
                      <a:pPr marL="0" marR="0" lvl="0" indent="0"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(Certify)</a:t>
                      </a: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AS9100 AQMS </a:t>
                      </a:r>
                    </a:p>
                    <a:p>
                      <a:pPr lv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 </a:t>
                      </a:r>
                      <a:r>
                        <a:rPr lang="ko-KR" altLang="en-US" sz="1300" b="1" i="0" u="none" strike="noStrike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신청</a:t>
                      </a:r>
                      <a:endParaRPr lang="ko-KR" altLang="en-US" sz="1300" b="1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100" b="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협의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615">
                <a:tc>
                  <a:txBody>
                    <a:bodyPr/>
                    <a:lstStyle/>
                    <a:p>
                      <a:pPr marL="0" marR="0" lvl="0" indent="0"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인증심사</a:t>
                      </a: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심사 시정조치 지원</a:t>
                      </a: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및 결과 보고</a:t>
                      </a: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100" b="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협의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060">
                <a:tc>
                  <a:txBody>
                    <a:bodyPr/>
                    <a:lstStyle/>
                    <a:p>
                      <a:pPr marL="0" marR="0" lvl="0" indent="0"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kern="0" spc="-15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보고</a:t>
                      </a:r>
                    </a:p>
                  </a:txBody>
                  <a:tcPr marL="64758" marR="64758" marT="17908" marB="17908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중간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&amp;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최종보고회</a:t>
                      </a:r>
                    </a:p>
                  </a:txBody>
                  <a:tcPr marL="64758" marR="64758" marT="17908" marB="17908"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▲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600" b="0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▲</a:t>
                      </a: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altLang="ko-KR" sz="1300" b="1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altLang="ko-KR" sz="1200" b="1" kern="0" spc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4762" marR="64762" marT="17906" marB="17906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모서리가 둥근 사각형 설명선 8">
            <a:extLst>
              <a:ext uri="{FF2B5EF4-FFF2-40B4-BE49-F238E27FC236}">
                <a16:creationId xmlns:a16="http://schemas.microsoft.com/office/drawing/2014/main" id="{F3FCDA98-9E3B-F3F4-6372-C746400DD300}"/>
              </a:ext>
            </a:extLst>
          </p:cNvPr>
          <p:cNvSpPr/>
          <p:nvPr/>
        </p:nvSpPr>
        <p:spPr>
          <a:xfrm>
            <a:off x="5580063" y="2420938"/>
            <a:ext cx="1368425" cy="576262"/>
          </a:xfrm>
          <a:prstGeom prst="wedgeRoundRectCallout">
            <a:avLst>
              <a:gd name="adj1" fmla="val 671"/>
              <a:gd name="adj2" fmla="val 93219"/>
              <a:gd name="adj3" fmla="val 16667"/>
            </a:avLst>
          </a:prstGeom>
          <a:solidFill>
            <a:srgbClr val="6182D6"/>
          </a:solidFill>
          <a:ln>
            <a:solidFill>
              <a:srgbClr val="FFD700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>
                <a:latin typeface="KoddiUD 온고딕 Bold"/>
                <a:ea typeface="KoddiUD 온고딕 Bold"/>
              </a:rPr>
              <a:t>추진 일정은 협의 </a:t>
            </a:r>
          </a:p>
          <a:p>
            <a:pPr algn="ctr">
              <a:defRPr/>
            </a:pPr>
            <a:r>
              <a:rPr lang="ko-KR" altLang="en-US" sz="1200">
                <a:latin typeface="KoddiUD 온고딕 Bold"/>
                <a:ea typeface="KoddiUD 온고딕 Bold"/>
              </a:rPr>
              <a:t>진행 예정</a:t>
            </a:r>
          </a:p>
        </p:txBody>
      </p:sp>
      <p:cxnSp>
        <p:nvCxnSpPr>
          <p:cNvPr id="10" name="화살표 32">
            <a:extLst>
              <a:ext uri="{FF2B5EF4-FFF2-40B4-BE49-F238E27FC236}">
                <a16:creationId xmlns:a16="http://schemas.microsoft.com/office/drawing/2014/main" id="{F0361F11-C9B5-CB37-2804-B76211DC8767}"/>
              </a:ext>
            </a:extLst>
          </p:cNvPr>
          <p:cNvCxnSpPr/>
          <p:nvPr/>
        </p:nvCxnSpPr>
        <p:spPr>
          <a:xfrm>
            <a:off x="2987675" y="2205038"/>
            <a:ext cx="358775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화살표 33">
            <a:extLst>
              <a:ext uri="{FF2B5EF4-FFF2-40B4-BE49-F238E27FC236}">
                <a16:creationId xmlns:a16="http://schemas.microsoft.com/office/drawing/2014/main" id="{DA33E584-B700-E25D-6282-8A424D6F2F03}"/>
              </a:ext>
            </a:extLst>
          </p:cNvPr>
          <p:cNvCxnSpPr/>
          <p:nvPr/>
        </p:nvCxnSpPr>
        <p:spPr>
          <a:xfrm>
            <a:off x="2987675" y="3141663"/>
            <a:ext cx="1855788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화살표 34">
            <a:extLst>
              <a:ext uri="{FF2B5EF4-FFF2-40B4-BE49-F238E27FC236}">
                <a16:creationId xmlns:a16="http://schemas.microsoft.com/office/drawing/2014/main" id="{5CDAE878-73A6-7847-0B0D-63893848B40E}"/>
              </a:ext>
            </a:extLst>
          </p:cNvPr>
          <p:cNvCxnSpPr/>
          <p:nvPr/>
        </p:nvCxnSpPr>
        <p:spPr>
          <a:xfrm>
            <a:off x="3708400" y="4005263"/>
            <a:ext cx="2292350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55" name="가로 글상자 36">
            <a:extLst>
              <a:ext uri="{FF2B5EF4-FFF2-40B4-BE49-F238E27FC236}">
                <a16:creationId xmlns:a16="http://schemas.microsoft.com/office/drawing/2014/main" id="{A9C0B406-A004-5EE3-62E8-4C84911E0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2281238"/>
            <a:ext cx="108108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현재 시스템 분석</a:t>
            </a:r>
            <a:endParaRPr lang="ko-KR" altLang="en-US" sz="900">
              <a:ea typeface="맑은 고딕" panose="020B0503020000020004" pitchFamily="50" charset="-127"/>
              <a:cs typeface="휴먼명조" pitchFamily="2" charset="-127"/>
            </a:endParaRPr>
          </a:p>
        </p:txBody>
      </p:sp>
      <p:sp>
        <p:nvSpPr>
          <p:cNvPr id="16556" name="가로 글상자 37">
            <a:extLst>
              <a:ext uri="{FF2B5EF4-FFF2-40B4-BE49-F238E27FC236}">
                <a16:creationId xmlns:a16="http://schemas.microsoft.com/office/drawing/2014/main" id="{0D40942E-C31F-1B89-DE3C-DA46DE4CF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209925"/>
            <a:ext cx="1439862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프로세스 문서화 제</a:t>
            </a:r>
            <a:r>
              <a:rPr lang="en-US" altLang="ko-KR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.</a:t>
            </a: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개정</a:t>
            </a:r>
          </a:p>
        </p:txBody>
      </p:sp>
      <p:sp>
        <p:nvSpPr>
          <p:cNvPr id="16557" name="가로 글상자 38">
            <a:extLst>
              <a:ext uri="{FF2B5EF4-FFF2-40B4-BE49-F238E27FC236}">
                <a16:creationId xmlns:a16="http://schemas.microsoft.com/office/drawing/2014/main" id="{886F52FF-B421-C0C3-F3A3-C196368A9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121150"/>
            <a:ext cx="1439862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문서관리</a:t>
            </a:r>
            <a:r>
              <a:rPr lang="en-US" altLang="ko-KR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/</a:t>
            </a: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기록</a:t>
            </a:r>
            <a:r>
              <a:rPr lang="en-US" altLang="ko-KR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/</a:t>
            </a: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내부심사</a:t>
            </a:r>
          </a:p>
        </p:txBody>
      </p:sp>
      <p:cxnSp>
        <p:nvCxnSpPr>
          <p:cNvPr id="16" name="화살표 39">
            <a:extLst>
              <a:ext uri="{FF2B5EF4-FFF2-40B4-BE49-F238E27FC236}">
                <a16:creationId xmlns:a16="http://schemas.microsoft.com/office/drawing/2014/main" id="{24528744-D811-CAC1-A3C1-384B1B2349D6}"/>
              </a:ext>
            </a:extLst>
          </p:cNvPr>
          <p:cNvCxnSpPr/>
          <p:nvPr/>
        </p:nvCxnSpPr>
        <p:spPr>
          <a:xfrm>
            <a:off x="5597525" y="4868863"/>
            <a:ext cx="1782763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59" name="가로 글상자 40">
            <a:extLst>
              <a:ext uri="{FF2B5EF4-FFF2-40B4-BE49-F238E27FC236}">
                <a16:creationId xmlns:a16="http://schemas.microsoft.com/office/drawing/2014/main" id="{EF085BD7-6E71-3AED-3135-3FE2A372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4941888"/>
            <a:ext cx="1439862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경영검토 </a:t>
            </a:r>
            <a:r>
              <a:rPr lang="en-US" altLang="ko-KR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/</a:t>
            </a: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 사전 심사</a:t>
            </a:r>
          </a:p>
        </p:txBody>
      </p:sp>
      <p:cxnSp>
        <p:nvCxnSpPr>
          <p:cNvPr id="18" name="화살표 41">
            <a:extLst>
              <a:ext uri="{FF2B5EF4-FFF2-40B4-BE49-F238E27FC236}">
                <a16:creationId xmlns:a16="http://schemas.microsoft.com/office/drawing/2014/main" id="{2447F8A1-5E82-6DD6-73F2-11B05A532B8E}"/>
              </a:ext>
            </a:extLst>
          </p:cNvPr>
          <p:cNvCxnSpPr/>
          <p:nvPr/>
        </p:nvCxnSpPr>
        <p:spPr>
          <a:xfrm>
            <a:off x="6851650" y="5464175"/>
            <a:ext cx="596900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61" name="가로 글상자 42">
            <a:extLst>
              <a:ext uri="{FF2B5EF4-FFF2-40B4-BE49-F238E27FC236}">
                <a16:creationId xmlns:a16="http://schemas.microsoft.com/office/drawing/2014/main" id="{FCE93364-C54E-0EDC-0265-E63BCFA5F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535613"/>
            <a:ext cx="6477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인증신청</a:t>
            </a:r>
          </a:p>
        </p:txBody>
      </p:sp>
      <p:cxnSp>
        <p:nvCxnSpPr>
          <p:cNvPr id="20" name="화살표 43">
            <a:extLst>
              <a:ext uri="{FF2B5EF4-FFF2-40B4-BE49-F238E27FC236}">
                <a16:creationId xmlns:a16="http://schemas.microsoft.com/office/drawing/2014/main" id="{53BE17F2-5D7B-34BA-2C42-8FF9D5BA59A6}"/>
              </a:ext>
            </a:extLst>
          </p:cNvPr>
          <p:cNvCxnSpPr/>
          <p:nvPr/>
        </p:nvCxnSpPr>
        <p:spPr>
          <a:xfrm>
            <a:off x="7288213" y="6021388"/>
            <a:ext cx="376237" cy="0"/>
          </a:xfrm>
          <a:prstGeom prst="straightConnector1">
            <a:avLst/>
          </a:prstGeom>
          <a:ln w="19050">
            <a:solidFill>
              <a:srgbClr val="0000FF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F891C32-C726-2100-CB37-EB46083A0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350A73-0066-47DB-F50A-6FEAC3CD54B9}"/>
              </a:ext>
            </a:extLst>
          </p:cNvPr>
          <p:cNvSpPr/>
          <p:nvPr/>
        </p:nvSpPr>
        <p:spPr>
          <a:xfrm>
            <a:off x="7938" y="0"/>
            <a:ext cx="1525587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성과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진입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9A0E4B3-EA43-67B9-280D-DE98FF879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920A8BD8-0DF7-485D-8F33-14DE9D601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7CE212-76CB-B2FB-E4CC-7AEE7A284777}"/>
              </a:ext>
            </a:extLst>
          </p:cNvPr>
          <p:cNvGraphicFramePr/>
          <p:nvPr/>
        </p:nvGraphicFramePr>
        <p:xfrm>
          <a:off x="530225" y="1958975"/>
          <a:ext cx="8091488" cy="4084638"/>
        </p:xfrm>
        <a:graphic>
          <a:graphicData uri="http://schemas.openxmlformats.org/drawingml/2006/table">
            <a:tbl>
              <a:tblPr firstRow="1" bandRow="1"/>
              <a:tblGrid>
                <a:gridCol w="8091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388">
                <a:tc>
                  <a:txBody>
                    <a:bodyPr/>
                    <a:lstStyle/>
                    <a:p>
                      <a:pPr marL="178955" lvl="1" indent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  <a:defRPr/>
                      </a:pP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1)</a:t>
                      </a:r>
                      <a:r>
                        <a:rPr lang="ko-KR" altLang="en-US" sz="16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우주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항공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시장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진입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및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경쟁력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강화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60" marR="64760" marT="17907" marB="17907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78">
                <a:tc>
                  <a:txBody>
                    <a:bodyPr/>
                    <a:lstStyle/>
                    <a:p>
                      <a:pPr marL="180975" lvl="1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defRPr/>
                      </a:pP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IA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9100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인증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취득 및 생태계 진입 기반</a:t>
                      </a:r>
                      <a:endParaRPr lang="en-US" altLang="ko-KR"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361950" lvl="1" indent="-18097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IA9100 QMS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수립을 바탕으로 경영 시스템 운영으로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신뢰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성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강화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lvl="1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None/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국내외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주요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항공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기업과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파트너십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기회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확대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주요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프로젝트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입찰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참여 기회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확보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60" marR="64760" marT="17907" marB="17907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4">
                <a:tc>
                  <a:txBody>
                    <a:bodyPr/>
                    <a:lstStyle/>
                    <a:p>
                      <a:pPr marL="178955" lvl="0" indent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2)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혁신과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개선을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통한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품질 및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생산성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향상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및 비용 절감 </a:t>
                      </a:r>
                    </a:p>
                  </a:txBody>
                  <a:tcPr marL="64760" marR="64760" marT="17907" marB="17907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798">
                <a:tc>
                  <a:txBody>
                    <a:bodyPr/>
                    <a:lstStyle/>
                    <a:p>
                      <a:pPr marL="180975" lvl="1" indent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None/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공정 최적화로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품질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합격율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향상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제조비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절감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(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5~10%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)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생산성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향상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(10~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15%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)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예상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lvl="1" indent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None/>
                        <a:defRPr/>
                      </a:pP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-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공정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및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리스크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관리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개선으로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항공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제품의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신뢰성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확보</a:t>
                      </a: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재고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감소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및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납기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개선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효과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기대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60" marR="64760" marT="17907" marB="17907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388">
                <a:tc>
                  <a:txBody>
                    <a:bodyPr/>
                    <a:lstStyle/>
                    <a:p>
                      <a:pPr marL="178955" lvl="0" indent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3)</a:t>
                      </a:r>
                      <a:r>
                        <a:rPr lang="ko-KR" altLang="en-US"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지속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적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성장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가능성</a:t>
                      </a:r>
                      <a:r>
                        <a:rPr sz="1600" b="1" i="0" u="none" strike="noStrike" baseline="0" dirty="0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 </a:t>
                      </a:r>
                      <a:r>
                        <a:rPr sz="1600" b="1" i="0" u="none" strike="noStrike" baseline="0" dirty="0" err="1">
                          <a:solidFill>
                            <a:srgbClr val="000000"/>
                          </a:solidFill>
                          <a:latin typeface="KoddiUD 온고딕 Bold"/>
                          <a:ea typeface="KoddiUD 온고딕 Bold"/>
                          <a:cs typeface="휴먼명조"/>
                        </a:rPr>
                        <a:t>확보</a:t>
                      </a:r>
                      <a:endParaRPr sz="1600" b="1" i="0" u="none" strike="noStrike" baseline="0" dirty="0">
                        <a:solidFill>
                          <a:srgbClr val="000000"/>
                        </a:solidFill>
                        <a:latin typeface="KoddiUD 온고딕 Bold"/>
                        <a:ea typeface="KoddiUD 온고딕 Bold"/>
                        <a:cs typeface="휴먼명조"/>
                      </a:endParaRPr>
                    </a:p>
                  </a:txBody>
                  <a:tcPr marL="64760" marR="64760" marT="17907" marB="17907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581">
                <a:tc>
                  <a:txBody>
                    <a:bodyPr/>
                    <a:lstStyle/>
                    <a:p>
                      <a:pPr marL="180975" lvl="1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defRPr/>
                      </a:pP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조직 경영 환경 변화 관찰 및 반영으로 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QMS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의 적합성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lang="ko-KR" altLang="en-US"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절절성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및 </a:t>
                      </a:r>
                      <a:r>
                        <a:rPr lang="ko-KR" altLang="en-US"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효과성을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혁신 및 개선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endParaRPr lang="en-US"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  <a:p>
                      <a:pPr marL="180975" lvl="1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defRPr/>
                      </a:pPr>
                      <a:r>
                        <a:rPr 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경영 검토를 통한 사내 중요 문제 </a:t>
                      </a:r>
                      <a:r>
                        <a:rPr lang="en-US" altLang="ko-KR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, </a:t>
                      </a:r>
                      <a:r>
                        <a:rPr lang="ko-KR" altLang="en-US"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혁신 혹은 개선 항목 선정 및 조치하여 </a:t>
                      </a:r>
                      <a:r>
                        <a:rPr sz="13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 </a:t>
                      </a:r>
                      <a:r>
                        <a:rPr sz="1300" b="1" i="0" u="none" strike="noStrike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휴먼명조"/>
                        </a:rPr>
                        <a:t>확보</a:t>
                      </a:r>
                      <a:endParaRPr sz="1300" b="1" i="0" u="none" strike="noStrike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휴먼명조"/>
                      </a:endParaRPr>
                    </a:p>
                  </a:txBody>
                  <a:tcPr marL="64760" marR="64760" marT="17907" marB="17907" anchor="ctr">
                    <a:lnL w="3556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27" name="가로 글상자 16">
            <a:extLst>
              <a:ext uri="{FF2B5EF4-FFF2-40B4-BE49-F238E27FC236}">
                <a16:creationId xmlns:a16="http://schemas.microsoft.com/office/drawing/2014/main" id="{CD2AF8A9-C470-D2B5-E77F-ABA0DDC4D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68413"/>
            <a:ext cx="82089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  ▣  IA9100 </a:t>
            </a:r>
            <a:r>
              <a:rPr lang="ko-KR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인증 획득과 품질 개선을 통</a:t>
            </a:r>
            <a:r>
              <a:rPr lang="ko-KR" altLang="en-US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한 </a:t>
            </a:r>
            <a:r>
              <a:rPr lang="ko-KR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기대효과</a:t>
            </a:r>
            <a:r>
              <a:rPr lang="en-US" altLang="ko-KR"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휴먼명조" pitchFamily="2" charset="-127"/>
              </a:rPr>
              <a:t>.</a:t>
            </a:r>
          </a:p>
        </p:txBody>
      </p:sp>
    </p:spTree>
  </p:cSld>
  <p:clrMapOvr>
    <a:masterClrMapping/>
  </p:clrMapOvr>
  <p:transition>
    <p:zoom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3274FC9-12CD-D995-2CB9-9D758BB01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8D4FDD-3718-E2CD-A9AD-953D20DDE318}"/>
              </a:ext>
            </a:extLst>
          </p:cNvPr>
          <p:cNvSpPr/>
          <p:nvPr/>
        </p:nvSpPr>
        <p:spPr>
          <a:xfrm>
            <a:off x="0" y="17463"/>
            <a:ext cx="1500188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10. 3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자 심사</a:t>
            </a:r>
          </a:p>
        </p:txBody>
      </p:sp>
      <p:sp>
        <p:nvSpPr>
          <p:cNvPr id="18436" name="TextBox 4">
            <a:extLst>
              <a:ext uri="{FF2B5EF4-FFF2-40B4-BE49-F238E27FC236}">
                <a16:creationId xmlns:a16="http://schemas.microsoft.com/office/drawing/2014/main" id="{F2D0EB2E-DF12-ECB4-C7B7-E9DC8BA49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ko-KR" altLang="en-US" sz="1800">
                <a:latin typeface="Microsoft Sans Serif" panose="020B0604020202020204" pitchFamily="34" charset="0"/>
              </a:rPr>
              <a:t>해당 프로세스를 보유하는가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1) </a:t>
            </a:r>
            <a:r>
              <a:rPr lang="ko-KR" altLang="en-US" sz="1800">
                <a:latin typeface="Microsoft Sans Serif" panose="020B0604020202020204" pitchFamily="34" charset="0"/>
              </a:rPr>
              <a:t>해당 절차는 보유하는가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2) </a:t>
            </a:r>
            <a:r>
              <a:rPr lang="ko-KR" altLang="en-US" sz="1800">
                <a:latin typeface="Microsoft Sans Serif" panose="020B0604020202020204" pitchFamily="34" charset="0"/>
              </a:rPr>
              <a:t>절차가 표준을 준수하는가</a:t>
            </a:r>
            <a:r>
              <a:rPr lang="en-US" altLang="ko-KR" sz="1800">
                <a:latin typeface="Microsoft Sans Serif" panose="020B0604020202020204" pitchFamily="34" charset="0"/>
              </a:rPr>
              <a:t>?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3) </a:t>
            </a:r>
            <a:r>
              <a:rPr lang="ko-KR" altLang="en-US" sz="1800">
                <a:latin typeface="Microsoft Sans Serif" panose="020B0604020202020204" pitchFamily="34" charset="0"/>
              </a:rPr>
              <a:t>입증 자료를 보유하는가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ko-KR" altLang="en-US" sz="1800">
                <a:latin typeface="Microsoft Sans Serif" panose="020B0604020202020204" pitchFamily="34" charset="0"/>
              </a:rPr>
              <a:t>해당 프로세스를 적절히 수행하는가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1) </a:t>
            </a:r>
            <a:r>
              <a:rPr lang="ko-KR" altLang="en-US" sz="1800">
                <a:latin typeface="Microsoft Sans Serif" panose="020B0604020202020204" pitchFamily="34" charset="0"/>
              </a:rPr>
              <a:t>산출물</a:t>
            </a:r>
            <a:r>
              <a:rPr lang="en-US" altLang="ko-KR" sz="1800">
                <a:latin typeface="Microsoft Sans Serif" panose="020B0604020202020204" pitchFamily="34" charset="0"/>
              </a:rPr>
              <a:t>: </a:t>
            </a:r>
            <a:r>
              <a:rPr lang="ko-KR" altLang="en-US" sz="1800">
                <a:latin typeface="Microsoft Sans Serif" panose="020B0604020202020204" pitchFamily="34" charset="0"/>
              </a:rPr>
              <a:t>목록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관리</a:t>
            </a:r>
            <a:r>
              <a:rPr lang="en-US" altLang="ko-KR" sz="1800">
                <a:latin typeface="Microsoft Sans Serif" panose="020B0604020202020204" pitchFamily="34" charset="0"/>
              </a:rPr>
              <a:t>/</a:t>
            </a:r>
            <a:r>
              <a:rPr lang="ko-KR" altLang="en-US" sz="1800">
                <a:latin typeface="Microsoft Sans Serif" panose="020B0604020202020204" pitchFamily="34" charset="0"/>
              </a:rPr>
              <a:t>등록대장</a:t>
            </a:r>
            <a:r>
              <a:rPr lang="en-US" altLang="ko-KR" sz="1800">
                <a:latin typeface="Microsoft Sans Serif" panose="020B0604020202020204" pitchFamily="34" charset="0"/>
              </a:rPr>
              <a:t>, D/B, </a:t>
            </a:r>
            <a:r>
              <a:rPr lang="ko-KR" altLang="en-US" sz="1800">
                <a:latin typeface="Microsoft Sans Serif" panose="020B0604020202020204" pitchFamily="34" charset="0"/>
              </a:rPr>
              <a:t>달성 계획서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개발 계획서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관련 계획서 등등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2) </a:t>
            </a:r>
            <a:r>
              <a:rPr lang="ko-KR" altLang="en-US" sz="1800">
                <a:latin typeface="Microsoft Sans Serif" panose="020B0604020202020204" pitchFamily="34" charset="0"/>
              </a:rPr>
              <a:t>입증 할 수 있는 근거</a:t>
            </a:r>
            <a:r>
              <a:rPr lang="en-US" altLang="ko-KR" sz="1800">
                <a:latin typeface="Microsoft Sans Serif" panose="020B0604020202020204" pitchFamily="34" charset="0"/>
              </a:rPr>
              <a:t>: </a:t>
            </a:r>
            <a:r>
              <a:rPr lang="ko-KR" altLang="en-US" sz="1800">
                <a:latin typeface="Microsoft Sans Serif" panose="020B0604020202020204" pitchFamily="34" charset="0"/>
              </a:rPr>
              <a:t> 관련 기록서</a:t>
            </a:r>
            <a:endParaRPr lang="en-US" altLang="ko-KR" sz="1800">
              <a:latin typeface="Microsoft Sans Serif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ko-KR" altLang="en-US" sz="1800">
                <a:latin typeface="Microsoft Sans Serif" panose="020B0604020202020204" pitchFamily="34" charset="0"/>
              </a:rPr>
              <a:t>해당 프로세스가 변경을 식별하는가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1) </a:t>
            </a:r>
            <a:r>
              <a:rPr lang="ko-KR" altLang="en-US" sz="1800">
                <a:latin typeface="Microsoft Sans Serif" panose="020B0604020202020204" pitchFamily="34" charset="0"/>
              </a:rPr>
              <a:t>적절 양식으로 관리하는가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2) </a:t>
            </a:r>
            <a:r>
              <a:rPr lang="ko-KR" altLang="en-US" sz="1800">
                <a:latin typeface="Microsoft Sans Serif" panose="020B0604020202020204" pitchFamily="34" charset="0"/>
              </a:rPr>
              <a:t>담당자 </a:t>
            </a:r>
            <a:r>
              <a:rPr lang="en-US" altLang="ko-KR" sz="1800">
                <a:latin typeface="Microsoft Sans Serif" panose="020B0604020202020204" pitchFamily="34" charset="0"/>
              </a:rPr>
              <a:t>(</a:t>
            </a:r>
            <a:r>
              <a:rPr lang="ko-KR" altLang="en-US" sz="1800">
                <a:latin typeface="Microsoft Sans Serif" panose="020B0604020202020204" pitchFamily="34" charset="0"/>
              </a:rPr>
              <a:t>인터뷰</a:t>
            </a:r>
            <a:r>
              <a:rPr lang="en-US" altLang="ko-KR" sz="1800">
                <a:latin typeface="Microsoft Sans Serif" panose="020B0604020202020204" pitchFamily="34" charset="0"/>
              </a:rPr>
              <a:t>) </a:t>
            </a:r>
            <a:r>
              <a:rPr lang="ko-KR" altLang="en-US" sz="1800">
                <a:latin typeface="Microsoft Sans Serif" panose="020B0604020202020204" pitchFamily="34" charset="0"/>
              </a:rPr>
              <a:t>인식하는가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r>
              <a:rPr lang="ko-KR" altLang="en-US" sz="1800">
                <a:latin typeface="Microsoft Sans Serif" panose="020B0604020202020204" pitchFamily="34" charset="0"/>
              </a:rPr>
              <a:t> </a:t>
            </a:r>
            <a:br>
              <a:rPr lang="ko-KR" altLang="en-US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3) </a:t>
            </a:r>
            <a:r>
              <a:rPr lang="ko-KR" altLang="en-US" sz="1800">
                <a:latin typeface="Microsoft Sans Serif" panose="020B0604020202020204" pitchFamily="34" charset="0"/>
              </a:rPr>
              <a:t>변경사항 반영되었는가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ko-KR" altLang="en-US" sz="1800">
                <a:latin typeface="Microsoft Sans Serif" panose="020B0604020202020204" pitchFamily="34" charset="0"/>
              </a:rPr>
              <a:t>노출된 문제를 시정조치하는가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1) </a:t>
            </a:r>
            <a:r>
              <a:rPr lang="ko-KR" altLang="en-US" sz="1800">
                <a:latin typeface="Microsoft Sans Serif" panose="020B0604020202020204" pitchFamily="34" charset="0"/>
              </a:rPr>
              <a:t>감사 지적사항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고객 불만족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내부 심사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경영 검토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r>
              <a:rPr lang="ko-KR" altLang="en-US" sz="1800">
                <a:latin typeface="Microsoft Sans Serif" panose="020B0604020202020204" pitchFamily="34" charset="0"/>
              </a:rPr>
              <a:t>내부 결함서</a:t>
            </a:r>
            <a:r>
              <a:rPr lang="en-US" altLang="ko-KR" sz="1800">
                <a:latin typeface="Microsoft Sans Serif" panose="020B0604020202020204" pitchFamily="34" charset="0"/>
              </a:rPr>
              <a:t>, </a:t>
            </a:r>
            <a:br>
              <a:rPr lang="ko-KR" altLang="en-US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2) </a:t>
            </a:r>
            <a:r>
              <a:rPr lang="ko-KR" altLang="en-US" sz="1800">
                <a:latin typeface="Microsoft Sans Serif" panose="020B0604020202020204" pitchFamily="34" charset="0"/>
              </a:rPr>
              <a:t>노출시 적절한 프로세스에 따라 공유 및 조치하는가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  <a:br>
              <a:rPr lang="en-US" altLang="ko-KR" sz="1800">
                <a:latin typeface="Microsoft Sans Serif" panose="020B0604020202020204" pitchFamily="34" charset="0"/>
              </a:rPr>
            </a:br>
            <a:r>
              <a:rPr lang="en-US" altLang="ko-KR" sz="1800">
                <a:latin typeface="Microsoft Sans Serif" panose="020B0604020202020204" pitchFamily="34" charset="0"/>
              </a:rPr>
              <a:t>3) </a:t>
            </a:r>
            <a:r>
              <a:rPr lang="ko-KR" altLang="en-US" sz="1800">
                <a:latin typeface="Microsoft Sans Serif" panose="020B0604020202020204" pitchFamily="34" charset="0"/>
              </a:rPr>
              <a:t>관련 수행 근거 자료를 관리하는가</a:t>
            </a:r>
            <a:r>
              <a:rPr lang="en-US" altLang="ko-KR" sz="1800">
                <a:latin typeface="Microsoft Sans Serif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1532543D-8B2C-1F77-CBE3-ACADB06DB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018DC666-8D39-BA0F-BB70-35F1BC7A2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8445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90E063C-B9A8-BCF1-6DC7-CE8F13F8D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38CD0F-5ECB-4F6D-7860-1A1F5C835AC0}"/>
              </a:ext>
            </a:extLst>
          </p:cNvPr>
          <p:cNvSpPr/>
          <p:nvPr/>
        </p:nvSpPr>
        <p:spPr>
          <a:xfrm>
            <a:off x="0" y="17463"/>
            <a:ext cx="958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4342" name="TextBox 4">
            <a:extLst>
              <a:ext uri="{FF2B5EF4-FFF2-40B4-BE49-F238E27FC236}">
                <a16:creationId xmlns:a16="http://schemas.microsoft.com/office/drawing/2014/main" id="{94D4FD09-518E-ABD5-E73E-16128DA5C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78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ko-KR" sz="18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EE14F8F-AD11-D1DE-B746-B0E808620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98563"/>
            <a:ext cx="8128000" cy="1123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ko-KR" altLang="en-US" sz="4000" dirty="0">
                <a:latin typeface="Microsoft Sans Serif" panose="020B0604020202020204" pitchFamily="34" charset="0"/>
              </a:rPr>
              <a:t>질 문 </a:t>
            </a:r>
            <a:r>
              <a:rPr lang="en-US" altLang="ko-KR" sz="4000" dirty="0">
                <a:latin typeface="Microsoft Sans Serif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53DB6347-77AB-6563-014B-FAD121385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51D972D6-3DAF-0DE2-AE28-FDEE1DE37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7905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A3CB469-7028-FA81-13A8-DBBFFF3BC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91E8E45-DD64-D915-2FC3-9FF83CDD1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3188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B8E4DAFE-2C4B-56A1-72A8-01BEF3848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6488113"/>
            <a:ext cx="79057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</a:t>
            </a:r>
            <a:endParaRPr lang="en-US" altLang="ko-KR" sz="1600">
              <a:solidFill>
                <a:srgbClr val="FF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BC5032-B68E-225C-02A8-BA84D8866EB7}"/>
              </a:ext>
            </a:extLst>
          </p:cNvPr>
          <p:cNvSpPr/>
          <p:nvPr/>
        </p:nvSpPr>
        <p:spPr>
          <a:xfrm>
            <a:off x="0" y="17463"/>
            <a:ext cx="728663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끝</a:t>
            </a:r>
          </a:p>
        </p:txBody>
      </p:sp>
      <p:sp>
        <p:nvSpPr>
          <p:cNvPr id="14342" name="TextBox 4">
            <a:extLst>
              <a:ext uri="{FF2B5EF4-FFF2-40B4-BE49-F238E27FC236}">
                <a16:creationId xmlns:a16="http://schemas.microsoft.com/office/drawing/2014/main" id="{893197AF-9E26-A35A-C50B-DDC33377B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78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ko-KR" sz="18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3EAD371-104B-9F39-3E22-CD05C2AC2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98563"/>
            <a:ext cx="8128000" cy="1123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ko-KR" altLang="en-US" sz="4000" dirty="0">
                <a:latin typeface="Microsoft Sans Serif" panose="020B0604020202020204" pitchFamily="34" charset="0"/>
              </a:rPr>
              <a:t>감사합니다</a:t>
            </a:r>
            <a:r>
              <a:rPr lang="en-US" altLang="ko-KR" sz="40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Blank Presentation">
      <a:majorFont>
        <a:latin typeface="Nokia Sans SemiBold"/>
        <a:ea typeface=""/>
        <a:cs typeface=""/>
      </a:majorFont>
      <a:minorFont>
        <a:latin typeface="Rotis Sans Serif for Nok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30342</TotalTime>
  <Words>1652</Words>
  <Application>Microsoft Office PowerPoint</Application>
  <PresentationFormat>화면 슬라이드 쇼(4:3)</PresentationFormat>
  <Paragraphs>308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31" baseType="lpstr">
      <vt:lpstr>Microsoft Sans Serif</vt:lpstr>
      <vt:lpstr>굴림</vt:lpstr>
      <vt:lpstr>Arial</vt:lpstr>
      <vt:lpstr>Nokia Sans SemiBold</vt:lpstr>
      <vt:lpstr>Rotis Sans Serif for Nokia</vt:lpstr>
      <vt:lpstr>Times New Roman</vt:lpstr>
      <vt:lpstr>맑은 고딕</vt:lpstr>
      <vt:lpstr>HCI Poppy</vt:lpstr>
      <vt:lpstr>휴먼명조</vt:lpstr>
      <vt:lpstr>KoddiUD 온고딕 Bold</vt:lpstr>
      <vt:lpstr>Wingdings</vt:lpstr>
      <vt:lpstr>함초롬돋움</vt:lpstr>
      <vt:lpstr>Blank Presentation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GA4</dc:creator>
  <cp:lastModifiedBy>임재홍</cp:lastModifiedBy>
  <cp:revision>544</cp:revision>
  <dcterms:created xsi:type="dcterms:W3CDTF">2010-07-07T06:05:20Z</dcterms:created>
  <dcterms:modified xsi:type="dcterms:W3CDTF">2026-04-18T06:56:18Z</dcterms:modified>
</cp:coreProperties>
</file>