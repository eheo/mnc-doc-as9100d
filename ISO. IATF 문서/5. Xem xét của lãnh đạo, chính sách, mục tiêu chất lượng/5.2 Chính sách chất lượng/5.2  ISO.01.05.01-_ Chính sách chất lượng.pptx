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68" r:id="rId2"/>
    <p:sldId id="269" r:id="rId3"/>
    <p:sldId id="270" r:id="rId4"/>
    <p:sldId id="271" r:id="rId5"/>
  </p:sldIdLst>
  <p:sldSz cx="9906000" cy="6858000" type="A4"/>
  <p:notesSz cx="9601200" cy="7315200"/>
  <p:defaultTextStyle>
    <a:defPPr>
      <a:defRPr lang="ko-KR"/>
    </a:defPPr>
    <a:lvl1pPr marL="0" algn="l" defTabSz="957816" rtl="0" eaLnBrk="1" latinLnBrk="1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78908" algn="l" defTabSz="957816" rtl="0" eaLnBrk="1" latinLnBrk="1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57816" algn="l" defTabSz="957816" rtl="0" eaLnBrk="1" latinLnBrk="1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436724" algn="l" defTabSz="957816" rtl="0" eaLnBrk="1" latinLnBrk="1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915631" algn="l" defTabSz="957816" rtl="0" eaLnBrk="1" latinLnBrk="1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394539" algn="l" defTabSz="957816" rtl="0" eaLnBrk="1" latinLnBrk="1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873447" algn="l" defTabSz="957816" rtl="0" eaLnBrk="1" latinLnBrk="1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352355" algn="l" defTabSz="957816" rtl="0" eaLnBrk="1" latinLnBrk="1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831263" algn="l" defTabSz="957816" rtl="0" eaLnBrk="1" latinLnBrk="1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0" d="100"/>
          <a:sy n="120" d="100"/>
        </p:scale>
        <p:origin x="1056" y="102"/>
      </p:cViewPr>
      <p:guideLst>
        <p:guide orient="horz" pos="2160"/>
        <p:guide pos="31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160521" cy="365760"/>
          </a:xfrm>
          <a:prstGeom prst="rect">
            <a:avLst/>
          </a:prstGeom>
        </p:spPr>
        <p:txBody>
          <a:bodyPr vert="horz" lIns="91922" tIns="45961" rIns="91922" bIns="45961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438459" y="0"/>
            <a:ext cx="4160521" cy="365760"/>
          </a:xfrm>
          <a:prstGeom prst="rect">
            <a:avLst/>
          </a:prstGeom>
        </p:spPr>
        <p:txBody>
          <a:bodyPr vert="horz" lIns="91922" tIns="45961" rIns="91922" bIns="45961" rtlCol="0"/>
          <a:lstStyle>
            <a:lvl1pPr algn="r">
              <a:defRPr sz="1200"/>
            </a:lvl1pPr>
          </a:lstStyle>
          <a:p>
            <a:fld id="{B9EAE0C4-9A75-4B77-85C7-56C642106A8D}" type="datetimeFigureOut">
              <a:rPr lang="ko-KR" altLang="en-US" smtClean="0"/>
              <a:t>2025-04-26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820988" y="549275"/>
            <a:ext cx="3959225" cy="27416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922" tIns="45961" rIns="91922" bIns="45961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60120" y="3474720"/>
            <a:ext cx="7680960" cy="3291840"/>
          </a:xfrm>
          <a:prstGeom prst="rect">
            <a:avLst/>
          </a:prstGeom>
        </p:spPr>
        <p:txBody>
          <a:bodyPr vert="horz" lIns="91922" tIns="45961" rIns="91922" bIns="45961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6948171"/>
            <a:ext cx="4160521" cy="365760"/>
          </a:xfrm>
          <a:prstGeom prst="rect">
            <a:avLst/>
          </a:prstGeom>
        </p:spPr>
        <p:txBody>
          <a:bodyPr vert="horz" lIns="91922" tIns="45961" rIns="91922" bIns="45961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438459" y="6948171"/>
            <a:ext cx="4160521" cy="365760"/>
          </a:xfrm>
          <a:prstGeom prst="rect">
            <a:avLst/>
          </a:prstGeom>
        </p:spPr>
        <p:txBody>
          <a:bodyPr vert="horz" lIns="91922" tIns="45961" rIns="91922" bIns="45961" rtlCol="0" anchor="b"/>
          <a:lstStyle>
            <a:lvl1pPr algn="r">
              <a:defRPr sz="1200"/>
            </a:lvl1pPr>
          </a:lstStyle>
          <a:p>
            <a:fld id="{EC613D62-C61F-4BA0-B071-D481BB06E7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4025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57816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1pPr>
    <a:lvl2pPr marL="478908" algn="l" defTabSz="957816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2pPr>
    <a:lvl3pPr marL="957816" algn="l" defTabSz="957816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3pPr>
    <a:lvl4pPr marL="1436724" algn="l" defTabSz="957816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4pPr>
    <a:lvl5pPr marL="1915631" algn="l" defTabSz="957816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5pPr>
    <a:lvl6pPr marL="2394539" algn="l" defTabSz="957816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873447" algn="l" defTabSz="957816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352355" algn="l" defTabSz="957816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831263" algn="l" defTabSz="957816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820988" y="549275"/>
            <a:ext cx="3959225" cy="27416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13D62-C61F-4BA0-B071-D481BB06E70A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5535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820988" y="549275"/>
            <a:ext cx="3959225" cy="27416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13D62-C61F-4BA0-B071-D481BB06E70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2428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820988" y="549275"/>
            <a:ext cx="3959225" cy="27416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13D62-C61F-4BA0-B071-D481BB06E70A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37622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820988" y="549275"/>
            <a:ext cx="3959225" cy="27416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13D62-C61F-4BA0-B071-D481BB06E70A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2153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789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578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367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156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3945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734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523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312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FC8FE-93B3-4A65-9EE8-BEF566C6508F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FC8FE-93B3-4A65-9EE8-BEF566C6508F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2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4"/>
            <a:ext cx="8420100" cy="1500187"/>
          </a:xfrm>
        </p:spPr>
        <p:txBody>
          <a:bodyPr anchor="b"/>
          <a:lstStyle>
            <a:lvl1pPr marL="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1pPr>
            <a:lvl2pPr marL="478908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2pPr>
            <a:lvl3pPr marL="95781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436724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1915631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39453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287344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352355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3831263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FC8FE-93B3-4A65-9EE8-BEF566C6508F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</p:spPr>
        <p:txBody>
          <a:bodyPr/>
          <a:lstStyle>
            <a:lvl1pPr>
              <a:defRPr sz="2900"/>
            </a:lvl1pPr>
            <a:lvl2pPr>
              <a:defRPr sz="2500"/>
            </a:lvl2pPr>
            <a:lvl3pPr>
              <a:defRPr sz="21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</p:spPr>
        <p:txBody>
          <a:bodyPr/>
          <a:lstStyle>
            <a:lvl1pPr>
              <a:defRPr sz="2900"/>
            </a:lvl1pPr>
            <a:lvl2pPr>
              <a:defRPr sz="2500"/>
            </a:lvl2pPr>
            <a:lvl3pPr>
              <a:defRPr sz="21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FC8FE-93B3-4A65-9EE8-BEF566C6508F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500" b="1"/>
            </a:lvl1pPr>
            <a:lvl2pPr marL="478908" indent="0">
              <a:buNone/>
              <a:defRPr sz="2100" b="1"/>
            </a:lvl2pPr>
            <a:lvl3pPr marL="957816" indent="0">
              <a:buNone/>
              <a:defRPr sz="1900" b="1"/>
            </a:lvl3pPr>
            <a:lvl4pPr marL="1436724" indent="0">
              <a:buNone/>
              <a:defRPr sz="1600" b="1"/>
            </a:lvl4pPr>
            <a:lvl5pPr marL="1915631" indent="0">
              <a:buNone/>
              <a:defRPr sz="1600" b="1"/>
            </a:lvl5pPr>
            <a:lvl6pPr marL="2394539" indent="0">
              <a:buNone/>
              <a:defRPr sz="1600" b="1"/>
            </a:lvl6pPr>
            <a:lvl7pPr marL="2873447" indent="0">
              <a:buNone/>
              <a:defRPr sz="1600" b="1"/>
            </a:lvl7pPr>
            <a:lvl8pPr marL="3352355" indent="0">
              <a:buNone/>
              <a:defRPr sz="1600" b="1"/>
            </a:lvl8pPr>
            <a:lvl9pPr marL="3831263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500"/>
            </a:lvl1pPr>
            <a:lvl2pPr>
              <a:defRPr sz="2100"/>
            </a:lvl2pPr>
            <a:lvl3pPr>
              <a:defRPr sz="19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500" b="1"/>
            </a:lvl1pPr>
            <a:lvl2pPr marL="478908" indent="0">
              <a:buNone/>
              <a:defRPr sz="2100" b="1"/>
            </a:lvl2pPr>
            <a:lvl3pPr marL="957816" indent="0">
              <a:buNone/>
              <a:defRPr sz="1900" b="1"/>
            </a:lvl3pPr>
            <a:lvl4pPr marL="1436724" indent="0">
              <a:buNone/>
              <a:defRPr sz="1600" b="1"/>
            </a:lvl4pPr>
            <a:lvl5pPr marL="1915631" indent="0">
              <a:buNone/>
              <a:defRPr sz="1600" b="1"/>
            </a:lvl5pPr>
            <a:lvl6pPr marL="2394539" indent="0">
              <a:buNone/>
              <a:defRPr sz="1600" b="1"/>
            </a:lvl6pPr>
            <a:lvl7pPr marL="2873447" indent="0">
              <a:buNone/>
              <a:defRPr sz="1600" b="1"/>
            </a:lvl7pPr>
            <a:lvl8pPr marL="3352355" indent="0">
              <a:buNone/>
              <a:defRPr sz="1600" b="1"/>
            </a:lvl8pPr>
            <a:lvl9pPr marL="3831263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500"/>
            </a:lvl1pPr>
            <a:lvl2pPr>
              <a:defRPr sz="2100"/>
            </a:lvl2pPr>
            <a:lvl3pPr>
              <a:defRPr sz="19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FC8FE-93B3-4A65-9EE8-BEF566C6508F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FC8FE-93B3-4A65-9EE8-BEF566C6508F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FC8FE-93B3-4A65-9EE8-BEF566C6508F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1" y="273050"/>
            <a:ext cx="3259006" cy="1162050"/>
          </a:xfrm>
        </p:spPr>
        <p:txBody>
          <a:bodyPr anchor="b"/>
          <a:lstStyle>
            <a:lvl1pPr algn="l">
              <a:defRPr sz="21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400"/>
            </a:lvl1pPr>
            <a:lvl2pPr>
              <a:defRPr sz="2900"/>
            </a:lvl2pPr>
            <a:lvl3pPr>
              <a:defRPr sz="25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1" y="1435101"/>
            <a:ext cx="3259006" cy="4691063"/>
          </a:xfrm>
        </p:spPr>
        <p:txBody>
          <a:bodyPr/>
          <a:lstStyle>
            <a:lvl1pPr marL="0" indent="0">
              <a:buNone/>
              <a:defRPr sz="1500"/>
            </a:lvl1pPr>
            <a:lvl2pPr marL="478908" indent="0">
              <a:buNone/>
              <a:defRPr sz="1300"/>
            </a:lvl2pPr>
            <a:lvl3pPr marL="957816" indent="0">
              <a:buNone/>
              <a:defRPr sz="1000"/>
            </a:lvl3pPr>
            <a:lvl4pPr marL="1436724" indent="0">
              <a:buNone/>
              <a:defRPr sz="1000"/>
            </a:lvl4pPr>
            <a:lvl5pPr marL="1915631" indent="0">
              <a:buNone/>
              <a:defRPr sz="1000"/>
            </a:lvl5pPr>
            <a:lvl6pPr marL="2394539" indent="0">
              <a:buNone/>
              <a:defRPr sz="1000"/>
            </a:lvl6pPr>
            <a:lvl7pPr marL="2873447" indent="0">
              <a:buNone/>
              <a:defRPr sz="1000"/>
            </a:lvl7pPr>
            <a:lvl8pPr marL="3352355" indent="0">
              <a:buNone/>
              <a:defRPr sz="1000"/>
            </a:lvl8pPr>
            <a:lvl9pPr marL="3831263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FC8FE-93B3-4A65-9EE8-BEF566C6508F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1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400"/>
            </a:lvl1pPr>
            <a:lvl2pPr marL="478908" indent="0">
              <a:buNone/>
              <a:defRPr sz="2900"/>
            </a:lvl2pPr>
            <a:lvl3pPr marL="957816" indent="0">
              <a:buNone/>
              <a:defRPr sz="2500"/>
            </a:lvl3pPr>
            <a:lvl4pPr marL="1436724" indent="0">
              <a:buNone/>
              <a:defRPr sz="2100"/>
            </a:lvl4pPr>
            <a:lvl5pPr marL="1915631" indent="0">
              <a:buNone/>
              <a:defRPr sz="2100"/>
            </a:lvl5pPr>
            <a:lvl6pPr marL="2394539" indent="0">
              <a:buNone/>
              <a:defRPr sz="2100"/>
            </a:lvl6pPr>
            <a:lvl7pPr marL="2873447" indent="0">
              <a:buNone/>
              <a:defRPr sz="2100"/>
            </a:lvl7pPr>
            <a:lvl8pPr marL="3352355" indent="0">
              <a:buNone/>
              <a:defRPr sz="2100"/>
            </a:lvl8pPr>
            <a:lvl9pPr marL="3831263" indent="0">
              <a:buNone/>
              <a:defRPr sz="21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500"/>
            </a:lvl1pPr>
            <a:lvl2pPr marL="478908" indent="0">
              <a:buNone/>
              <a:defRPr sz="1300"/>
            </a:lvl2pPr>
            <a:lvl3pPr marL="957816" indent="0">
              <a:buNone/>
              <a:defRPr sz="1000"/>
            </a:lvl3pPr>
            <a:lvl4pPr marL="1436724" indent="0">
              <a:buNone/>
              <a:defRPr sz="1000"/>
            </a:lvl4pPr>
            <a:lvl5pPr marL="1915631" indent="0">
              <a:buNone/>
              <a:defRPr sz="1000"/>
            </a:lvl5pPr>
            <a:lvl6pPr marL="2394539" indent="0">
              <a:buNone/>
              <a:defRPr sz="1000"/>
            </a:lvl6pPr>
            <a:lvl7pPr marL="2873447" indent="0">
              <a:buNone/>
              <a:defRPr sz="1000"/>
            </a:lvl7pPr>
            <a:lvl8pPr marL="3352355" indent="0">
              <a:buNone/>
              <a:defRPr sz="1000"/>
            </a:lvl8pPr>
            <a:lvl9pPr marL="3831263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FC8FE-93B3-4A65-9EE8-BEF566C6508F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FC8FE-93B3-4A65-9EE8-BEF566C6508F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FC8FE-93B3-4A65-9EE8-BEF566C6508F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2752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5782" tIns="47891" rIns="95782" bIns="47891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horz" lIns="95782" tIns="47891" rIns="95782" bIns="47891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5782" tIns="47891" rIns="95782" bIns="47891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5782" tIns="47891" rIns="95782" bIns="47891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 vert="horz" lIns="95782" tIns="47891" rIns="95782" bIns="47891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CFC8FE-93B3-4A65-9EE8-BEF566C6508F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defTabSz="957816" rtl="0" eaLnBrk="1" latinLnBrk="1" hangingPunct="1">
        <a:spcBef>
          <a:spcPct val="0"/>
        </a:spcBef>
        <a:buNone/>
        <a:defRPr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9181" indent="-359181" algn="l" defTabSz="957816" rtl="0" eaLnBrk="1" latinLnBrk="1" hangingPunct="1">
        <a:spcBef>
          <a:spcPct val="20000"/>
        </a:spcBef>
        <a:buFont typeface="Arial" pitchFamily="34" charset="0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1pPr>
      <a:lvl2pPr marL="778225" indent="-299317" algn="l" defTabSz="957816" rtl="0" eaLnBrk="1" latinLnBrk="1" hangingPunct="1">
        <a:spcBef>
          <a:spcPct val="20000"/>
        </a:spcBef>
        <a:buFont typeface="Arial" pitchFamily="34" charset="0"/>
        <a:buChar char="–"/>
        <a:defRPr sz="2900" kern="1200">
          <a:solidFill>
            <a:schemeClr val="tx1"/>
          </a:solidFill>
          <a:latin typeface="+mn-lt"/>
          <a:ea typeface="+mn-ea"/>
          <a:cs typeface="+mn-cs"/>
        </a:defRPr>
      </a:lvl2pPr>
      <a:lvl3pPr marL="1197270" indent="-239454" algn="l" defTabSz="957816" rtl="0" eaLnBrk="1" latinLnBrk="1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3pPr>
      <a:lvl4pPr marL="1676177" indent="-239454" algn="l" defTabSz="957816" rtl="0" eaLnBrk="1" latinLnBrk="1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55085" indent="-239454" algn="l" defTabSz="957816" rtl="0" eaLnBrk="1" latinLnBrk="1" hangingPunct="1">
        <a:spcBef>
          <a:spcPct val="20000"/>
        </a:spcBef>
        <a:buFont typeface="Arial" pitchFamily="34" charset="0"/>
        <a:buChar char="»"/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33993" indent="-239454" algn="l" defTabSz="957816" rtl="0" eaLnBrk="1" latinLnBrk="1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12901" indent="-239454" algn="l" defTabSz="957816" rtl="0" eaLnBrk="1" latinLnBrk="1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591809" indent="-239454" algn="l" defTabSz="957816" rtl="0" eaLnBrk="1" latinLnBrk="1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070717" indent="-239454" algn="l" defTabSz="957816" rtl="0" eaLnBrk="1" latinLnBrk="1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57816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78908" algn="l" defTabSz="957816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57816" algn="l" defTabSz="957816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36724" algn="l" defTabSz="957816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15631" algn="l" defTabSz="957816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94539" algn="l" defTabSz="957816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73447" algn="l" defTabSz="957816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52355" algn="l" defTabSz="957816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31263" algn="l" defTabSz="957816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Administrator\AppData\Local\Microsoft\Windows\Temporary Internet Files\Temporary Compressed Files\down\M&amp;C-Logo(최종)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475" y="157648"/>
            <a:ext cx="1788196" cy="751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4016896" y="116632"/>
            <a:ext cx="5226580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782" tIns="47891" rIns="95782" bIns="47891"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ISO.01.05.01 </a:t>
            </a:r>
            <a:r>
              <a:rPr lang="en-US" dirty="0">
                <a:solidFill>
                  <a:schemeClr val="tx1"/>
                </a:solidFill>
              </a:rPr>
              <a:t>. </a:t>
            </a:r>
            <a:r>
              <a:rPr lang="en-US" dirty="0" err="1">
                <a:solidFill>
                  <a:schemeClr val="tx1"/>
                </a:solidFill>
              </a:rPr>
              <a:t>Ngày</a:t>
            </a:r>
            <a:r>
              <a:rPr lang="en-US" dirty="0">
                <a:solidFill>
                  <a:schemeClr val="tx1"/>
                </a:solidFill>
              </a:rPr>
              <a:t> ban </a:t>
            </a:r>
            <a:r>
              <a:rPr lang="en-US" dirty="0" err="1">
                <a:solidFill>
                  <a:schemeClr val="tx1"/>
                </a:solidFill>
              </a:rPr>
              <a:t>hành</a:t>
            </a:r>
            <a:r>
              <a:rPr lang="en-US" dirty="0">
                <a:solidFill>
                  <a:schemeClr val="tx1"/>
                </a:solidFill>
              </a:rPr>
              <a:t> : </a:t>
            </a:r>
            <a:r>
              <a:rPr lang="en-US" dirty="0" smtClean="0">
                <a:solidFill>
                  <a:schemeClr val="tx1"/>
                </a:solidFill>
              </a:rPr>
              <a:t>03/01/2022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Down Ribbon 2"/>
          <p:cNvSpPr/>
          <p:nvPr/>
        </p:nvSpPr>
        <p:spPr>
          <a:xfrm>
            <a:off x="428498" y="764705"/>
            <a:ext cx="9127014" cy="792088"/>
          </a:xfrm>
          <a:prstGeom prst="ribbon">
            <a:avLst>
              <a:gd name="adj1" fmla="val 16667"/>
              <a:gd name="adj2" fmla="val 71758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5782" tIns="47891" rIns="95782" bIns="47891" rtlCol="0" anchor="ctr"/>
          <a:lstStyle/>
          <a:p>
            <a:pPr algn="ctr"/>
            <a:r>
              <a:rPr lang="en-US" sz="3100" b="1">
                <a:latin typeface="Times New Roman" pitchFamily="18" charset="0"/>
                <a:cs typeface="Times New Roman" pitchFamily="18" charset="0"/>
              </a:rPr>
              <a:t>CHÍNH SÁCH CHẤT LƯỢNG </a:t>
            </a:r>
          </a:p>
        </p:txBody>
      </p:sp>
      <p:sp>
        <p:nvSpPr>
          <p:cNvPr id="4" name="Rectangle 3"/>
          <p:cNvSpPr/>
          <p:nvPr/>
        </p:nvSpPr>
        <p:spPr>
          <a:xfrm>
            <a:off x="200475" y="1772816"/>
            <a:ext cx="9589063" cy="48965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782" tIns="47891" rIns="95782" bIns="47891" rtlCol="0" anchor="ctr"/>
          <a:lstStyle/>
          <a:p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Công ty TNHH M&amp;C ELECTRONICS 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VIỆT NAM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chúng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tôi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qua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việc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cung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cấp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sản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hẩm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tốt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nhất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nhằm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đáp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ứng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nhu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cầu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cũng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như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sự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mong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đợi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khách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hàng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không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ngừng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nỗ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lực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để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mang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đến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sự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hài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lòng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khách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hàng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với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tiêu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chí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chất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lượng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như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1.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Lấy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yêu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cầu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trường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yêu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cầu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khách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hàng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làm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phương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hướng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để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phấn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đấu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2.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Muốn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sinh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tồn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phải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không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ngừng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cải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tiến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chất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lượng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3.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Muốn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cạnh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tranh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phải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không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ngừng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sáng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tạo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hạ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thấp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giá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sz="21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1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4.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Tuân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thủ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yêu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cầu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Pháp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21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uật</a:t>
            </a:r>
            <a:r>
              <a:rPr lang="en-US" sz="21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vi-VN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ơ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sản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phẩm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đ</a:t>
            </a:r>
            <a:r>
              <a:rPr lang="vi-VN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ư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ợc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tiêu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thụ</a:t>
            </a:r>
            <a:r>
              <a:rPr lang="en-US" sz="21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sz="21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5</a:t>
            </a:r>
            <a:r>
              <a:rPr lang="en-US" sz="21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Khách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hàng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hài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lòng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mục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tiêu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cuối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cùng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chúng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tôi</a:t>
            </a:r>
            <a:r>
              <a:rPr lang="en-US" sz="21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sz="21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               </a:t>
            </a:r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Công ty TNHH M&amp;C ELECTRONICS VINA</a:t>
            </a:r>
          </a:p>
          <a:p>
            <a:endParaRPr lang="en-US" sz="21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1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1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/>
          <a:srcRect t="6191"/>
          <a:stretch/>
        </p:blipFill>
        <p:spPr>
          <a:xfrm>
            <a:off x="4953000" y="5621814"/>
            <a:ext cx="2232248" cy="930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974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Administrator\AppData\Local\Microsoft\Windows\Temporary Internet Files\Temporary Compressed Files\down\M&amp;C-Logo(최종)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475" y="157648"/>
            <a:ext cx="1788196" cy="751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4016896" y="116632"/>
            <a:ext cx="5226580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782" tIns="47891" rIns="95782" bIns="47891"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ISO.01.05.01 </a:t>
            </a:r>
            <a:r>
              <a:rPr lang="en-US" dirty="0">
                <a:solidFill>
                  <a:schemeClr val="tx1"/>
                </a:solidFill>
              </a:rPr>
              <a:t>. </a:t>
            </a:r>
            <a:r>
              <a:rPr lang="en-US" dirty="0" err="1">
                <a:solidFill>
                  <a:schemeClr val="tx1"/>
                </a:solidFill>
              </a:rPr>
              <a:t>Ngày</a:t>
            </a:r>
            <a:r>
              <a:rPr lang="en-US" dirty="0">
                <a:solidFill>
                  <a:schemeClr val="tx1"/>
                </a:solidFill>
              </a:rPr>
              <a:t> ban </a:t>
            </a:r>
            <a:r>
              <a:rPr lang="en-US" dirty="0" err="1">
                <a:solidFill>
                  <a:schemeClr val="tx1"/>
                </a:solidFill>
              </a:rPr>
              <a:t>hành</a:t>
            </a:r>
            <a:r>
              <a:rPr lang="en-US" dirty="0">
                <a:solidFill>
                  <a:schemeClr val="tx1"/>
                </a:solidFill>
              </a:rPr>
              <a:t> : </a:t>
            </a:r>
            <a:r>
              <a:rPr lang="en-US" dirty="0" smtClean="0">
                <a:solidFill>
                  <a:schemeClr val="tx1"/>
                </a:solidFill>
              </a:rPr>
              <a:t>03/01/2023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Down Ribbon 2"/>
          <p:cNvSpPr/>
          <p:nvPr/>
        </p:nvSpPr>
        <p:spPr>
          <a:xfrm>
            <a:off x="428498" y="764705"/>
            <a:ext cx="9127014" cy="792088"/>
          </a:xfrm>
          <a:prstGeom prst="ribbon">
            <a:avLst>
              <a:gd name="adj1" fmla="val 16667"/>
              <a:gd name="adj2" fmla="val 71758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5782" tIns="47891" rIns="95782" bIns="47891" rtlCol="0" anchor="ctr"/>
          <a:lstStyle/>
          <a:p>
            <a:pPr algn="ctr"/>
            <a:r>
              <a:rPr lang="en-US" sz="3100" b="1">
                <a:latin typeface="Times New Roman" pitchFamily="18" charset="0"/>
                <a:cs typeface="Times New Roman" pitchFamily="18" charset="0"/>
              </a:rPr>
              <a:t>CHÍNH SÁCH CHẤT LƯỢNG </a:t>
            </a:r>
          </a:p>
        </p:txBody>
      </p:sp>
      <p:sp>
        <p:nvSpPr>
          <p:cNvPr id="4" name="Rectangle 3"/>
          <p:cNvSpPr/>
          <p:nvPr/>
        </p:nvSpPr>
        <p:spPr>
          <a:xfrm>
            <a:off x="200475" y="1772816"/>
            <a:ext cx="9589063" cy="48965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782" tIns="47891" rIns="95782" bIns="47891" rtlCol="0" anchor="ctr"/>
          <a:lstStyle/>
          <a:p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Công ty TNHH M&amp;C ELECTRONICS 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VIỆT NAM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chúng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tôi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qua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việc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cung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cấp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sản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hẩm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tốt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nhất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nhằm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đáp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ứng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nhu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cầu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cũng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như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sự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mong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đợi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khách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hàng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không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ngừng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nỗ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lực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để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mang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đến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sự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hài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lòng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khách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hàng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với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tiêu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chí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chất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lượng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như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1.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Lấy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yêu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cầu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trường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yêu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cầu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khách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hàng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làm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phương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hướng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để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phấn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đấu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2.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Muốn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sinh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tồn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phải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không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ngừng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cải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tiến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chất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lượng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3.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Muốn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cạnh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tranh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phải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không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ngừng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sáng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tạo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hạ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thấp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giá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sz="21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1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4.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Tuân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thủ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yêu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cầu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Pháp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21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uật</a:t>
            </a:r>
            <a:r>
              <a:rPr lang="en-US" sz="21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vi-VN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ơ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sản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phẩm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đ</a:t>
            </a:r>
            <a:r>
              <a:rPr lang="vi-VN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ư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ợc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tiêu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thụ</a:t>
            </a:r>
            <a:r>
              <a:rPr lang="en-US" sz="21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sz="21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5</a:t>
            </a:r>
            <a:r>
              <a:rPr lang="en-US" sz="21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Khách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hàng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hài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lòng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mục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tiêu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cuối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cùng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chúng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tôi</a:t>
            </a:r>
            <a:r>
              <a:rPr lang="en-US" sz="21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sz="21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               </a:t>
            </a:r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Công ty TNHH M&amp;C ELECTRONICS VINA</a:t>
            </a:r>
          </a:p>
          <a:p>
            <a:endParaRPr lang="en-US" sz="21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1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1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/>
          <a:srcRect t="6191"/>
          <a:stretch/>
        </p:blipFill>
        <p:spPr>
          <a:xfrm>
            <a:off x="4953000" y="5621814"/>
            <a:ext cx="2232248" cy="930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481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Administrator\AppData\Local\Microsoft\Windows\Temporary Internet Files\Temporary Compressed Files\down\M&amp;C-Logo(최종)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475" y="157648"/>
            <a:ext cx="1788196" cy="751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4016896" y="116632"/>
            <a:ext cx="5226580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782" tIns="47891" rIns="95782" bIns="47891"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ISO.01.05.01 </a:t>
            </a:r>
            <a:r>
              <a:rPr lang="en-US" dirty="0">
                <a:solidFill>
                  <a:schemeClr val="tx1"/>
                </a:solidFill>
              </a:rPr>
              <a:t>. </a:t>
            </a:r>
            <a:r>
              <a:rPr lang="en-US" dirty="0" err="1">
                <a:solidFill>
                  <a:schemeClr val="tx1"/>
                </a:solidFill>
              </a:rPr>
              <a:t>Ngày</a:t>
            </a:r>
            <a:r>
              <a:rPr lang="en-US" dirty="0">
                <a:solidFill>
                  <a:schemeClr val="tx1"/>
                </a:solidFill>
              </a:rPr>
              <a:t> ban </a:t>
            </a:r>
            <a:r>
              <a:rPr lang="en-US" dirty="0" err="1">
                <a:solidFill>
                  <a:schemeClr val="tx1"/>
                </a:solidFill>
              </a:rPr>
              <a:t>hành</a:t>
            </a:r>
            <a:r>
              <a:rPr lang="en-US" dirty="0">
                <a:solidFill>
                  <a:schemeClr val="tx1"/>
                </a:solidFill>
              </a:rPr>
              <a:t> : </a:t>
            </a:r>
            <a:r>
              <a:rPr lang="en-US" dirty="0" smtClean="0">
                <a:solidFill>
                  <a:schemeClr val="tx1"/>
                </a:solidFill>
              </a:rPr>
              <a:t>03/01/2024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Down Ribbon 2"/>
          <p:cNvSpPr/>
          <p:nvPr/>
        </p:nvSpPr>
        <p:spPr>
          <a:xfrm>
            <a:off x="428498" y="764705"/>
            <a:ext cx="9127014" cy="792088"/>
          </a:xfrm>
          <a:prstGeom prst="ribbon">
            <a:avLst>
              <a:gd name="adj1" fmla="val 16667"/>
              <a:gd name="adj2" fmla="val 71758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5782" tIns="47891" rIns="95782" bIns="47891" rtlCol="0" anchor="ctr"/>
          <a:lstStyle/>
          <a:p>
            <a:pPr algn="ctr"/>
            <a:r>
              <a:rPr lang="en-US" sz="3100" b="1">
                <a:latin typeface="Times New Roman" pitchFamily="18" charset="0"/>
                <a:cs typeface="Times New Roman" pitchFamily="18" charset="0"/>
              </a:rPr>
              <a:t>CHÍNH SÁCH CHẤT LƯỢNG </a:t>
            </a:r>
          </a:p>
        </p:txBody>
      </p:sp>
      <p:sp>
        <p:nvSpPr>
          <p:cNvPr id="4" name="Rectangle 3"/>
          <p:cNvSpPr/>
          <p:nvPr/>
        </p:nvSpPr>
        <p:spPr>
          <a:xfrm>
            <a:off x="200475" y="1772816"/>
            <a:ext cx="9589063" cy="48965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782" tIns="47891" rIns="95782" bIns="47891" rtlCol="0" anchor="ctr"/>
          <a:lstStyle/>
          <a:p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Công ty TNHH M&amp;C ELECTRONICS 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VIỆT NAM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chúng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tôi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qua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việc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cung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cấp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sản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hẩm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tốt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nhất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nhằm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đáp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ứng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nhu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cầu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cũng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như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sự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mong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đợi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khách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hàng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không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ngừng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nỗ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lực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để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mang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đến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sự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hài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lòng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khách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hàng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với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tiêu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chí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chất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lượng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như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1.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Lấy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yêu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cầu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trường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yêu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cầu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khách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hàng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làm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phương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hướng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để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phấn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đấu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2.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Muốn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sinh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tồn</a:t>
            </a:r>
            <a:r>
              <a:rPr lang="en-US" sz="21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phải</a:t>
            </a:r>
            <a:r>
              <a:rPr lang="en-US" sz="21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không</a:t>
            </a:r>
            <a:r>
              <a:rPr lang="en-US" sz="21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ngừng</a:t>
            </a:r>
            <a:r>
              <a:rPr lang="en-US" sz="21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cải</a:t>
            </a:r>
            <a:r>
              <a:rPr lang="en-US" sz="21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tiến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chất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lượng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3.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Muốn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cạnh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tranh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phải</a:t>
            </a:r>
            <a:r>
              <a:rPr lang="en-US" sz="21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không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ngừng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sáng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tạo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hạ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thấp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giá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sz="21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1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4.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Tuân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thủ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yêu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cầu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Pháp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21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uật</a:t>
            </a:r>
            <a:r>
              <a:rPr lang="en-US" sz="21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vi-VN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ơ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sản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phẩm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đ</a:t>
            </a:r>
            <a:r>
              <a:rPr lang="vi-VN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ư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ợc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tiêu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thụ</a:t>
            </a:r>
            <a:r>
              <a:rPr lang="en-US" sz="21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sz="21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5</a:t>
            </a:r>
            <a:r>
              <a:rPr lang="en-US" sz="21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Khách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hàng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hài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lòng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mục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tiêu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cuối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cùng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chúng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tôi</a:t>
            </a:r>
            <a:r>
              <a:rPr lang="en-US" sz="21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sz="21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               </a:t>
            </a:r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Công ty TNHH M&amp;C ELECTRONICS VINA</a:t>
            </a:r>
          </a:p>
          <a:p>
            <a:endParaRPr lang="en-US" sz="21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1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1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/>
          <a:srcRect t="6191"/>
          <a:stretch/>
        </p:blipFill>
        <p:spPr>
          <a:xfrm>
            <a:off x="4953000" y="5621814"/>
            <a:ext cx="2232248" cy="930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48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Administrator\AppData\Local\Microsoft\Windows\Temporary Internet Files\Temporary Compressed Files\down\M&amp;C-Logo(최종)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475" y="157648"/>
            <a:ext cx="1788196" cy="751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4016896" y="116632"/>
            <a:ext cx="5226580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782" tIns="47891" rIns="95782" bIns="47891"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ISO.01.05.01 </a:t>
            </a:r>
            <a:r>
              <a:rPr lang="en-US" dirty="0">
                <a:solidFill>
                  <a:schemeClr val="tx1"/>
                </a:solidFill>
              </a:rPr>
              <a:t>. </a:t>
            </a:r>
            <a:r>
              <a:rPr lang="en-US" dirty="0" err="1">
                <a:solidFill>
                  <a:schemeClr val="tx1"/>
                </a:solidFill>
              </a:rPr>
              <a:t>Ngày</a:t>
            </a:r>
            <a:r>
              <a:rPr lang="en-US" dirty="0">
                <a:solidFill>
                  <a:schemeClr val="tx1"/>
                </a:solidFill>
              </a:rPr>
              <a:t> ban </a:t>
            </a:r>
            <a:r>
              <a:rPr lang="en-US" dirty="0" err="1">
                <a:solidFill>
                  <a:schemeClr val="tx1"/>
                </a:solidFill>
              </a:rPr>
              <a:t>hành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</a:rPr>
              <a:t>: </a:t>
            </a:r>
            <a:r>
              <a:rPr lang="en-US" smtClean="0">
                <a:solidFill>
                  <a:schemeClr val="tx1"/>
                </a:solidFill>
              </a:rPr>
              <a:t>03/01/2025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Down Ribbon 2"/>
          <p:cNvSpPr/>
          <p:nvPr/>
        </p:nvSpPr>
        <p:spPr>
          <a:xfrm>
            <a:off x="428498" y="764705"/>
            <a:ext cx="9127014" cy="792088"/>
          </a:xfrm>
          <a:prstGeom prst="ribbon">
            <a:avLst>
              <a:gd name="adj1" fmla="val 16667"/>
              <a:gd name="adj2" fmla="val 71758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5782" tIns="47891" rIns="95782" bIns="47891" rtlCol="0" anchor="ctr"/>
          <a:lstStyle/>
          <a:p>
            <a:pPr algn="ctr"/>
            <a:r>
              <a:rPr lang="en-US" sz="3100" b="1">
                <a:latin typeface="Times New Roman" pitchFamily="18" charset="0"/>
                <a:cs typeface="Times New Roman" pitchFamily="18" charset="0"/>
              </a:rPr>
              <a:t>CHÍNH SÁCH CHẤT LƯỢNG </a:t>
            </a:r>
          </a:p>
        </p:txBody>
      </p:sp>
      <p:sp>
        <p:nvSpPr>
          <p:cNvPr id="4" name="Rectangle 3"/>
          <p:cNvSpPr/>
          <p:nvPr/>
        </p:nvSpPr>
        <p:spPr>
          <a:xfrm>
            <a:off x="200475" y="1772816"/>
            <a:ext cx="9589063" cy="48965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782" tIns="47891" rIns="95782" bIns="47891" rtlCol="0" anchor="ctr"/>
          <a:lstStyle/>
          <a:p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Công ty TNHH M&amp;C ELECTRONICS 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VIỆT NAM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chúng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tôi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qua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việc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cung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cấp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sản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hẩm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tốt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nhất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nhằm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đáp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ứng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nhu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cầu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cũng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như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sự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mong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đợi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khách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hàng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không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ngừng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nỗ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lực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để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mang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đến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sự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hài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lòng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khách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hàng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với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tiêu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chí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chất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lượng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như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1.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Lấy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yêu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cầu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trường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yêu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cầu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khách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hàng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làm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phương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hướng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để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phấn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đấu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2.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Muốn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sinh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tồn</a:t>
            </a:r>
            <a:r>
              <a:rPr lang="en-US" sz="21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phải</a:t>
            </a:r>
            <a:r>
              <a:rPr lang="en-US" sz="21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không</a:t>
            </a:r>
            <a:r>
              <a:rPr lang="en-US" sz="21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ngừng</a:t>
            </a:r>
            <a:r>
              <a:rPr lang="en-US" sz="21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cải</a:t>
            </a:r>
            <a:r>
              <a:rPr lang="en-US" sz="21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tiến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chất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lượng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3.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Muốn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cạnh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tranh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phải</a:t>
            </a:r>
            <a:r>
              <a:rPr lang="en-US" sz="21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không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ngừng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sáng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tạo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hạ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thấp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giá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sz="21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1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4.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Tuân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thủ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yêu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cầu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Pháp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21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uật</a:t>
            </a:r>
            <a:r>
              <a:rPr lang="en-US" sz="21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vi-VN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ơ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sản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phẩm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đ</a:t>
            </a:r>
            <a:r>
              <a:rPr lang="vi-VN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ư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ợc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tiêu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thụ</a:t>
            </a:r>
            <a:r>
              <a:rPr lang="en-US" sz="21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sz="21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5</a:t>
            </a:r>
            <a:r>
              <a:rPr lang="en-US" sz="21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Khách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hàng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hài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lòng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mục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tiêu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cuối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cùng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chúng</a:t>
            </a:r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tôi</a:t>
            </a:r>
            <a:r>
              <a:rPr lang="en-US" sz="21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sz="21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1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               </a:t>
            </a:r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Công ty TNHH M&amp;C ELECTRONICS VINA</a:t>
            </a:r>
          </a:p>
          <a:p>
            <a:endParaRPr lang="en-US" sz="21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1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1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/>
          <a:srcRect t="6191"/>
          <a:stretch/>
        </p:blipFill>
        <p:spPr>
          <a:xfrm>
            <a:off x="4953000" y="5621814"/>
            <a:ext cx="2232248" cy="930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4183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2572</TotalTime>
  <Words>652</Words>
  <Application>Microsoft Office PowerPoint</Application>
  <PresentationFormat>A4 Paper (210x297 mm)</PresentationFormat>
  <Paragraphs>60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맑은 고딕</vt:lpstr>
      <vt:lpstr>Arial</vt:lpstr>
      <vt:lpstr>Times New Roman</vt:lpstr>
      <vt:lpstr>Office 테마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admin</dc:creator>
  <cp:lastModifiedBy>DPC</cp:lastModifiedBy>
  <cp:revision>84</cp:revision>
  <cp:lastPrinted>2025-04-26T02:01:28Z</cp:lastPrinted>
  <dcterms:created xsi:type="dcterms:W3CDTF">2015-01-13T03:13:25Z</dcterms:created>
  <dcterms:modified xsi:type="dcterms:W3CDTF">2025-04-26T02:01:30Z</dcterms:modified>
</cp:coreProperties>
</file>