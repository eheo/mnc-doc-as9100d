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7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6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5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02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9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5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1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0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86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CDB86-7D10-438A-8497-0DC4EA2DA6D4}" type="datetimeFigureOut">
              <a:rPr lang="en-US" smtClean="0"/>
              <a:t>7/17/2021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3EE9F-A08B-4736-9A2C-3CA82AC1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3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841" y="254180"/>
            <a:ext cx="44005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smtClean="0"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PCR (Process Change Request ) </a:t>
            </a:r>
            <a:endParaRPr lang="en-US" sz="2100" dirty="0">
              <a:latin typeface="Arial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842" y="649747"/>
            <a:ext cx="882468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Definition:  </a:t>
            </a:r>
            <a:r>
              <a:rPr lang="en-US" sz="1400" smtClean="0">
                <a:latin typeface="Times New Roman" panose="02020603050405020304" pitchFamily="18" charset="0"/>
                <a:ea typeface="MS Mincho"/>
              </a:rPr>
              <a:t> </a:t>
            </a:r>
            <a:r>
              <a:rPr lang="en-US" sz="1400">
                <a:latin typeface="Times New Roman" panose="02020603050405020304" pitchFamily="18" charset="0"/>
                <a:ea typeface="MS Mincho"/>
              </a:rPr>
              <a:t>Changes of Process refers to the change of equipment, machines, measuring methods and/or materials used in a manufacturing process.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 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Purpose:         The Process Change Report (PCR) is used by the supplier to inform and receive approval from M&amp;C of any change in the manufacturing process and/or materials.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 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Scope:           The procedure applies to all parts and/or materials supplied to M&amp;C and it mandatory in the following cases: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1.- Change of Manufacturing equipment (New/Refurbished/Different).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2.- Change of Manufacturing process (Process Sequence and/or Conditions)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3.- Change of  Materials (Supplier of/new/different).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4.- Change of Chemicals used in the Manufacturing Process (i.e. etching, cleansing, heat treating, planting, etc.), that may affect the quality of the parts being produced.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5.- Modification/Refurbishment/Repair(Major) of dies which may affect the quality of the parts being produced.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6.- Change of Modification of Measuring Jigs and/or Inspection tools.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7.- Replacement of Dies (Casting/Molding/Stamping/Blanking).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8.- Change of Delivery Inspection Method or any other inspection method.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9.- When the supplier In-House productions is Subcontracted or Vice versa.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10.- Change of Process/Equipment/Material at Subcontractor ( Same Requirement as 1-9)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11.- Any changes that M&amp;C judges a Process Change Report is necessary.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 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                        In the event the supplier is unsure about whether or not the change requires a Process Change </a:t>
            </a:r>
            <a:r>
              <a:rPr lang="en-US" sz="1400" smtClean="0">
                <a:latin typeface="Times New Roman" panose="02020603050405020304" pitchFamily="18" charset="0"/>
                <a:ea typeface="MS Mincho"/>
              </a:rPr>
              <a:t>Report, </a:t>
            </a:r>
            <a:r>
              <a:rPr lang="en-US" sz="1400">
                <a:latin typeface="Times New Roman" panose="02020603050405020304" pitchFamily="18" charset="0"/>
                <a:ea typeface="MS Mincho"/>
              </a:rPr>
              <a:t>they should consult the appropriate Supplier Quality Section of M&amp;Cfor direction.</a:t>
            </a:r>
          </a:p>
          <a:p>
            <a:pPr marL="600075" marR="341948" indent="-685800"/>
            <a:r>
              <a:rPr lang="en-US" sz="1400">
                <a:latin typeface="Times New Roman" panose="02020603050405020304" pitchFamily="18" charset="0"/>
                <a:ea typeface="MS Mincho"/>
              </a:rPr>
              <a:t>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206" y="6323682"/>
            <a:ext cx="16197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R&amp;D.02.00.08</a:t>
            </a:r>
            <a:r>
              <a:rPr lang="en-US" sz="2100" dirty="0" smtClean="0"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 </a:t>
            </a:r>
            <a:endParaRPr lang="en-US" sz="2100" dirty="0">
              <a:latin typeface="Arial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9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01931"/>
            <a:ext cx="885661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0075" marR="341948" indent="-685800"/>
            <a:r>
              <a:rPr lang="en-US" sz="1400" b="1" dirty="0"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Procedure:    </a:t>
            </a:r>
          </a:p>
          <a:p>
            <a:pPr marL="600075" marR="341948" indent="-685800"/>
            <a:r>
              <a:rPr lang="en-US" sz="1400" dirty="0"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1.- Supplier must submit the Process Change Report to M&amp;C Purchasing and QC as soon as it’s clear a Process Change Report</a:t>
            </a:r>
          </a:p>
          <a:p>
            <a:pPr marL="600075" marR="341948" indent="-685800"/>
            <a:r>
              <a:rPr lang="en-US" sz="1400" dirty="0"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will occur and an implementation schedule has been established. A three month  lead time is preferable due to potential testing requirement</a:t>
            </a:r>
          </a:p>
          <a:p>
            <a:pPr marL="600075" marR="341948" indent="-685800"/>
            <a:endParaRPr lang="en-US" sz="1400" dirty="0">
              <a:latin typeface="Times New Roman" panose="02020603050405020304" pitchFamily="18" charset="0"/>
              <a:ea typeface="MS Mincho"/>
              <a:cs typeface="Times New Roman" panose="02020603050405020304" pitchFamily="18" charset="0"/>
            </a:endParaRPr>
          </a:p>
          <a:p>
            <a:pPr marL="600075" marR="341948" indent="-685800"/>
            <a:r>
              <a:rPr lang="en-US" sz="1400" dirty="0"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2.- Supplier must, without fail, include Part Number, Part Description, Reason for change, Description of change and</a:t>
            </a:r>
          </a:p>
          <a:p>
            <a:pPr marL="600075" marR="341948" indent="-685800"/>
            <a:r>
              <a:rPr lang="en-US" sz="1400" dirty="0"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implementation plan.</a:t>
            </a:r>
          </a:p>
          <a:p>
            <a:pPr marL="600075" marR="341948" indent="-685800"/>
            <a:r>
              <a:rPr lang="en-US" sz="1400" dirty="0"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   Additional Supporting documentation must accompany the Process Change Report as described below: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Process Flow Diagram (if applicable)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Supporting Data (Material Test reports, Quality Improvements, etc.) 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Detailed Description of change (if form is not adequate)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Detailed Implementation Plan (if form is not adequate)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Equipment Layout (if applicable)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PFMEA(if applicable)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 other Documentation the Supplier and/or M&amp;C deem necessary</a:t>
            </a:r>
          </a:p>
          <a:p>
            <a:pPr marL="257175" marR="341948" indent="-257175">
              <a:buFont typeface="Times New Roman" panose="02020603050405020304" pitchFamily="18" charset="0"/>
              <a:buChar char="-"/>
              <a:tabLst>
                <a:tab pos="714375" algn="l"/>
              </a:tabLs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3.- The Process Change Report should be submitted to the appropriate plants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4.- M&amp;C will review the PCR and will judge the acceptability of the change.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the Process Change is acceptable to M&amp;C, the PCR will be returned to the Supplier with the Reply Section filled out. If the Process Change is unacceptable, the supplier will be notified.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Reply Section will outline the require submittal and due dates. A Process Audit may also be required prior to approval of the Process Change.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delays the supplier must submit all documents by the due date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5.- After all submittal are received, The PCR will be routed for the necessary approvals, Supplier will be informed as soon as final approval or rejection has been received.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approval, Supplier must attached stratification sheet for the first shipment of Process Changed Parts or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24206" y="-5818"/>
            <a:ext cx="16197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R&amp;D.02.00.08</a:t>
            </a:r>
            <a:r>
              <a:rPr lang="en-US" sz="2100" dirty="0" smtClean="0"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 </a:t>
            </a:r>
            <a:endParaRPr lang="en-US" sz="2100" dirty="0">
              <a:latin typeface="Arial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2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3023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Form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01" y="696990"/>
            <a:ext cx="4371160" cy="5849228"/>
          </a:xfrm>
          <a:prstGeom prst="rect">
            <a:avLst/>
          </a:prstGeom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09085"/>
              </p:ext>
            </p:extLst>
          </p:nvPr>
        </p:nvGraphicFramePr>
        <p:xfrm>
          <a:off x="4806315" y="696990"/>
          <a:ext cx="1267914" cy="11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Packager Shell Object" showAsIcon="1" r:id="rId4" imgW="626760" imgH="582120" progId="Package">
                  <p:embed/>
                </p:oleObj>
              </mc:Choice>
              <mc:Fallback>
                <p:oleObj name="Packager Shell Object" showAsIcon="1" r:id="rId4" imgW="626760" imgH="5821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06315" y="696990"/>
                        <a:ext cx="1267914" cy="1178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310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15498"/>
            <a:ext cx="4499066" cy="6006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23023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Example </a:t>
            </a:r>
          </a:p>
        </p:txBody>
      </p:sp>
    </p:spTree>
    <p:extLst>
      <p:ext uri="{BB962C8B-B14F-4D97-AF65-F5344CB8AC3E}">
        <p14:creationId xmlns:p14="http://schemas.microsoft.com/office/powerpoint/2010/main" val="158029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4514" y="14514"/>
            <a:ext cx="23023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  <a:t>Example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12" y="352026"/>
            <a:ext cx="8119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Valve VN150151-0220</a:t>
            </a:r>
          </a:p>
          <a:p>
            <a:r>
              <a:rPr lang="en-US"/>
              <a:t>PCR: add need machine</a:t>
            </a:r>
          </a:p>
          <a:p>
            <a:r>
              <a:rPr lang="en-US"/>
              <a:t>Reason: Customer’s order increase from 50k/month to 100k month =&gt; we need add 1 machine for machining process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660" y="1500970"/>
            <a:ext cx="372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Processs flow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660" y="1880964"/>
            <a:ext cx="1364797" cy="7281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>
                <a:solidFill>
                  <a:schemeClr val="tx1"/>
                </a:solidFill>
              </a:rPr>
              <a:t>Material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4118" y="1880963"/>
            <a:ext cx="1364797" cy="7281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>
                <a:solidFill>
                  <a:srgbClr val="FF0000"/>
                </a:solidFill>
              </a:rPr>
              <a:t>Machining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5575" y="1880962"/>
            <a:ext cx="1364797" cy="7281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>
                <a:solidFill>
                  <a:schemeClr val="tx1"/>
                </a:solidFill>
              </a:rPr>
              <a:t>Cleaning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41294" y="1880962"/>
            <a:ext cx="1364797" cy="7281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>
                <a:solidFill>
                  <a:schemeClr val="tx1"/>
                </a:solidFill>
              </a:rPr>
              <a:t>Inspection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27218" y="1876116"/>
            <a:ext cx="1364797" cy="7281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>
                <a:solidFill>
                  <a:schemeClr val="tx1"/>
                </a:solidFill>
              </a:rPr>
              <a:t>Packing 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807754" y="2164972"/>
            <a:ext cx="186146" cy="24492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3632610" y="2122572"/>
            <a:ext cx="186146" cy="24492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5438141" y="2135581"/>
            <a:ext cx="186146" cy="24492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7098756" y="2052304"/>
            <a:ext cx="186146" cy="24492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>
              <a:solidFill>
                <a:schemeClr val="tx1"/>
              </a:solidFill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355052"/>
              </p:ext>
            </p:extLst>
          </p:nvPr>
        </p:nvGraphicFramePr>
        <p:xfrm>
          <a:off x="223884" y="2864581"/>
          <a:ext cx="7743009" cy="2989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003">
                  <a:extLst>
                    <a:ext uri="{9D8B030D-6E8A-4147-A177-3AD203B41FA5}">
                      <a16:colId xmlns:a16="http://schemas.microsoft.com/office/drawing/2014/main" val="1709620082"/>
                    </a:ext>
                  </a:extLst>
                </a:gridCol>
                <a:gridCol w="2581003">
                  <a:extLst>
                    <a:ext uri="{9D8B030D-6E8A-4147-A177-3AD203B41FA5}">
                      <a16:colId xmlns:a16="http://schemas.microsoft.com/office/drawing/2014/main" val="2449608185"/>
                    </a:ext>
                  </a:extLst>
                </a:gridCol>
                <a:gridCol w="2581003">
                  <a:extLst>
                    <a:ext uri="{9D8B030D-6E8A-4147-A177-3AD203B41FA5}">
                      <a16:colId xmlns:a16="http://schemas.microsoft.com/office/drawing/2014/main" val="1476429811"/>
                    </a:ext>
                  </a:extLst>
                </a:gridCol>
              </a:tblGrid>
              <a:tr h="400044">
                <a:tc>
                  <a:txBody>
                    <a:bodyPr/>
                    <a:lstStyle/>
                    <a:p>
                      <a:r>
                        <a:rPr lang="en-US" sz="1400" smtClean="0"/>
                        <a:t>Current</a:t>
                      </a:r>
                      <a:r>
                        <a:rPr lang="en-US" sz="1400" baseline="0" smtClean="0"/>
                        <a:t> machine </a:t>
                      </a:r>
                      <a:endParaRPr lang="en-US" sz="140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smtClean="0"/>
                        <a:t>New</a:t>
                      </a:r>
                      <a:r>
                        <a:rPr lang="en-US" sz="1400" baseline="0" smtClean="0"/>
                        <a:t> machine </a:t>
                      </a:r>
                      <a:endParaRPr lang="en-US" sz="140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smtClean="0"/>
                        <a:t>Evaluation</a:t>
                      </a:r>
                      <a:r>
                        <a:rPr lang="en-US" sz="1400" baseline="0" smtClean="0"/>
                        <a:t> point </a:t>
                      </a:r>
                      <a:endParaRPr lang="en-US" sz="1400"/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173682"/>
                  </a:ext>
                </a:extLst>
              </a:tr>
              <a:tr h="2588985">
                <a:tc>
                  <a:txBody>
                    <a:bodyPr/>
                    <a:lstStyle/>
                    <a:p>
                      <a:r>
                        <a:rPr lang="en-US" sz="1400" smtClean="0"/>
                        <a:t>FANUC</a:t>
                      </a:r>
                      <a:r>
                        <a:rPr lang="en-US" sz="1400" baseline="0" smtClean="0"/>
                        <a:t> D21M</a:t>
                      </a:r>
                      <a:endParaRPr lang="en-US" sz="140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mtClean="0"/>
                        <a:t>FANUC</a:t>
                      </a:r>
                      <a:r>
                        <a:rPr lang="en-US" sz="1400" baseline="0" smtClean="0"/>
                        <a:t> D21M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smtClean="0"/>
                        <a:t>Same spec </a:t>
                      </a:r>
                      <a:endParaRPr lang="en-US" sz="1400" smtClean="0"/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smtClean="0"/>
                        <a:t>+FAI</a:t>
                      </a:r>
                      <a:r>
                        <a:rPr lang="en-US" sz="1400" baseline="0" smtClean="0"/>
                        <a:t> ( full dimension )</a:t>
                      </a:r>
                    </a:p>
                    <a:p>
                      <a:endParaRPr lang="en-US" sz="1400" baseline="0" smtClean="0"/>
                    </a:p>
                    <a:p>
                      <a:r>
                        <a:rPr lang="en-US" sz="1400" baseline="0" smtClean="0"/>
                        <a:t>+ Compare CPK between current machine &amp; new machine</a:t>
                      </a: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77444995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2786516" y="2598223"/>
            <a:ext cx="682398" cy="3349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412261" y="1539550"/>
            <a:ext cx="11947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>
                <a:solidFill>
                  <a:srgbClr val="FF0000"/>
                </a:solidFill>
              </a:rPr>
              <a:t>Change 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92" y="3776422"/>
            <a:ext cx="1870522" cy="183866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55" y="3776422"/>
            <a:ext cx="1761537" cy="173153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4115" y="6110515"/>
            <a:ext cx="729923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mtClean="0"/>
              <a:t>Follow Evaluation items to ensure quality of new machine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7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608" y="109957"/>
            <a:ext cx="392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Evaluation result 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406" y="479289"/>
            <a:ext cx="17969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/>
              <a:t>+FAI ( full dimension 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2983" y="533717"/>
            <a:ext cx="44889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/>
              <a:t>+ Compare CPK between current machine &amp; new machine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643" y="998471"/>
            <a:ext cx="4249288" cy="39696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06" y="848621"/>
            <a:ext cx="3988633" cy="35520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365" y="5588001"/>
            <a:ext cx="729923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mtClean="0"/>
              <a:t>New machine have same result with current machine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3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438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Meiryo</vt:lpstr>
      <vt:lpstr>MS Mincho</vt:lpstr>
      <vt:lpstr>Times New Roman</vt:lpstr>
      <vt:lpstr>Office Theme</vt:lpstr>
      <vt:lpstr>Packager Shell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QC-HAU</dc:creator>
  <cp:lastModifiedBy>Ms. Hong</cp:lastModifiedBy>
  <cp:revision>19</cp:revision>
  <dcterms:created xsi:type="dcterms:W3CDTF">2021-07-17T02:41:52Z</dcterms:created>
  <dcterms:modified xsi:type="dcterms:W3CDTF">2021-07-17T08:01:54Z</dcterms:modified>
</cp:coreProperties>
</file>